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13"/>
  </p:notesMasterIdLst>
  <p:sldIdLst>
    <p:sldId id="275" r:id="rId2"/>
    <p:sldId id="289" r:id="rId3"/>
    <p:sldId id="308" r:id="rId4"/>
    <p:sldId id="313" r:id="rId5"/>
    <p:sldId id="309" r:id="rId6"/>
    <p:sldId id="295" r:id="rId7"/>
    <p:sldId id="314" r:id="rId8"/>
    <p:sldId id="292" r:id="rId9"/>
    <p:sldId id="310" r:id="rId10"/>
    <p:sldId id="315" r:id="rId11"/>
    <p:sldId id="302" r:id="rId12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60" autoAdjust="0"/>
    <p:restoredTop sz="94660"/>
  </p:normalViewPr>
  <p:slideViewPr>
    <p:cSldViewPr snapToGrid="0">
      <p:cViewPr varScale="1">
        <p:scale>
          <a:sx n="71" d="100"/>
          <a:sy n="71" d="100"/>
        </p:scale>
        <p:origin x="93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D021441-3680-CDE4-ADD0-BB39186E7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AA1F5A32-5966-D706-5F14-FAD34D781F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32F64BB2-EB8F-3387-798B-E30C4D72E3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212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B844F044-B378-4A28-6EB7-BD2FEA72B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33BB002B-1EB7-4EB8-EAB7-5BE74C7FC1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6AED0F34-D58F-0C6A-5CE7-83154C2C3A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7381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B7DF8F9A-EB52-148E-E1DD-E08C8F7A3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6D37CD67-C865-3441-1F1F-BCB72CEB28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6A9F4D20-A0B2-C6E4-5996-8CDAD02420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93594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10339424-F257-E9D8-C88C-C35128A1E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ED6153FD-9831-73EC-40A8-F906EC470A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9A976426-7122-D8FA-DE24-FD827230CA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4574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5CD025B1-1F3D-5BFF-BE2B-8276DBE15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2218C1F2-F67C-1B58-906E-CDC2D7A116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ED857E7B-68A5-EFB3-A3A6-26D04BAC96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86334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9BB63CAB-4F08-C5D4-6F56-52CF88BD3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80E4E567-71E1-F063-A913-5E5010E637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99602E1D-91F9-506D-1B10-F78A69C133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95858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AB235A8-8EC7-B656-3E77-85BA922C9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33C3AC93-6E35-561E-8D8D-E42C1D612E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1BC4EDCE-E054-303B-D361-14B1E5FB8B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5334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ED21F1EB-A010-E16B-C083-1983459D7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8F90CC50-BBA7-5D03-71C7-5635EE0217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84CA3BB7-DC67-EAAD-C6C7-4ED1F5666A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23196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10B857F8-17B9-178F-2FBA-66E890E19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5EBA8BBC-9279-3766-4DA3-98D8ABE753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C918EEC7-9B7A-C3EE-A912-192B6BE0EF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94186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F06AB580-13E8-47FD-A17F-D3BB82795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976CA7D9-59E0-273D-F770-9DBE36F793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5B451C5F-E4EA-0673-8BD1-3B8F00E34B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06081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406CC928-E841-EE91-DEAE-306CFBFF3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A84AC8A2-B4F5-17A5-AF37-E4953794FA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6FA28D8C-BAB4-FE99-3539-340B57AACF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6464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 type="obj">
  <p:cSld name="OBJECT">
    <p:bg>
      <p:bgPr>
        <a:solidFill>
          <a:srgbClr val="C2F970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815350" y="6970050"/>
            <a:ext cx="15471000" cy="181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4344F"/>
              </a:buClr>
              <a:buSzPts val="14400"/>
              <a:buNone/>
              <a:defRPr>
                <a:solidFill>
                  <a:srgbClr val="44344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3" name="Google Shape;23;p4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44344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44344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allery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>
            <a:spLocks noGrp="1"/>
          </p:cNvSpPr>
          <p:nvPr>
            <p:ph type="pic" idx="2"/>
          </p:nvPr>
        </p:nvSpPr>
        <p:spPr>
          <a:xfrm>
            <a:off x="1512800" y="3065925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5"/>
          <p:cNvSpPr>
            <a:spLocks noGrp="1"/>
          </p:cNvSpPr>
          <p:nvPr>
            <p:ph type="pic" idx="3"/>
          </p:nvPr>
        </p:nvSpPr>
        <p:spPr>
          <a:xfrm>
            <a:off x="5602888" y="3076200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5"/>
          <p:cNvSpPr>
            <a:spLocks noGrp="1"/>
          </p:cNvSpPr>
          <p:nvPr>
            <p:ph type="pic" idx="4"/>
          </p:nvPr>
        </p:nvSpPr>
        <p:spPr>
          <a:xfrm>
            <a:off x="9717500" y="3071063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5"/>
          <p:cNvSpPr>
            <a:spLocks noGrp="1"/>
          </p:cNvSpPr>
          <p:nvPr>
            <p:ph type="pic" idx="5"/>
          </p:nvPr>
        </p:nvSpPr>
        <p:spPr>
          <a:xfrm>
            <a:off x="13807588" y="3081338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cxnSp>
        <p:nvCxnSpPr>
          <p:cNvPr id="30" name="Google Shape;30;p5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>
            <a:spLocks noGrp="1"/>
          </p:cNvSpPr>
          <p:nvPr>
            <p:ph type="pic" idx="2"/>
          </p:nvPr>
        </p:nvSpPr>
        <p:spPr>
          <a:xfrm>
            <a:off x="1756050" y="1082375"/>
            <a:ext cx="6483000" cy="50172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6"/>
          <p:cNvSpPr>
            <a:spLocks noGrp="1"/>
          </p:cNvSpPr>
          <p:nvPr>
            <p:ph type="pic" idx="3"/>
          </p:nvPr>
        </p:nvSpPr>
        <p:spPr>
          <a:xfrm>
            <a:off x="1756050" y="6297875"/>
            <a:ext cx="3077700" cy="25545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6"/>
          <p:cNvSpPr>
            <a:spLocks noGrp="1"/>
          </p:cNvSpPr>
          <p:nvPr>
            <p:ph type="pic" idx="4"/>
          </p:nvPr>
        </p:nvSpPr>
        <p:spPr>
          <a:xfrm>
            <a:off x="5138888" y="6288525"/>
            <a:ext cx="3077700" cy="25545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cxnSp>
        <p:nvCxnSpPr>
          <p:cNvPr id="36" name="Google Shape;36;p6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6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C2F970"/>
              </a:buClr>
              <a:buSzPts val="14400"/>
              <a:buFont typeface="Darker Grotesque"/>
              <a:buNone/>
              <a:defRPr sz="14400" i="0" u="none" strike="noStrike" cap="none">
                <a:solidFill>
                  <a:srgbClr val="C2F970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Darker Grotesque Light"/>
              <a:buChar char="•"/>
              <a:defRPr sz="32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arker Grotesque Light"/>
              <a:buChar char="–"/>
              <a:defRPr sz="28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 Light"/>
              <a:buChar char="•"/>
              <a:defRPr sz="24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–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»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B2D6CC0D-3BBC-5975-11CB-FF3523F97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DCAE7BFC-72A7-0019-32F8-9F6E9593ED98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564DC7E9-D1E9-39FB-81F1-B32E63BD1E11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C40C04BA-D604-FE60-D81C-7F85D487A2D6}"/>
              </a:ext>
            </a:extLst>
          </p:cNvPr>
          <p:cNvSpPr txBox="1"/>
          <p:nvPr/>
        </p:nvSpPr>
        <p:spPr>
          <a:xfrm>
            <a:off x="1601102" y="1294574"/>
            <a:ext cx="733400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200" b="1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Database Under the Hood</a:t>
            </a:r>
            <a:endParaRPr b="1" dirty="0"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sp>
        <p:nvSpPr>
          <p:cNvPr id="7" name="Google Shape;102;p11">
            <a:extLst>
              <a:ext uri="{FF2B5EF4-FFF2-40B4-BE49-F238E27FC236}">
                <a16:creationId xmlns:a16="http://schemas.microsoft.com/office/drawing/2014/main" id="{A54D4D15-8153-75BD-5C10-713973C4C7FC}"/>
              </a:ext>
            </a:extLst>
          </p:cNvPr>
          <p:cNvSpPr txBox="1"/>
          <p:nvPr/>
        </p:nvSpPr>
        <p:spPr>
          <a:xfrm>
            <a:off x="13559124" y="8633005"/>
            <a:ext cx="453165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https://www.youtube.com/watch?v=dQw4w9WgXcQ</a:t>
            </a:r>
            <a:endParaRPr lang="en-US" sz="105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E5883F-6FB1-CA3C-7595-8C910EA99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5108" y="2831515"/>
            <a:ext cx="8320496" cy="52082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8C6626-6594-DAEA-9E79-B29F5BC6F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086" y="2831515"/>
            <a:ext cx="3751724" cy="5035871"/>
          </a:xfrm>
          <a:prstGeom prst="rect">
            <a:avLst/>
          </a:prstGeom>
        </p:spPr>
      </p:pic>
      <p:sp>
        <p:nvSpPr>
          <p:cNvPr id="10" name="Google Shape;102;p11">
            <a:extLst>
              <a:ext uri="{FF2B5EF4-FFF2-40B4-BE49-F238E27FC236}">
                <a16:creationId xmlns:a16="http://schemas.microsoft.com/office/drawing/2014/main" id="{0C78BCA7-ED86-7587-A04D-0800B90222E0}"/>
              </a:ext>
            </a:extLst>
          </p:cNvPr>
          <p:cNvSpPr txBox="1"/>
          <p:nvPr/>
        </p:nvSpPr>
        <p:spPr>
          <a:xfrm>
            <a:off x="13962552" y="8879226"/>
            <a:ext cx="41282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https://www.youtube.com/watch?v=aZjYr87r1b8</a:t>
            </a:r>
            <a:endParaRPr lang="en-US" sz="105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228492971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FFBF8D72-EE72-1782-74ED-2DDC3B582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D5A8FC89-67CC-869E-A635-EA8B8C839FFD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EEDBE41F-2804-0F8C-BF32-C99F55ECDD32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B75EE8BD-D24F-DDCA-C914-34E84E9F0D63}"/>
              </a:ext>
            </a:extLst>
          </p:cNvPr>
          <p:cNvSpPr txBox="1"/>
          <p:nvPr/>
        </p:nvSpPr>
        <p:spPr>
          <a:xfrm>
            <a:off x="1667439" y="928758"/>
            <a:ext cx="14953122" cy="6647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When we run:</a:t>
            </a:r>
          </a:p>
          <a:p>
            <a:pPr lvl="0" algn="just"/>
            <a:endParaRPr lang="en-US" sz="36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SELECT * FROM users WHERE id = 42;</a:t>
            </a:r>
          </a:p>
          <a:p>
            <a:pPr lvl="0" algn="just"/>
            <a:endParaRPr lang="en-US" sz="36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It looks instant.</a:t>
            </a:r>
          </a:p>
          <a:p>
            <a:pPr lvl="0" algn="just"/>
            <a:endParaRPr lang="en-US" sz="36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But internally the database must:</a:t>
            </a:r>
          </a:p>
          <a:p>
            <a:pPr lvl="0" algn="just"/>
            <a:endParaRPr lang="en-US" sz="36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Find where the data lives on disk</a:t>
            </a:r>
          </a:p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Load it into memory</a:t>
            </a:r>
          </a:p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Navigate an index</a:t>
            </a:r>
          </a:p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Return the correct row efficiently</a:t>
            </a:r>
          </a:p>
        </p:txBody>
      </p:sp>
    </p:spTree>
    <p:extLst>
      <p:ext uri="{BB962C8B-B14F-4D97-AF65-F5344CB8AC3E}">
        <p14:creationId xmlns:p14="http://schemas.microsoft.com/office/powerpoint/2010/main" val="145537401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5DD052F4-D39A-6341-70AC-F6405136B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A315B682-C33C-B0FB-2CC7-FA65265DF790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8492DA63-6504-FAFB-873F-534EFDD65C4C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A8ED6690-CF25-029F-3016-24E00C8A193E}"/>
              </a:ext>
            </a:extLst>
          </p:cNvPr>
          <p:cNvSpPr txBox="1"/>
          <p:nvPr/>
        </p:nvSpPr>
        <p:spPr>
          <a:xfrm>
            <a:off x="2259115" y="4343413"/>
            <a:ext cx="1453625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/>
            <a:r>
              <a:rPr lang="en-US" sz="72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What is the Data structure of a </a:t>
            </a:r>
            <a:r>
              <a:rPr lang="en-US" sz="7200" b="1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dbms</a:t>
            </a:r>
            <a:r>
              <a:rPr lang="en-US" sz="72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5773158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E4354DDC-F964-CBF3-A49F-D3BC94AA5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3B592106-34C8-9365-66EF-6C99D865E4F4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02A9FCEF-65BC-D239-9479-E185CF51D868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370A0D97-5F6F-B0B4-17F8-87D122F37922}"/>
              </a:ext>
            </a:extLst>
          </p:cNvPr>
          <p:cNvSpPr txBox="1"/>
          <p:nvPr/>
        </p:nvSpPr>
        <p:spPr>
          <a:xfrm>
            <a:off x="2019300" y="2985260"/>
            <a:ext cx="14536255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/>
            <a:r>
              <a:rPr lang="en-US" sz="66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Why don’t databases use a sorted array?</a:t>
            </a:r>
          </a:p>
          <a:p>
            <a:pPr lvl="0" algn="just"/>
            <a:endParaRPr lang="en-US" sz="6600" b="1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 algn="just"/>
            <a:r>
              <a:rPr lang="en-US" sz="66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	[1, 5, 8, 12, 20, 42, 77, 90]</a:t>
            </a:r>
          </a:p>
        </p:txBody>
      </p:sp>
    </p:spTree>
    <p:extLst>
      <p:ext uri="{BB962C8B-B14F-4D97-AF65-F5344CB8AC3E}">
        <p14:creationId xmlns:p14="http://schemas.microsoft.com/office/powerpoint/2010/main" val="166216649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4F3D62C6-927B-72F9-0185-A0A3F6C4D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4B71967D-46B8-DCED-30C9-6044BCA7DB45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25E676B8-7468-1113-C3E7-8AEAE30CF85F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593A8950-6CBD-C78A-5B0D-90A44A2D9C79}"/>
              </a:ext>
            </a:extLst>
          </p:cNvPr>
          <p:cNvSpPr txBox="1"/>
          <p:nvPr/>
        </p:nvSpPr>
        <p:spPr>
          <a:xfrm>
            <a:off x="1667439" y="420274"/>
            <a:ext cx="14953122" cy="8863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Search:</a:t>
            </a:r>
          </a:p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Binary search → O(log n) </a:t>
            </a:r>
          </a:p>
          <a:p>
            <a:pPr lvl="0" algn="just"/>
            <a:endParaRPr lang="en-US" sz="36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But insert 15:</a:t>
            </a:r>
          </a:p>
          <a:p>
            <a:pPr lvl="0" algn="just"/>
            <a:endParaRPr lang="en-US" sz="36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	Shift everything after 12</a:t>
            </a:r>
          </a:p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	Rewrite large part of file </a:t>
            </a:r>
          </a:p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	Massive disk writes</a:t>
            </a:r>
          </a:p>
          <a:p>
            <a:pPr lvl="0" algn="just"/>
            <a:endParaRPr lang="en-US" sz="36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Problem:</a:t>
            </a:r>
          </a:p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	Arrays are bad for frequent insert/delete.</a:t>
            </a:r>
          </a:p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	Databases constantly:</a:t>
            </a:r>
          </a:p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		Insert rows</a:t>
            </a:r>
          </a:p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		Update rows</a:t>
            </a:r>
          </a:p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		Delete rows</a:t>
            </a:r>
          </a:p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	Arrays are not practical.</a:t>
            </a:r>
          </a:p>
        </p:txBody>
      </p:sp>
    </p:spTree>
    <p:extLst>
      <p:ext uri="{BB962C8B-B14F-4D97-AF65-F5344CB8AC3E}">
        <p14:creationId xmlns:p14="http://schemas.microsoft.com/office/powerpoint/2010/main" val="77789762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AB340646-3A02-EE79-A7E2-7EA1A42C8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C1678A3B-7D46-BC21-963E-6DD141C4CBC5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1770AEF4-B443-AF55-661A-9D95CAD281E6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CBBC46B3-A918-65A4-C4AB-E62CE9832F50}"/>
              </a:ext>
            </a:extLst>
          </p:cNvPr>
          <p:cNvSpPr txBox="1"/>
          <p:nvPr/>
        </p:nvSpPr>
        <p:spPr>
          <a:xfrm>
            <a:off x="1546415" y="627421"/>
            <a:ext cx="1601543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/>
            <a:r>
              <a:rPr lang="en-US" sz="3600" b="1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Btrees</a:t>
            </a:r>
            <a:endParaRPr lang="en-US" sz="36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385DDC-1356-96B2-2DCA-DDE28C836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397" y="1842251"/>
            <a:ext cx="10765152" cy="2646975"/>
          </a:xfrm>
          <a:prstGeom prst="rect">
            <a:avLst/>
          </a:prstGeom>
        </p:spPr>
      </p:pic>
      <p:sp>
        <p:nvSpPr>
          <p:cNvPr id="5" name="Google Shape;102;p11">
            <a:extLst>
              <a:ext uri="{FF2B5EF4-FFF2-40B4-BE49-F238E27FC236}">
                <a16:creationId xmlns:a16="http://schemas.microsoft.com/office/drawing/2014/main" id="{3BC21943-5B7E-20A6-F1D7-07A01406F140}"/>
              </a:ext>
            </a:extLst>
          </p:cNvPr>
          <p:cNvSpPr txBox="1"/>
          <p:nvPr/>
        </p:nvSpPr>
        <p:spPr>
          <a:xfrm>
            <a:off x="1629447" y="5062652"/>
            <a:ext cx="16015432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/>
            <a:r>
              <a:rPr lang="en-US" sz="36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Insert is Cheap</a:t>
            </a:r>
          </a:p>
          <a:p>
            <a:pPr lvl="0" algn="just"/>
            <a:r>
              <a:rPr lang="en-US" sz="36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When inserting:</a:t>
            </a:r>
          </a:p>
          <a:p>
            <a:pPr lvl="0" algn="just"/>
            <a:r>
              <a:rPr lang="en-US" sz="36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	Only one path from root to leaf is modified</a:t>
            </a:r>
          </a:p>
          <a:p>
            <a:pPr lvl="0" algn="just"/>
            <a:r>
              <a:rPr lang="en-US" sz="36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	Occasionally split one node</a:t>
            </a:r>
          </a:p>
          <a:p>
            <a:pPr lvl="0" algn="just"/>
            <a:r>
              <a:rPr lang="en-US" sz="36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	No massive shifting</a:t>
            </a:r>
          </a:p>
          <a:p>
            <a:pPr lvl="0" algn="just"/>
            <a:r>
              <a:rPr lang="en-US" sz="36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Time complexity:</a:t>
            </a:r>
          </a:p>
          <a:p>
            <a:pPr lvl="0" algn="just"/>
            <a:r>
              <a:rPr lang="en-US" sz="36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O(log n)</a:t>
            </a:r>
            <a:endParaRPr lang="en-US" sz="36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83108979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6BD45C13-6FD1-87F5-8C1A-0545CA847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4326B977-3DD6-1356-B44B-6116C6D0BB9D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90B7EB7C-2EEE-D534-4215-42C794CEAE9E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" name="Google Shape;102;p11">
            <a:extLst>
              <a:ext uri="{FF2B5EF4-FFF2-40B4-BE49-F238E27FC236}">
                <a16:creationId xmlns:a16="http://schemas.microsoft.com/office/drawing/2014/main" id="{CB155DD4-9980-8341-A104-C48CBEFF1FF6}"/>
              </a:ext>
            </a:extLst>
          </p:cNvPr>
          <p:cNvSpPr txBox="1"/>
          <p:nvPr/>
        </p:nvSpPr>
        <p:spPr>
          <a:xfrm>
            <a:off x="1360505" y="517546"/>
            <a:ext cx="16015432" cy="8863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Most relational databases (like PostgreSQL and MySQL) use B-Trees for indexing.</a:t>
            </a:r>
          </a:p>
          <a:p>
            <a:pPr lvl="0" algn="just"/>
            <a:endParaRPr lang="en-US" sz="36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Why B-Trees Work</a:t>
            </a:r>
          </a:p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When inserting into a B-Tree:</a:t>
            </a:r>
          </a:p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Only one path from root → leaf is modified</a:t>
            </a:r>
          </a:p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Occasionally, one node splits</a:t>
            </a:r>
          </a:p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No massive shifting of data</a:t>
            </a:r>
          </a:p>
          <a:p>
            <a:pPr lvl="0" algn="just"/>
            <a:endParaRPr lang="en-US" sz="36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Very few disk writes</a:t>
            </a:r>
          </a:p>
          <a:p>
            <a:pPr lvl="0" algn="just"/>
            <a:endParaRPr lang="en-US" sz="36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Time complexity:</a:t>
            </a:r>
          </a:p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Search → O(log n)</a:t>
            </a:r>
          </a:p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Insert → O(log n)</a:t>
            </a:r>
          </a:p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Delete → O(log n)</a:t>
            </a:r>
          </a:p>
          <a:p>
            <a:pPr lvl="0" algn="just"/>
            <a:endParaRPr lang="en-US" sz="36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 algn="just"/>
            <a:r>
              <a:rPr lang="en-US" sz="36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Efficient for both reads and writes.</a:t>
            </a:r>
          </a:p>
        </p:txBody>
      </p:sp>
    </p:spTree>
    <p:extLst>
      <p:ext uri="{BB962C8B-B14F-4D97-AF65-F5344CB8AC3E}">
        <p14:creationId xmlns:p14="http://schemas.microsoft.com/office/powerpoint/2010/main" val="24067855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3F2DDBCB-96FC-412E-6EBF-3AF98541C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4BE8D583-4DE8-9828-80DE-289C771CF3F5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4AA67C0A-700B-0E5A-4BEE-034E36314454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84B236-016B-1BE4-F9ED-3236FAD640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58525"/>
              </p:ext>
            </p:extLst>
          </p:nvPr>
        </p:nvGraphicFramePr>
        <p:xfrm>
          <a:off x="2940424" y="3177241"/>
          <a:ext cx="121920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2728946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6934417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84302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Sorted 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B-Tree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65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O(log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O(log 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751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Insert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O(log 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142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O(log 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54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Disk Friendly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158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845767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4630037E-56BC-880A-2527-128BA8A18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D01FCE19-8104-26E7-AD69-0AEB28085B01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B9F9A3F6-A2DE-4019-C3BE-C5BFF35C36BF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55570863-B815-55E6-D746-71094D7A4F8B}"/>
              </a:ext>
            </a:extLst>
          </p:cNvPr>
          <p:cNvSpPr txBox="1"/>
          <p:nvPr/>
        </p:nvSpPr>
        <p:spPr>
          <a:xfrm>
            <a:off x="1650476" y="1141665"/>
            <a:ext cx="7947208" cy="609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/>
            <a:r>
              <a:rPr lang="en-US" sz="36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Physical Disk Structure</a:t>
            </a:r>
          </a:p>
          <a:p>
            <a:pPr lvl="0" algn="just"/>
            <a:r>
              <a:rPr lang="en-US" sz="36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Traditionally, disks are organized into:</a:t>
            </a:r>
          </a:p>
          <a:p>
            <a:pPr lvl="0" algn="just"/>
            <a:endParaRPr lang="en-US" sz="3600" b="1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 algn="just"/>
            <a:r>
              <a:rPr lang="en-US" sz="36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Tracks (Circle)</a:t>
            </a:r>
          </a:p>
          <a:p>
            <a:pPr lvl="0" algn="just"/>
            <a:r>
              <a:rPr lang="en-US" sz="36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Sectors (PIZZA)</a:t>
            </a:r>
          </a:p>
          <a:p>
            <a:pPr lvl="0" algn="just"/>
            <a:r>
              <a:rPr lang="en-US" sz="36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Blocks (intersecting position)</a:t>
            </a:r>
          </a:p>
          <a:p>
            <a:pPr lvl="0" algn="just"/>
            <a:r>
              <a:rPr lang="en-US" sz="36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	512 bytes</a:t>
            </a:r>
          </a:p>
          <a:p>
            <a:pPr lvl="0" algn="just"/>
            <a:endParaRPr lang="en-US" sz="3600" b="1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 algn="just"/>
            <a:endParaRPr lang="en-US" sz="3600" b="1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 algn="just"/>
            <a:r>
              <a:rPr lang="en-US" sz="36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How Data Is Stored?</a:t>
            </a:r>
          </a:p>
          <a:p>
            <a:pPr lvl="0" algn="just"/>
            <a:r>
              <a:rPr lang="en-US" sz="36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Table data is stored in data blocks</a:t>
            </a:r>
          </a:p>
        </p:txBody>
      </p:sp>
      <p:pic>
        <p:nvPicPr>
          <p:cNvPr id="1028" name="Picture 4" descr="Disk Fundamentals: Layout and Sector Numbering">
            <a:extLst>
              <a:ext uri="{FF2B5EF4-FFF2-40B4-BE49-F238E27FC236}">
                <a16:creationId xmlns:a16="http://schemas.microsoft.com/office/drawing/2014/main" id="{FBDA10E7-7761-243C-60D8-BA10C2C37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8510" y="1279813"/>
            <a:ext cx="7254993" cy="6462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952971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9EE802E3-940F-A4CE-E362-97ED6702E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13918E08-C3A0-7285-8CE5-E7D6512154C1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37405162-C464-FE72-C77F-EA8FF0C0CB9C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7B64F4A9-DA0E-8D8D-4B92-C1B17D43B8D7}"/>
              </a:ext>
            </a:extLst>
          </p:cNvPr>
          <p:cNvSpPr txBox="1"/>
          <p:nvPr/>
        </p:nvSpPr>
        <p:spPr>
          <a:xfrm>
            <a:off x="1701617" y="2325752"/>
            <a:ext cx="7947208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/>
            <a:r>
              <a:rPr lang="en-US" sz="36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Table data is stored in data blocks</a:t>
            </a:r>
          </a:p>
          <a:p>
            <a:pPr lvl="0" algn="just"/>
            <a:r>
              <a:rPr lang="en-US" sz="36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Indexes are also stored in blocks</a:t>
            </a:r>
          </a:p>
          <a:p>
            <a:pPr lvl="0" algn="just"/>
            <a:endParaRPr lang="en-US" sz="3600" b="1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 algn="just"/>
            <a:r>
              <a:rPr lang="en-US" sz="36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An index does NOT store the full row</a:t>
            </a:r>
          </a:p>
          <a:p>
            <a:pPr lvl="0" algn="just"/>
            <a:endParaRPr lang="en-US" sz="3600" b="1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 algn="just"/>
            <a:r>
              <a:rPr lang="en-US" sz="36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It stores:</a:t>
            </a:r>
          </a:p>
          <a:p>
            <a:pPr lvl="0" algn="just"/>
            <a:endParaRPr lang="en-US" sz="3600" b="1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 algn="just"/>
            <a:r>
              <a:rPr lang="en-US" sz="3600" b="1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Pointer to the row location</a:t>
            </a:r>
          </a:p>
        </p:txBody>
      </p:sp>
      <p:pic>
        <p:nvPicPr>
          <p:cNvPr id="1028" name="Picture 4" descr="Disk Fundamentals: Layout and Sector Numbering">
            <a:extLst>
              <a:ext uri="{FF2B5EF4-FFF2-40B4-BE49-F238E27FC236}">
                <a16:creationId xmlns:a16="http://schemas.microsoft.com/office/drawing/2014/main" id="{4C824175-FC61-543E-64A6-7FCF67A49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8510" y="1279813"/>
            <a:ext cx="7254993" cy="6462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396835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8DBA499A-30EC-3E23-75C0-3D5370E73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BFD78BF6-9281-DA2B-8203-075591DF00A8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42F97DE6-61F7-1F48-386A-3F9D51707E4B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7C8047E-EA20-1AD5-79CF-7001A5D23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298" y="1564964"/>
            <a:ext cx="12637992" cy="654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99737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old Minimal E-Commer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1006</TotalTime>
  <Words>419</Words>
  <Application>Microsoft Office PowerPoint</Application>
  <PresentationFormat>Custom</PresentationFormat>
  <Paragraphs>93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Darker Grotesque</vt:lpstr>
      <vt:lpstr>Darker Grotesque Light</vt:lpstr>
      <vt:lpstr>Darker Grotesque Medium</vt:lpstr>
      <vt:lpstr>Bold Minimal E-Commerce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Administrator</dc:creator>
  <cp:lastModifiedBy>Administrator</cp:lastModifiedBy>
  <cp:revision>11</cp:revision>
  <dcterms:modified xsi:type="dcterms:W3CDTF">2026-02-27T18:12:41Z</dcterms:modified>
</cp:coreProperties>
</file>