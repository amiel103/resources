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0"/>
  </p:notesMasterIdLst>
  <p:sldIdLst>
    <p:sldId id="275" r:id="rId2"/>
    <p:sldId id="301" r:id="rId3"/>
    <p:sldId id="289" r:id="rId4"/>
    <p:sldId id="308" r:id="rId5"/>
    <p:sldId id="309" r:id="rId6"/>
    <p:sldId id="295" r:id="rId7"/>
    <p:sldId id="292" r:id="rId8"/>
    <p:sldId id="310" r:id="rId9"/>
    <p:sldId id="296" r:id="rId10"/>
    <p:sldId id="302" r:id="rId11"/>
    <p:sldId id="303" r:id="rId12"/>
    <p:sldId id="297" r:id="rId13"/>
    <p:sldId id="304" r:id="rId14"/>
    <p:sldId id="305" r:id="rId15"/>
    <p:sldId id="306" r:id="rId16"/>
    <p:sldId id="307" r:id="rId17"/>
    <p:sldId id="311" r:id="rId18"/>
    <p:sldId id="312" r:id="rId19"/>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autoAdjust="0"/>
    <p:restoredTop sz="94660"/>
  </p:normalViewPr>
  <p:slideViewPr>
    <p:cSldViewPr snapToGrid="0">
      <p:cViewPr varScale="1">
        <p:scale>
          <a:sx n="71" d="100"/>
          <a:sy n="71" d="100"/>
        </p:scale>
        <p:origin x="930"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D021441-3680-CDE4-ADD0-BB39186E7E4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1F5A32-5966-D706-5F14-FAD34D781F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2F64BB2-EB8F-3387-798B-E30C4D72E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12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5B90E6A4-76F1-713A-2670-5F3D2768C1B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1E59C7D-88DE-D390-8BAF-6BEACDDE3F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E62FCA90-413A-8C44-3408-FC9A3A26E4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564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844F044-B378-4A28-6EB7-BD2FEA72B3A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3BB002B-1EB7-4EB8-EAB7-5BE74C7FC1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AED0F34-D58F-0C6A-5CE7-83154C2C3A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7381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7DF8F9A-EB52-148E-E1DD-E08C8F7A329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D37CD67-C865-3441-1F1F-BCB72CEB28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A9F4D20-A0B2-C6E4-5996-8CDAD02420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9359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5CD025B1-1F3D-5BFF-BE2B-8276DBE159E2}"/>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2218C1F2-F67C-1B58-906E-CDC2D7A116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ED857E7B-68A5-EFB3-A3A6-26D04BAC96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8633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9BB63CAB-4F08-C5D4-6F56-52CF88BD3D9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0E4E567-71E1-F063-A913-5E5010E637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99602E1D-91F9-506D-1B10-F78A69C133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09585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D21F1EB-A010-E16B-C083-1983459D7496}"/>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F90CC50-BBA7-5D03-71C7-5635EE0217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84CA3BB7-DC67-EAAD-C6C7-4ED1F5666A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31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0B857F8-17B9-178F-2FBA-66E890E190F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EBA8BBC-9279-3766-4DA3-98D8ABE753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C918EEC7-9B7A-C3EE-A912-192B6BE0EF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41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17A7606-BC4B-FAD4-0035-700044B6BF3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CF1F5AF-D701-1942-6897-E641DBA9CA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599E7420-6BBD-F4E9-8114-EB399A0CD9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8897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06CC928-E841-EE91-DEAE-306CFBFF3B4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84AC8A2-B4F5-17A5-AF37-E4953794FA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FA28D8C-BAB4-FE99-3539-340B57AACF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6464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E508FA2-8467-00FE-85A5-F2BCFF06C2F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07A5F39-F9E6-C069-D925-4CAB188DA3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44986547-4545-0950-B0E7-C0CE6BA6B4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92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6D331AC6-A578-BFA1-B7BD-437CFAF9D75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C84428A-47E9-AA55-14F4-1D210244C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EBFBBCA-F896-C91C-B783-C586BC5756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196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9B6790E1-6479-4286-AF14-4280A3AD25D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2E0D67D-B9DC-D5E1-234B-372F9AD059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8F065AAB-3584-229D-C2BC-093741679C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986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94A6EC0-32A0-9245-FF3A-BFC19EADD8B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CF12CE4-677F-12EF-38CC-E2B68D66AC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9446DD8E-0DAC-E3CC-2AF4-48D206BFF6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3086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F0DE1FF-6724-FFB5-9A27-F37D5FE2EA6E}"/>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83BE1D9-8B8D-EA7B-C270-7ADB8A6026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1BB6B32E-2179-0A9E-4397-F30A83C48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227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D89BFC1-34B2-1646-148C-AA3C434E93D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A9883EA-A63A-0154-A071-1B18B51076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4EAFD4EC-7BEE-9564-83BF-D9C41C3B70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514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3894AE5-7044-8FE1-A25F-07BA075363A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9BB7C5CF-A1A9-73BA-2CD1-FA5CE37CD6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E54B5217-9BF2-2ED8-0259-43388E2A2F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249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E2FEA07-F4C2-3E43-D7FE-2DF446652EE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121CDDBB-A930-82C7-A125-C6977CB863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79F73710-A59E-D412-FBB4-6F9E337A5A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9775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2D6CC0D-3BBC-5975-11CB-FF3523F97E6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AE7BFC-72A7-0019-32F8-9F6E9593ED9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64DC7E9-D1E9-39FB-81F1-B32E63BD1E1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C40C04BA-D604-FE60-D81C-7F85D487A2D6}"/>
              </a:ext>
            </a:extLst>
          </p:cNvPr>
          <p:cNvSpPr txBox="1"/>
          <p:nvPr/>
        </p:nvSpPr>
        <p:spPr>
          <a:xfrm>
            <a:off x="1601102" y="1294574"/>
            <a:ext cx="733400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Database Normalization</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E57CCDDF-3775-A8A3-6225-17704CA924C9}"/>
              </a:ext>
            </a:extLst>
          </p:cNvPr>
          <p:cNvSpPr txBox="1"/>
          <p:nvPr/>
        </p:nvSpPr>
        <p:spPr>
          <a:xfrm>
            <a:off x="2353243" y="2204038"/>
            <a:ext cx="15396871" cy="3877985"/>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Light"/>
                <a:ea typeface="Darker Grotesque Light"/>
                <a:cs typeface="Darker Grotesque Light"/>
                <a:sym typeface="Darker Grotesque Light"/>
              </a:rPr>
              <a:t>	Database normalization is a systematic process used in relational database design to organize data efficiently by dividing large, complex tables into smaller, related tables. The main motive of this is to confirm redundancy of data (duplicate data) is minimal and unwanted attributes such as insertion, update and deletion anomalies are avoided. Normalization does this through a set of rules known as the normal forms each having distinct requirements that narrow down how the database would be designed.</a:t>
            </a:r>
            <a:endParaRPr lang="en-US" sz="2000" dirty="0">
              <a:latin typeface="Darker Grotesque Light"/>
              <a:ea typeface="Darker Grotesque Light"/>
              <a:cs typeface="Darker Grotesque Light"/>
              <a:sym typeface="Darker Grotesque Light"/>
            </a:endParaRPr>
          </a:p>
        </p:txBody>
      </p:sp>
      <p:sp>
        <p:nvSpPr>
          <p:cNvPr id="4" name="Google Shape;102;p11">
            <a:extLst>
              <a:ext uri="{FF2B5EF4-FFF2-40B4-BE49-F238E27FC236}">
                <a16:creationId xmlns:a16="http://schemas.microsoft.com/office/drawing/2014/main" id="{28B279F7-3312-6265-85F4-5443CFD3698B}"/>
              </a:ext>
            </a:extLst>
          </p:cNvPr>
          <p:cNvSpPr txBox="1"/>
          <p:nvPr/>
        </p:nvSpPr>
        <p:spPr>
          <a:xfrm>
            <a:off x="11470348" y="8552436"/>
            <a:ext cx="6723523" cy="246221"/>
          </a:xfrm>
          <a:prstGeom prst="rect">
            <a:avLst/>
          </a:prstGeom>
          <a:noFill/>
          <a:ln>
            <a:noFill/>
          </a:ln>
        </p:spPr>
        <p:txBody>
          <a:bodyPr spcFirstLastPara="1" wrap="square" lIns="0" tIns="0" rIns="0" bIns="0" anchor="t" anchorCtr="0">
            <a:spAutoFit/>
          </a:bodyPr>
          <a:lstStyle/>
          <a:p>
            <a:pPr lvl="0"/>
            <a:r>
              <a:rPr lang="en-US" sz="1600" dirty="0">
                <a:solidFill>
                  <a:srgbClr val="FFFFFF"/>
                </a:solidFill>
                <a:latin typeface="Darker Grotesque Light"/>
                <a:ea typeface="Darker Grotesque Light"/>
                <a:cs typeface="Darker Grotesque Light"/>
                <a:sym typeface="Darker Grotesque Light"/>
              </a:rPr>
              <a:t>https://www.geeksforgeeks.org/dbms/introduction-of-database-normalization/</a:t>
            </a:r>
            <a:endParaRPr lang="en-US" sz="1050" dirty="0">
              <a:latin typeface="Darker Grotesque Light"/>
              <a:ea typeface="Darker Grotesque Light"/>
              <a:cs typeface="Darker Grotesque Light"/>
              <a:sym typeface="Darker Grotesque Light"/>
            </a:endParaRPr>
          </a:p>
        </p:txBody>
      </p:sp>
      <p:sp>
        <p:nvSpPr>
          <p:cNvPr id="7" name="Google Shape;102;p11">
            <a:extLst>
              <a:ext uri="{FF2B5EF4-FFF2-40B4-BE49-F238E27FC236}">
                <a16:creationId xmlns:a16="http://schemas.microsoft.com/office/drawing/2014/main" id="{A54D4D15-8153-75BD-5C10-713973C4C7FC}"/>
              </a:ext>
            </a:extLst>
          </p:cNvPr>
          <p:cNvSpPr txBox="1"/>
          <p:nvPr/>
        </p:nvSpPr>
        <p:spPr>
          <a:xfrm>
            <a:off x="11725836" y="8905368"/>
            <a:ext cx="6468035" cy="246220"/>
          </a:xfrm>
          <a:prstGeom prst="rect">
            <a:avLst/>
          </a:prstGeom>
          <a:noFill/>
          <a:ln>
            <a:noFill/>
          </a:ln>
        </p:spPr>
        <p:txBody>
          <a:bodyPr spcFirstLastPara="1" wrap="square" lIns="0" tIns="0" rIns="0" bIns="0" anchor="t" anchorCtr="0">
            <a:spAutoFit/>
          </a:bodyPr>
          <a:lstStyle/>
          <a:p>
            <a:pPr lvl="0"/>
            <a:r>
              <a:rPr lang="en-US" sz="1600" dirty="0">
                <a:solidFill>
                  <a:srgbClr val="FFFFFF"/>
                </a:solidFill>
                <a:latin typeface="Darker Grotesque Light"/>
                <a:ea typeface="Darker Grotesque Light"/>
                <a:cs typeface="Darker Grotesque Light"/>
                <a:sym typeface="Darker Grotesque Light"/>
              </a:rPr>
              <a:t>https://www.digitalocean.com/community/tutorials/database-normalization</a:t>
            </a:r>
            <a:endParaRPr lang="en-US" sz="105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28492971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F93C218-7D7C-3FED-0FBB-71302DBC152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6C22B53A-00DE-958D-B959-33F09FD3599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E653752-7BD6-814D-DF63-93A2B323FE9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 name="Picture 1">
            <a:extLst>
              <a:ext uri="{FF2B5EF4-FFF2-40B4-BE49-F238E27FC236}">
                <a16:creationId xmlns:a16="http://schemas.microsoft.com/office/drawing/2014/main" id="{E2C945DA-83EC-CEDD-6626-E3616E0ED562}"/>
              </a:ext>
            </a:extLst>
          </p:cNvPr>
          <p:cNvPicPr>
            <a:picLocks noChangeAspect="1"/>
          </p:cNvPicPr>
          <p:nvPr/>
        </p:nvPicPr>
        <p:blipFill>
          <a:blip r:embed="rId3"/>
          <a:stretch>
            <a:fillRect/>
          </a:stretch>
        </p:blipFill>
        <p:spPr>
          <a:xfrm>
            <a:off x="1703866" y="1224278"/>
            <a:ext cx="7944959" cy="3724795"/>
          </a:xfrm>
          <a:prstGeom prst="rect">
            <a:avLst/>
          </a:prstGeom>
        </p:spPr>
      </p:pic>
      <p:pic>
        <p:nvPicPr>
          <p:cNvPr id="4" name="Picture 3">
            <a:extLst>
              <a:ext uri="{FF2B5EF4-FFF2-40B4-BE49-F238E27FC236}">
                <a16:creationId xmlns:a16="http://schemas.microsoft.com/office/drawing/2014/main" id="{7C76A79F-0A27-631F-3512-6EB462A85F68}"/>
              </a:ext>
            </a:extLst>
          </p:cNvPr>
          <p:cNvPicPr>
            <a:picLocks noChangeAspect="1"/>
          </p:cNvPicPr>
          <p:nvPr/>
        </p:nvPicPr>
        <p:blipFill>
          <a:blip r:embed="rId4"/>
          <a:stretch>
            <a:fillRect/>
          </a:stretch>
        </p:blipFill>
        <p:spPr>
          <a:xfrm>
            <a:off x="9648825" y="4852084"/>
            <a:ext cx="8430802" cy="4210638"/>
          </a:xfrm>
          <a:prstGeom prst="rect">
            <a:avLst/>
          </a:prstGeom>
        </p:spPr>
      </p:pic>
    </p:spTree>
    <p:extLst>
      <p:ext uri="{BB962C8B-B14F-4D97-AF65-F5344CB8AC3E}">
        <p14:creationId xmlns:p14="http://schemas.microsoft.com/office/powerpoint/2010/main" val="5279006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FBF8D72-EE72-1782-74ED-2DDC3B5829C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5A8FC89-67CC-869E-A635-EA8B8C839FF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EDBE41F-2804-0F8C-BF32-C99F55ECDD3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75EE8BD-D24F-DDCA-C914-34E84E9F0D63}"/>
              </a:ext>
            </a:extLst>
          </p:cNvPr>
          <p:cNvSpPr txBox="1"/>
          <p:nvPr/>
        </p:nvSpPr>
        <p:spPr>
          <a:xfrm>
            <a:off x="1667439" y="928758"/>
            <a:ext cx="14953122" cy="6093976"/>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Objectives of Database Normalization</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Eliminate Data Redundancy: </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By breaking data into logical tables and removing duplicate information, normalization helps us make sure that each piece of data is stored only once. This reduces storage requirements and prevents inconsistencies.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Confirming Data Integrity:</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Normalization enforces data consistency by establishing clear relationships and dependencies between tables. This maintains accurate and reliable data throughout the database.</a:t>
            </a:r>
          </a:p>
        </p:txBody>
      </p:sp>
    </p:spTree>
    <p:extLst>
      <p:ext uri="{BB962C8B-B14F-4D97-AF65-F5344CB8AC3E}">
        <p14:creationId xmlns:p14="http://schemas.microsoft.com/office/powerpoint/2010/main" val="145537401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DD052F4-D39A-6341-70AC-F6405136B27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315B682-C33C-B0FB-2CC7-FA65265DF79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492DA63-6504-FAFB-873F-534EFDD65C4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A8ED6690-CF25-029F-3016-24E00C8A193E}"/>
              </a:ext>
            </a:extLst>
          </p:cNvPr>
          <p:cNvSpPr txBox="1"/>
          <p:nvPr/>
        </p:nvSpPr>
        <p:spPr>
          <a:xfrm>
            <a:off x="1667439" y="928758"/>
            <a:ext cx="14953122" cy="8863965"/>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Prevent Anomalies</a:t>
            </a:r>
          </a:p>
          <a:p>
            <a:pPr lvl="0" algn="just"/>
            <a:r>
              <a:rPr lang="en-US" sz="3600" dirty="0">
                <a:solidFill>
                  <a:srgbClr val="FFFFFF"/>
                </a:solidFill>
                <a:latin typeface="Darker Grotesque Light"/>
                <a:ea typeface="Darker Grotesque Light"/>
                <a:cs typeface="Darker Grotesque Light"/>
                <a:sym typeface="Darker Grotesque Light"/>
              </a:rPr>
              <a:t>Proper normalization prevents common data anomalies: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Insertion Anomalies: </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Insertion anomalies occur when it is not possible to insert data into a database because the required fields are missing or because the data is incomplete. For example, if a database requires that every record has a primary key, but no value is provided for a particular record, it cannot be inserted into the database.</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Deletion anomalies: </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Deletion anomalies occur when deleting a record from a database and can result in the unintentional loss of data. For example, if a database contains information about customers and orders, deleting a customer record may also delete all the orders associated with that customer.</a:t>
            </a:r>
          </a:p>
          <a:p>
            <a:pPr lvl="0" algn="just"/>
            <a:endParaRPr lang="en-US" sz="3600" dirty="0">
              <a:solidFill>
                <a:srgbClr val="FFFFFF"/>
              </a:solidFill>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7577315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F3D62C6-927B-72F9-0185-A0A3F6C4D5C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B71967D-46B8-DCED-30C9-6044BCA7DB4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5E676B8-7468-1113-C3E7-8AEAE30CF85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593A8950-6CBD-C78A-5B0D-90A44A2D9C79}"/>
              </a:ext>
            </a:extLst>
          </p:cNvPr>
          <p:cNvSpPr txBox="1"/>
          <p:nvPr/>
        </p:nvSpPr>
        <p:spPr>
          <a:xfrm>
            <a:off x="1667439" y="1643956"/>
            <a:ext cx="14953122" cy="5539978"/>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Update anomalies: </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Update anomalies occur when modifying data in a database and can result in inconsistencies or errors. For example, if a database contains information about employees and their salaries, updating an employee’s salary in one record but not in all related records could lead to incorrect calculations and reporting.</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Optimize Query Performance: </a:t>
            </a:r>
          </a:p>
          <a:p>
            <a:pPr lvl="0" algn="just"/>
            <a:r>
              <a:rPr lang="en-US" sz="3600" b="1" dirty="0">
                <a:solidFill>
                  <a:srgbClr val="FFFFFF"/>
                </a:solidFill>
                <a:latin typeface="Darker Grotesque Light"/>
                <a:ea typeface="Darker Grotesque Light"/>
                <a:cs typeface="Darker Grotesque Light"/>
                <a:sym typeface="Darker Grotesque Light"/>
              </a:rPr>
              <a:t>	</a:t>
            </a:r>
            <a:r>
              <a:rPr lang="en-US" sz="3600" dirty="0">
                <a:solidFill>
                  <a:srgbClr val="FFFFFF"/>
                </a:solidFill>
                <a:latin typeface="Darker Grotesque Light"/>
                <a:ea typeface="Darker Grotesque Light"/>
                <a:cs typeface="Darker Grotesque Light"/>
                <a:sym typeface="Darker Grotesque Light"/>
              </a:rPr>
              <a:t>Well-structured tables can improve the efficiency of queries, especially for updates and maintenance, by reducing the amount of data processed.</a:t>
            </a:r>
          </a:p>
        </p:txBody>
      </p:sp>
    </p:spTree>
    <p:extLst>
      <p:ext uri="{BB962C8B-B14F-4D97-AF65-F5344CB8AC3E}">
        <p14:creationId xmlns:p14="http://schemas.microsoft.com/office/powerpoint/2010/main" val="77789762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B340646-3A02-EE79-A7E2-7EA1A42C88AD}"/>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C1678A3B-7D46-BC21-963E-6DD141C4CBC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770AEF4-B443-AF55-661A-9D95CAD281E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CBBC46B3-A918-65A4-C4AB-E62CE9832F50}"/>
              </a:ext>
            </a:extLst>
          </p:cNvPr>
          <p:cNvSpPr txBox="1"/>
          <p:nvPr/>
        </p:nvSpPr>
        <p:spPr>
          <a:xfrm>
            <a:off x="1546415" y="627421"/>
            <a:ext cx="16015432" cy="7755969"/>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First Normal Form (1NF)</a:t>
            </a:r>
          </a:p>
          <a:p>
            <a:pPr lvl="0" algn="just"/>
            <a:endParaRPr lang="en-US" sz="3600" b="1"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	is the initial stage in the process of database normalization. It ensures that each column in a table contains only atomic, indivisible values, and that each row is uniquely identifiable. By removing repeating groups and multi-valued attributes, 1NF lays the groundwork for a more organized and consistent database structure. This makes querying, updating, and maintaining data more efficient and reliable, and it helps avoid redundancy right from the beginning of database design.</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Key Requirements:</a:t>
            </a:r>
          </a:p>
          <a:p>
            <a:pPr lvl="0" algn="just"/>
            <a:r>
              <a:rPr lang="en-US" sz="3600" dirty="0">
                <a:solidFill>
                  <a:srgbClr val="FFFFFF"/>
                </a:solidFill>
                <a:latin typeface="Darker Grotesque Light"/>
                <a:ea typeface="Darker Grotesque Light"/>
                <a:cs typeface="Darker Grotesque Light"/>
                <a:sym typeface="Darker Grotesque Light"/>
              </a:rPr>
              <a:t>	-All columns contain atomic values (no lists, sets, or composite fields).</a:t>
            </a:r>
          </a:p>
          <a:p>
            <a:pPr lvl="0" algn="just"/>
            <a:r>
              <a:rPr lang="en-US" sz="3600" dirty="0">
                <a:solidFill>
                  <a:srgbClr val="FFFFFF"/>
                </a:solidFill>
                <a:latin typeface="Darker Grotesque Light"/>
                <a:ea typeface="Darker Grotesque Light"/>
                <a:cs typeface="Darker Grotesque Light"/>
                <a:sym typeface="Darker Grotesque Light"/>
              </a:rPr>
              <a:t>	-Each row is unique (typically enforced by a primary key).</a:t>
            </a:r>
          </a:p>
          <a:p>
            <a:pPr lvl="0" algn="just"/>
            <a:r>
              <a:rPr lang="en-US" sz="3600" dirty="0">
                <a:solidFill>
                  <a:srgbClr val="FFFFFF"/>
                </a:solidFill>
                <a:latin typeface="Darker Grotesque Light"/>
                <a:ea typeface="Darker Grotesque Light"/>
                <a:cs typeface="Darker Grotesque Light"/>
                <a:sym typeface="Darker Grotesque Light"/>
              </a:rPr>
              <a:t>	-No repeating groups or arrays within a row.</a:t>
            </a:r>
          </a:p>
          <a:p>
            <a:pPr lvl="0" algn="just"/>
            <a:r>
              <a:rPr lang="en-US" sz="3600" dirty="0">
                <a:solidFill>
                  <a:srgbClr val="FFFFFF"/>
                </a:solidFill>
                <a:latin typeface="Darker Grotesque Light"/>
                <a:ea typeface="Darker Grotesque Light"/>
                <a:cs typeface="Darker Grotesque Light"/>
                <a:sym typeface="Darker Grotesque Light"/>
              </a:rPr>
              <a:t>	-Each column contains values of a single data type.</a:t>
            </a:r>
          </a:p>
        </p:txBody>
      </p:sp>
    </p:spTree>
    <p:extLst>
      <p:ext uri="{BB962C8B-B14F-4D97-AF65-F5344CB8AC3E}">
        <p14:creationId xmlns:p14="http://schemas.microsoft.com/office/powerpoint/2010/main" val="8310897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3F2DDBCB-96FC-412E-6EBF-3AF98541CB0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BE8D583-4DE8-9828-80DE-289C771CF3F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4AA67C0A-700B-0E5A-4BEE-034E36314454}"/>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4" name="Picture 3">
            <a:extLst>
              <a:ext uri="{FF2B5EF4-FFF2-40B4-BE49-F238E27FC236}">
                <a16:creationId xmlns:a16="http://schemas.microsoft.com/office/drawing/2014/main" id="{C4C7AEA7-979D-0FBF-563F-B2E32E06A884}"/>
              </a:ext>
            </a:extLst>
          </p:cNvPr>
          <p:cNvPicPr>
            <a:picLocks noChangeAspect="1"/>
          </p:cNvPicPr>
          <p:nvPr/>
        </p:nvPicPr>
        <p:blipFill>
          <a:blip r:embed="rId3"/>
          <a:stretch>
            <a:fillRect/>
          </a:stretch>
        </p:blipFill>
        <p:spPr>
          <a:xfrm>
            <a:off x="2889858" y="1977934"/>
            <a:ext cx="12508284" cy="4906960"/>
          </a:xfrm>
          <a:prstGeom prst="rect">
            <a:avLst/>
          </a:prstGeom>
        </p:spPr>
      </p:pic>
    </p:spTree>
    <p:extLst>
      <p:ext uri="{BB962C8B-B14F-4D97-AF65-F5344CB8AC3E}">
        <p14:creationId xmlns:p14="http://schemas.microsoft.com/office/powerpoint/2010/main" val="170845767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630037E-56BC-880A-2527-128BA8A1816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01FCE19-8104-26E7-AD69-0AEB28085B0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9F9A3F6-A2DE-4019-C3BE-C5BFF35C36B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55570863-B815-55E6-D746-71094D7A4F8B}"/>
              </a:ext>
            </a:extLst>
          </p:cNvPr>
          <p:cNvSpPr txBox="1"/>
          <p:nvPr/>
        </p:nvSpPr>
        <p:spPr>
          <a:xfrm>
            <a:off x="1775016" y="2002277"/>
            <a:ext cx="14953122" cy="5539978"/>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Why is this not in 1NF?</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	-Non-atomic values: “Purchased Products” contains multiple items per cell.</a:t>
            </a:r>
          </a:p>
          <a:p>
            <a:pPr lvl="0" algn="just"/>
            <a:r>
              <a:rPr lang="en-US" sz="3600" dirty="0">
                <a:solidFill>
                  <a:srgbClr val="FFFFFF"/>
                </a:solidFill>
                <a:latin typeface="Darker Grotesque Light"/>
                <a:ea typeface="Darker Grotesque Light"/>
                <a:cs typeface="Darker Grotesque Light"/>
                <a:sym typeface="Darker Grotesque Light"/>
              </a:rPr>
              <a:t>	-Querying and updating are complex: Searching for customers who bought 		“Mouse” requires string parsing.</a:t>
            </a:r>
          </a:p>
          <a:p>
            <a:pPr lvl="0" algn="just"/>
            <a:r>
              <a:rPr lang="en-US" sz="3600" dirty="0">
                <a:solidFill>
                  <a:srgbClr val="FFFFFF"/>
                </a:solidFill>
                <a:latin typeface="Darker Grotesque Light"/>
                <a:ea typeface="Darker Grotesque Light"/>
                <a:cs typeface="Darker Grotesque Light"/>
                <a:sym typeface="Darker Grotesque Light"/>
              </a:rPr>
              <a:t>	-Data integrity risks: No way to enforce referential integrity between 			products and customers.</a:t>
            </a:r>
          </a:p>
          <a:p>
            <a:pPr lvl="0" algn="just"/>
            <a:r>
              <a:rPr lang="en-US" sz="3600" dirty="0">
                <a:solidFill>
                  <a:srgbClr val="FFFFFF"/>
                </a:solidFill>
                <a:latin typeface="Darker Grotesque Light"/>
                <a:ea typeface="Darker Grotesque Light"/>
                <a:cs typeface="Darker Grotesque Light"/>
                <a:sym typeface="Darker Grotesque Light"/>
              </a:rPr>
              <a:t>	-Inconsistent data entry: Different delimiters or typos can creep in.</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endParaRPr lang="en-US" sz="3600" dirty="0">
              <a:solidFill>
                <a:srgbClr val="FFFFFF"/>
              </a:solidFill>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57952971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1887FEC3-BA11-55A4-A744-2E3F54290BFC}"/>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F69DA5FE-49C1-430C-5BF9-97BF092C5D4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8F648D2-6128-F45C-457C-6DA9C03C665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9F84D3FC-0B0E-4808-F483-20452E55124F}"/>
              </a:ext>
            </a:extLst>
          </p:cNvPr>
          <p:cNvSpPr txBox="1"/>
          <p:nvPr/>
        </p:nvSpPr>
        <p:spPr>
          <a:xfrm>
            <a:off x="1667439" y="751700"/>
            <a:ext cx="16378508" cy="7755969"/>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Real-World Issues: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Reporting challenges: </a:t>
            </a:r>
          </a:p>
          <a:p>
            <a:pPr lvl="0" algn="just"/>
            <a:r>
              <a:rPr lang="en-US" sz="3600" dirty="0">
                <a:solidFill>
                  <a:srgbClr val="FFFFFF"/>
                </a:solidFill>
                <a:latin typeface="Darker Grotesque Light"/>
                <a:ea typeface="Darker Grotesque Light"/>
                <a:cs typeface="Darker Grotesque Light"/>
                <a:sym typeface="Darker Grotesque Light"/>
              </a:rPr>
              <a:t>	Generating reports such as “How many customers bought a Laptop?” becomes complicated, as you cannot simply filter a column for “Laptop”, you must parse the string.</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Update anomalies: </a:t>
            </a:r>
          </a:p>
          <a:p>
            <a:pPr lvl="0" algn="just"/>
            <a:r>
              <a:rPr lang="en-US" sz="3600" dirty="0">
                <a:solidFill>
                  <a:srgbClr val="FFFFFF"/>
                </a:solidFill>
                <a:latin typeface="Darker Grotesque Light"/>
                <a:ea typeface="Darker Grotesque Light"/>
                <a:cs typeface="Darker Grotesque Light"/>
                <a:sym typeface="Darker Grotesque Light"/>
              </a:rPr>
              <a:t>	If a product name changes (e.g., “Mouse” to “Wireless Mouse”), you must update every occurrence in every cell, increasing the risk of missing some entries.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b="1" dirty="0">
                <a:solidFill>
                  <a:srgbClr val="FFFFFF"/>
                </a:solidFill>
                <a:latin typeface="Darker Grotesque Light"/>
                <a:ea typeface="Darker Grotesque Light"/>
                <a:cs typeface="Darker Grotesque Light"/>
                <a:sym typeface="Darker Grotesque Light"/>
              </a:rPr>
              <a:t>Data integrity risks: </a:t>
            </a:r>
          </a:p>
          <a:p>
            <a:pPr lvl="0" algn="just"/>
            <a:r>
              <a:rPr lang="en-US" sz="3600" dirty="0">
                <a:solidFill>
                  <a:srgbClr val="FFFFFF"/>
                </a:solidFill>
                <a:latin typeface="Darker Grotesque Light"/>
                <a:ea typeface="Darker Grotesque Light"/>
                <a:cs typeface="Darker Grotesque Light"/>
                <a:sym typeface="Darker Grotesque Light"/>
              </a:rPr>
              <a:t>	There is no way to enforce referential integrity between products and customers, which can lead to orphaned or inconsistent data.</a:t>
            </a:r>
          </a:p>
        </p:txBody>
      </p:sp>
    </p:spTree>
    <p:extLst>
      <p:ext uri="{BB962C8B-B14F-4D97-AF65-F5344CB8AC3E}">
        <p14:creationId xmlns:p14="http://schemas.microsoft.com/office/powerpoint/2010/main" val="64571176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DBA499A-30EC-3E23-75C0-3D5370E731B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FD78BF6-9281-DA2B-8203-075591DF00A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42F97DE6-61F7-1F48-386A-3F9D51707E4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2B62A985-3524-C5DD-F8A3-978157E797FC}"/>
              </a:ext>
            </a:extLst>
          </p:cNvPr>
          <p:cNvSpPr txBox="1"/>
          <p:nvPr/>
        </p:nvSpPr>
        <p:spPr>
          <a:xfrm>
            <a:off x="2152095" y="2413159"/>
            <a:ext cx="14212974" cy="4431983"/>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Summary:</a:t>
            </a:r>
          </a:p>
          <a:p>
            <a:pPr lvl="0" algn="just"/>
            <a:endParaRPr lang="en-US" sz="3600" b="1"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	This unnormalized table structure is easy to read for small datasets but quickly becomes unmanageable and unreliable as the amount of data grows. To comply with First Normal Form (1NF), we must ensure that each field contains only a single value, and that the table structure supports efficient querying, updating, and data integrity.</a:t>
            </a:r>
          </a:p>
          <a:p>
            <a:pPr lvl="0" algn="just"/>
            <a:endParaRPr lang="en-US" sz="3600" dirty="0">
              <a:solidFill>
                <a:srgbClr val="FFFFFF"/>
              </a:solidFill>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1949973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37865E76-F88C-05DC-5ABA-D1618F0D3184}"/>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F701E498-953D-7F05-7A02-8AE8BABD6C4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7FC697D-ECF8-7DF2-E296-D3B642041B8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3D15D839-54FF-A19E-DE94-311D46ADC818}"/>
              </a:ext>
            </a:extLst>
          </p:cNvPr>
          <p:cNvSpPr txBox="1"/>
          <p:nvPr/>
        </p:nvSpPr>
        <p:spPr>
          <a:xfrm>
            <a:off x="1842251" y="1028699"/>
            <a:ext cx="14953122" cy="4431983"/>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Transformation Steps to Achieve 1NF:</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	Identify columns with non-atomic values: In this case, “Purchased Products” contains multiple values.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	Split the multi-valued column into separate rows: Each product purchased by a customer should be represented as a separate row, ensuring that every field contains only a single value.</a:t>
            </a:r>
          </a:p>
        </p:txBody>
      </p:sp>
      <p:pic>
        <p:nvPicPr>
          <p:cNvPr id="3" name="Picture 2">
            <a:extLst>
              <a:ext uri="{FF2B5EF4-FFF2-40B4-BE49-F238E27FC236}">
                <a16:creationId xmlns:a16="http://schemas.microsoft.com/office/drawing/2014/main" id="{1B1C7D20-D825-604E-506C-FD8978D6A84B}"/>
              </a:ext>
            </a:extLst>
          </p:cNvPr>
          <p:cNvPicPr>
            <a:picLocks noChangeAspect="1"/>
          </p:cNvPicPr>
          <p:nvPr/>
        </p:nvPicPr>
        <p:blipFill>
          <a:blip r:embed="rId3"/>
          <a:stretch>
            <a:fillRect/>
          </a:stretch>
        </p:blipFill>
        <p:spPr>
          <a:xfrm>
            <a:off x="4705211" y="5718950"/>
            <a:ext cx="8363772" cy="3281081"/>
          </a:xfrm>
          <a:prstGeom prst="rect">
            <a:avLst/>
          </a:prstGeom>
        </p:spPr>
      </p:pic>
    </p:spTree>
    <p:extLst>
      <p:ext uri="{BB962C8B-B14F-4D97-AF65-F5344CB8AC3E}">
        <p14:creationId xmlns:p14="http://schemas.microsoft.com/office/powerpoint/2010/main" val="405116623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C526BCF-1B5C-20B0-D7AC-F55CB6C334A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3C54CC9-8FF9-5F4D-67A1-24FAFE3CF1A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32A5F6B-F09E-B7F5-2153-46A65C53CA9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4" name="Picture 3">
            <a:extLst>
              <a:ext uri="{FF2B5EF4-FFF2-40B4-BE49-F238E27FC236}">
                <a16:creationId xmlns:a16="http://schemas.microsoft.com/office/drawing/2014/main" id="{E8C8E59C-61CB-4173-1661-AB552F9B0F4D}"/>
              </a:ext>
            </a:extLst>
          </p:cNvPr>
          <p:cNvPicPr>
            <a:picLocks noChangeAspect="1"/>
          </p:cNvPicPr>
          <p:nvPr/>
        </p:nvPicPr>
        <p:blipFill>
          <a:blip r:embed="rId3"/>
          <a:stretch>
            <a:fillRect/>
          </a:stretch>
        </p:blipFill>
        <p:spPr>
          <a:xfrm>
            <a:off x="8713694" y="1647263"/>
            <a:ext cx="9318329" cy="5647118"/>
          </a:xfrm>
          <a:prstGeom prst="rect">
            <a:avLst/>
          </a:prstGeom>
        </p:spPr>
      </p:pic>
      <p:sp>
        <p:nvSpPr>
          <p:cNvPr id="5" name="Google Shape;102;p11">
            <a:extLst>
              <a:ext uri="{FF2B5EF4-FFF2-40B4-BE49-F238E27FC236}">
                <a16:creationId xmlns:a16="http://schemas.microsoft.com/office/drawing/2014/main" id="{49435810-1E9F-D72E-EA7E-8B6071CD8FD8}"/>
              </a:ext>
            </a:extLst>
          </p:cNvPr>
          <p:cNvSpPr txBox="1"/>
          <p:nvPr/>
        </p:nvSpPr>
        <p:spPr>
          <a:xfrm>
            <a:off x="1519520" y="1028164"/>
            <a:ext cx="6925228" cy="7201972"/>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Explanation:</a:t>
            </a:r>
          </a:p>
          <a:p>
            <a:pPr lvl="0" algn="just"/>
            <a:endParaRPr lang="en-US" sz="3600" b="1"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Each row now represents a single product purchased by a customer.</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All columns contain atomic values (no lists or sets).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The table can be easily queried, updated, and maintained. For example, finding all customers who purchased “Mouse” is now straightforward.</a:t>
            </a:r>
          </a:p>
        </p:txBody>
      </p:sp>
    </p:spTree>
    <p:extLst>
      <p:ext uri="{BB962C8B-B14F-4D97-AF65-F5344CB8AC3E}">
        <p14:creationId xmlns:p14="http://schemas.microsoft.com/office/powerpoint/2010/main" val="227406070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BB150CA-21CB-D9C0-007F-767CF2BCBBE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666486D-7986-DE71-0669-3E38D4D3BD1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CA57EA91-3308-1B06-87D3-22EE7A1C9D1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D402ACA-7281-C392-393F-5CD3B64C01E3}"/>
              </a:ext>
            </a:extLst>
          </p:cNvPr>
          <p:cNvSpPr txBox="1"/>
          <p:nvPr/>
        </p:nvSpPr>
        <p:spPr>
          <a:xfrm>
            <a:off x="1573310" y="1975383"/>
            <a:ext cx="15867524" cy="3877985"/>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Second Normal Form (2NF)</a:t>
            </a:r>
          </a:p>
          <a:p>
            <a:pPr lvl="0" algn="just"/>
            <a:endParaRPr lang="en-US" sz="3600" b="1"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Definition:</a:t>
            </a:r>
          </a:p>
          <a:p>
            <a:pPr lvl="0" algn="just"/>
            <a:r>
              <a:rPr lang="en-US" sz="3600" dirty="0">
                <a:solidFill>
                  <a:srgbClr val="FFFFFF"/>
                </a:solidFill>
                <a:latin typeface="Darker Grotesque Light"/>
                <a:ea typeface="Darker Grotesque Light"/>
                <a:cs typeface="Darker Grotesque Light"/>
                <a:sym typeface="Darker Grotesque Light"/>
              </a:rPr>
              <a:t>A table is in 2NF if it is in 1NF and every non-prime attribute (i.e., non-primary key attribute) is fully functionally dependent on the entire primary key. This addresses partial dependencies, where a non-key attribute depends only on part of a composite key.</a:t>
            </a:r>
          </a:p>
        </p:txBody>
      </p:sp>
    </p:spTree>
    <p:extLst>
      <p:ext uri="{BB962C8B-B14F-4D97-AF65-F5344CB8AC3E}">
        <p14:creationId xmlns:p14="http://schemas.microsoft.com/office/powerpoint/2010/main" val="291844285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DCF0196D-1ACB-1E66-2E1F-3099535E9E9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18F0152-92D6-DE71-56AB-08A1E8F8626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6876F551-74B3-1827-E2B4-B70931D2A970}"/>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999AC206-9553-EFEB-B60A-C657F73EBA7E}"/>
              </a:ext>
            </a:extLst>
          </p:cNvPr>
          <p:cNvSpPr txBox="1"/>
          <p:nvPr/>
        </p:nvSpPr>
        <p:spPr>
          <a:xfrm>
            <a:off x="1545296" y="5143500"/>
            <a:ext cx="15867524" cy="3877985"/>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Light"/>
                <a:ea typeface="Darker Grotesque Light"/>
                <a:cs typeface="Darker Grotesque Light"/>
                <a:sym typeface="Darker Grotesque Light"/>
              </a:rPr>
              <a:t>Issue:</a:t>
            </a:r>
          </a:p>
          <a:p>
            <a:pPr lvl="0" algn="just"/>
            <a:r>
              <a:rPr lang="en-US" sz="3600" dirty="0">
                <a:solidFill>
                  <a:srgbClr val="FFFFFF"/>
                </a:solidFill>
                <a:latin typeface="Darker Grotesque Light"/>
                <a:ea typeface="Darker Grotesque Light"/>
                <a:cs typeface="Darker Grotesque Light"/>
                <a:sym typeface="Darker Grotesque Light"/>
              </a:rPr>
              <a:t>“Customer Name” depends only on “Customer ID”, not the full primary key (“Order ID”, “Customer ID”). This is a partial dependency.</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Normalization to 2NF:</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Separate customer information into its own table.</a:t>
            </a:r>
          </a:p>
        </p:txBody>
      </p:sp>
      <p:pic>
        <p:nvPicPr>
          <p:cNvPr id="4" name="Picture 3">
            <a:extLst>
              <a:ext uri="{FF2B5EF4-FFF2-40B4-BE49-F238E27FC236}">
                <a16:creationId xmlns:a16="http://schemas.microsoft.com/office/drawing/2014/main" id="{E69BDE72-73E7-52B9-1DC5-C91FFAC9E509}"/>
              </a:ext>
            </a:extLst>
          </p:cNvPr>
          <p:cNvPicPr>
            <a:picLocks noChangeAspect="1"/>
          </p:cNvPicPr>
          <p:nvPr/>
        </p:nvPicPr>
        <p:blipFill>
          <a:blip r:embed="rId3"/>
          <a:stretch>
            <a:fillRect/>
          </a:stretch>
        </p:blipFill>
        <p:spPr>
          <a:xfrm>
            <a:off x="3116826" y="962309"/>
            <a:ext cx="10772811" cy="3944376"/>
          </a:xfrm>
          <a:prstGeom prst="rect">
            <a:avLst/>
          </a:prstGeom>
        </p:spPr>
      </p:pic>
    </p:spTree>
    <p:extLst>
      <p:ext uri="{BB962C8B-B14F-4D97-AF65-F5344CB8AC3E}">
        <p14:creationId xmlns:p14="http://schemas.microsoft.com/office/powerpoint/2010/main" val="128485790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4840D6A-31C5-E7A6-1F7A-0843DD120A81}"/>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0328506-53ED-4C5D-E4D8-02026505B19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557B646-DCB5-E037-965B-9C6354F6EFA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9" name="Picture 8">
            <a:extLst>
              <a:ext uri="{FF2B5EF4-FFF2-40B4-BE49-F238E27FC236}">
                <a16:creationId xmlns:a16="http://schemas.microsoft.com/office/drawing/2014/main" id="{D208CFDF-6D3E-462D-F339-BE4193C0E9C7}"/>
              </a:ext>
            </a:extLst>
          </p:cNvPr>
          <p:cNvPicPr>
            <a:picLocks noChangeAspect="1"/>
          </p:cNvPicPr>
          <p:nvPr/>
        </p:nvPicPr>
        <p:blipFill>
          <a:blip r:embed="rId3"/>
          <a:stretch>
            <a:fillRect/>
          </a:stretch>
        </p:blipFill>
        <p:spPr>
          <a:xfrm>
            <a:off x="2019300" y="1155984"/>
            <a:ext cx="7249537" cy="3315163"/>
          </a:xfrm>
          <a:prstGeom prst="rect">
            <a:avLst/>
          </a:prstGeom>
        </p:spPr>
      </p:pic>
      <p:pic>
        <p:nvPicPr>
          <p:cNvPr id="11" name="Picture 10">
            <a:extLst>
              <a:ext uri="{FF2B5EF4-FFF2-40B4-BE49-F238E27FC236}">
                <a16:creationId xmlns:a16="http://schemas.microsoft.com/office/drawing/2014/main" id="{53E70447-3AC6-36A9-E7CE-0003C0E630B0}"/>
              </a:ext>
            </a:extLst>
          </p:cNvPr>
          <p:cNvPicPr>
            <a:picLocks noChangeAspect="1"/>
          </p:cNvPicPr>
          <p:nvPr/>
        </p:nvPicPr>
        <p:blipFill>
          <a:blip r:embed="rId4"/>
          <a:stretch>
            <a:fillRect/>
          </a:stretch>
        </p:blipFill>
        <p:spPr>
          <a:xfrm>
            <a:off x="9369891" y="1155984"/>
            <a:ext cx="8177402" cy="3315163"/>
          </a:xfrm>
          <a:prstGeom prst="rect">
            <a:avLst/>
          </a:prstGeom>
        </p:spPr>
      </p:pic>
      <p:sp>
        <p:nvSpPr>
          <p:cNvPr id="12" name="Google Shape;102;p11">
            <a:extLst>
              <a:ext uri="{FF2B5EF4-FFF2-40B4-BE49-F238E27FC236}">
                <a16:creationId xmlns:a16="http://schemas.microsoft.com/office/drawing/2014/main" id="{51859CCA-186C-8295-DD94-E4D746DBA394}"/>
              </a:ext>
            </a:extLst>
          </p:cNvPr>
          <p:cNvSpPr txBox="1"/>
          <p:nvPr/>
        </p:nvSpPr>
        <p:spPr>
          <a:xfrm>
            <a:off x="1545296" y="5143500"/>
            <a:ext cx="15867524" cy="3323987"/>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Light"/>
                <a:ea typeface="Darker Grotesque Light"/>
                <a:cs typeface="Darker Grotesque Light"/>
                <a:sym typeface="Darker Grotesque Light"/>
              </a:rPr>
              <a:t>Benefits:</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Eliminates redundancy of customer details.</a:t>
            </a:r>
          </a:p>
          <a:p>
            <a:pPr lvl="0" algn="just"/>
            <a:r>
              <a:rPr lang="en-US" sz="3600" dirty="0">
                <a:solidFill>
                  <a:srgbClr val="FFFFFF"/>
                </a:solidFill>
                <a:latin typeface="Darker Grotesque Light"/>
                <a:ea typeface="Darker Grotesque Light"/>
                <a:cs typeface="Darker Grotesque Light"/>
                <a:sym typeface="Darker Grotesque Light"/>
              </a:rPr>
              <a:t>Simplifies data maintenance and updates.</a:t>
            </a:r>
          </a:p>
          <a:p>
            <a:pPr lvl="0" algn="just"/>
            <a:r>
              <a:rPr lang="en-US" sz="3600" dirty="0">
                <a:solidFill>
                  <a:srgbClr val="FFFFFF"/>
                </a:solidFill>
                <a:latin typeface="Darker Grotesque Light"/>
                <a:ea typeface="Darker Grotesque Light"/>
                <a:cs typeface="Darker Grotesque Light"/>
                <a:sym typeface="Darker Grotesque Light"/>
              </a:rPr>
              <a:t>By moving </a:t>
            </a:r>
            <a:r>
              <a:rPr lang="en-US" sz="3600" dirty="0" err="1">
                <a:solidFill>
                  <a:srgbClr val="FFFFFF"/>
                </a:solidFill>
                <a:latin typeface="Darker Grotesque Light"/>
                <a:ea typeface="Darker Grotesque Light"/>
                <a:cs typeface="Darker Grotesque Light"/>
                <a:sym typeface="Darker Grotesque Light"/>
              </a:rPr>
              <a:t>CustomerName</a:t>
            </a:r>
            <a:r>
              <a:rPr lang="en-US" sz="3600" dirty="0">
                <a:solidFill>
                  <a:srgbClr val="FFFFFF"/>
                </a:solidFill>
                <a:latin typeface="Darker Grotesque Light"/>
                <a:ea typeface="Darker Grotesque Light"/>
                <a:cs typeface="Darker Grotesque Light"/>
                <a:sym typeface="Darker Grotesque Light"/>
              </a:rPr>
              <a:t> into a separate Customers table, we ensure it’s only dependent on </a:t>
            </a:r>
            <a:r>
              <a:rPr lang="en-US" sz="3600" dirty="0" err="1">
                <a:solidFill>
                  <a:srgbClr val="FFFFFF"/>
                </a:solidFill>
                <a:latin typeface="Darker Grotesque Light"/>
                <a:ea typeface="Darker Grotesque Light"/>
                <a:cs typeface="Darker Grotesque Light"/>
                <a:sym typeface="Darker Grotesque Light"/>
              </a:rPr>
              <a:t>CustomerID</a:t>
            </a:r>
            <a:r>
              <a:rPr lang="en-US" sz="3600" dirty="0">
                <a:solidFill>
                  <a:srgbClr val="FFFFFF"/>
                </a:solidFill>
                <a:latin typeface="Darker Grotesque Light"/>
                <a:ea typeface="Darker Grotesque Light"/>
                <a:cs typeface="Darker Grotesque Light"/>
                <a:sym typeface="Darker Grotesque Light"/>
              </a:rPr>
              <a:t> and eliminate partial dependency on a composite key.</a:t>
            </a:r>
          </a:p>
        </p:txBody>
      </p:sp>
    </p:spTree>
    <p:extLst>
      <p:ext uri="{BB962C8B-B14F-4D97-AF65-F5344CB8AC3E}">
        <p14:creationId xmlns:p14="http://schemas.microsoft.com/office/powerpoint/2010/main" val="334714720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2499AA1-8A59-6272-5446-8F39051C7BFE}"/>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49568F2-74DB-9DF7-77CB-8616F86FDA0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6DCEE5D2-55B9-D2AC-448B-5AE82F1F080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003AF49-496A-200A-B77B-5ACC5E550A80}"/>
              </a:ext>
            </a:extLst>
          </p:cNvPr>
          <p:cNvSpPr txBox="1"/>
          <p:nvPr/>
        </p:nvSpPr>
        <p:spPr>
          <a:xfrm>
            <a:off x="1410827" y="2675965"/>
            <a:ext cx="15867524" cy="2769989"/>
          </a:xfrm>
          <a:prstGeom prst="rect">
            <a:avLst/>
          </a:prstGeom>
          <a:noFill/>
          <a:ln>
            <a:noFill/>
          </a:ln>
        </p:spPr>
        <p:txBody>
          <a:bodyPr spcFirstLastPara="1" wrap="square" lIns="0" tIns="0" rIns="0" bIns="0" anchor="t" anchorCtr="0">
            <a:spAutoFit/>
          </a:bodyPr>
          <a:lstStyle/>
          <a:p>
            <a:pPr lvl="0" algn="just"/>
            <a:r>
              <a:rPr lang="en-US" sz="3600" b="1" dirty="0">
                <a:solidFill>
                  <a:srgbClr val="FFFFFF"/>
                </a:solidFill>
                <a:latin typeface="Darker Grotesque Light"/>
                <a:ea typeface="Darker Grotesque Light"/>
                <a:cs typeface="Darker Grotesque Light"/>
                <a:sym typeface="Darker Grotesque Light"/>
              </a:rPr>
              <a:t>Third Normal Form (3NF)</a:t>
            </a:r>
          </a:p>
          <a:p>
            <a:pPr lvl="0" algn="just"/>
            <a:r>
              <a:rPr lang="en-US" sz="3600" dirty="0">
                <a:solidFill>
                  <a:srgbClr val="FFFFFF"/>
                </a:solidFill>
                <a:latin typeface="Darker Grotesque Light"/>
                <a:ea typeface="Darker Grotesque Light"/>
                <a:cs typeface="Darker Grotesque Light"/>
                <a:sym typeface="Darker Grotesque Light"/>
              </a:rPr>
              <a:t>Definition:</a:t>
            </a:r>
          </a:p>
          <a:p>
            <a:pPr lvl="0" algn="just"/>
            <a:r>
              <a:rPr lang="en-US" sz="3600" dirty="0">
                <a:solidFill>
                  <a:srgbClr val="FFFFFF"/>
                </a:solidFill>
                <a:latin typeface="Darker Grotesque Light"/>
                <a:ea typeface="Darker Grotesque Light"/>
                <a:cs typeface="Darker Grotesque Light"/>
                <a:sym typeface="Darker Grotesque Light"/>
              </a:rPr>
              <a:t>A table is in 3NF if it is in 2NF and all the attributes are functionally dependent only on the primary key, there are no transitive dependencies (i.e., non-key attributes depending on other non-key attributes).</a:t>
            </a:r>
          </a:p>
        </p:txBody>
      </p:sp>
    </p:spTree>
    <p:extLst>
      <p:ext uri="{BB962C8B-B14F-4D97-AF65-F5344CB8AC3E}">
        <p14:creationId xmlns:p14="http://schemas.microsoft.com/office/powerpoint/2010/main" val="394010104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CEA43DF-0E14-8053-BBDE-9D297B116F7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89E62679-17AD-22C9-2D0C-CE991A582CA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3A7A841-745D-0E59-C677-9540EF7FC53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D028CDE1-32B3-8FE8-A618-E18B71589263}"/>
              </a:ext>
            </a:extLst>
          </p:cNvPr>
          <p:cNvSpPr txBox="1"/>
          <p:nvPr/>
        </p:nvSpPr>
        <p:spPr>
          <a:xfrm>
            <a:off x="1410825" y="5557867"/>
            <a:ext cx="15867524" cy="3323987"/>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Light"/>
                <a:ea typeface="Darker Grotesque Light"/>
                <a:cs typeface="Darker Grotesque Light"/>
                <a:sym typeface="Darker Grotesque Light"/>
              </a:rPr>
              <a:t>Issue:</a:t>
            </a:r>
          </a:p>
          <a:p>
            <a:pPr lvl="0" algn="just"/>
            <a:r>
              <a:rPr lang="en-US" sz="3600" dirty="0">
                <a:solidFill>
                  <a:srgbClr val="FFFFFF"/>
                </a:solidFill>
                <a:latin typeface="Darker Grotesque Light"/>
                <a:ea typeface="Darker Grotesque Light"/>
                <a:cs typeface="Darker Grotesque Light"/>
                <a:sym typeface="Darker Grotesque Light"/>
              </a:rPr>
              <a:t>“Supplier” depends on “Product”, not directly on the primary key.</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Normalization to 3NF:</a:t>
            </a:r>
          </a:p>
          <a:p>
            <a:pPr lvl="0" algn="just"/>
            <a:endParaRPr lang="en-US" sz="3600" dirty="0">
              <a:solidFill>
                <a:srgbClr val="FFFFFF"/>
              </a:solidFill>
              <a:latin typeface="Darker Grotesque Light"/>
              <a:ea typeface="Darker Grotesque Light"/>
              <a:cs typeface="Darker Grotesque Light"/>
              <a:sym typeface="Darker Grotesque Light"/>
            </a:endParaRPr>
          </a:p>
          <a:p>
            <a:pPr lvl="0" algn="just"/>
            <a:r>
              <a:rPr lang="en-US" sz="3600" dirty="0">
                <a:solidFill>
                  <a:srgbClr val="FFFFFF"/>
                </a:solidFill>
                <a:latin typeface="Darker Grotesque Light"/>
                <a:ea typeface="Darker Grotesque Light"/>
                <a:cs typeface="Darker Grotesque Light"/>
                <a:sym typeface="Darker Grotesque Light"/>
              </a:rPr>
              <a:t>Move product and supplier information to separate tables.</a:t>
            </a:r>
          </a:p>
        </p:txBody>
      </p:sp>
      <p:pic>
        <p:nvPicPr>
          <p:cNvPr id="4" name="Picture 3">
            <a:extLst>
              <a:ext uri="{FF2B5EF4-FFF2-40B4-BE49-F238E27FC236}">
                <a16:creationId xmlns:a16="http://schemas.microsoft.com/office/drawing/2014/main" id="{DE919DD0-329F-6341-8C90-7B37D2A80F7B}"/>
              </a:ext>
            </a:extLst>
          </p:cNvPr>
          <p:cNvPicPr>
            <a:picLocks noChangeAspect="1"/>
          </p:cNvPicPr>
          <p:nvPr/>
        </p:nvPicPr>
        <p:blipFill>
          <a:blip r:embed="rId3"/>
          <a:stretch>
            <a:fillRect/>
          </a:stretch>
        </p:blipFill>
        <p:spPr>
          <a:xfrm>
            <a:off x="2918083" y="799565"/>
            <a:ext cx="12357774" cy="4512102"/>
          </a:xfrm>
          <a:prstGeom prst="rect">
            <a:avLst/>
          </a:prstGeom>
        </p:spPr>
      </p:pic>
    </p:spTree>
    <p:extLst>
      <p:ext uri="{BB962C8B-B14F-4D97-AF65-F5344CB8AC3E}">
        <p14:creationId xmlns:p14="http://schemas.microsoft.com/office/powerpoint/2010/main" val="248263789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5C1D0C6-CE2A-378D-0760-5672DEA4DAF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44E9A561-79D9-1F4F-9031-BE74D9D5FE30}"/>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B17C546-2C5D-B8F0-3A47-306160DBBD0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5" name="Picture 4">
            <a:extLst>
              <a:ext uri="{FF2B5EF4-FFF2-40B4-BE49-F238E27FC236}">
                <a16:creationId xmlns:a16="http://schemas.microsoft.com/office/drawing/2014/main" id="{8FC60DD9-D5E0-C8C4-1BA7-FA74E181C089}"/>
              </a:ext>
            </a:extLst>
          </p:cNvPr>
          <p:cNvPicPr>
            <a:picLocks noChangeAspect="1"/>
          </p:cNvPicPr>
          <p:nvPr/>
        </p:nvPicPr>
        <p:blipFill>
          <a:blip r:embed="rId3"/>
          <a:stretch>
            <a:fillRect/>
          </a:stretch>
        </p:blipFill>
        <p:spPr>
          <a:xfrm>
            <a:off x="1240854" y="709116"/>
            <a:ext cx="8103733" cy="3582005"/>
          </a:xfrm>
          <a:prstGeom prst="rect">
            <a:avLst/>
          </a:prstGeom>
        </p:spPr>
      </p:pic>
      <p:pic>
        <p:nvPicPr>
          <p:cNvPr id="7" name="Picture 6">
            <a:extLst>
              <a:ext uri="{FF2B5EF4-FFF2-40B4-BE49-F238E27FC236}">
                <a16:creationId xmlns:a16="http://schemas.microsoft.com/office/drawing/2014/main" id="{A9D6A1D3-0464-C047-49BB-4786CB543BBF}"/>
              </a:ext>
            </a:extLst>
          </p:cNvPr>
          <p:cNvPicPr>
            <a:picLocks noChangeAspect="1"/>
          </p:cNvPicPr>
          <p:nvPr/>
        </p:nvPicPr>
        <p:blipFill>
          <a:blip r:embed="rId4"/>
          <a:stretch>
            <a:fillRect/>
          </a:stretch>
        </p:blipFill>
        <p:spPr>
          <a:xfrm>
            <a:off x="9575790" y="709117"/>
            <a:ext cx="7849925" cy="3582004"/>
          </a:xfrm>
          <a:prstGeom prst="rect">
            <a:avLst/>
          </a:prstGeom>
        </p:spPr>
      </p:pic>
      <p:pic>
        <p:nvPicPr>
          <p:cNvPr id="9" name="Picture 8">
            <a:extLst>
              <a:ext uri="{FF2B5EF4-FFF2-40B4-BE49-F238E27FC236}">
                <a16:creationId xmlns:a16="http://schemas.microsoft.com/office/drawing/2014/main" id="{8E66ACFC-4074-5F8B-FF23-EF6BBB0E13BC}"/>
              </a:ext>
            </a:extLst>
          </p:cNvPr>
          <p:cNvPicPr>
            <a:picLocks noChangeAspect="1"/>
          </p:cNvPicPr>
          <p:nvPr/>
        </p:nvPicPr>
        <p:blipFill>
          <a:blip r:embed="rId5"/>
          <a:stretch>
            <a:fillRect/>
          </a:stretch>
        </p:blipFill>
        <p:spPr>
          <a:xfrm>
            <a:off x="9694395" y="4751918"/>
            <a:ext cx="6987663" cy="3582004"/>
          </a:xfrm>
          <a:prstGeom prst="rect">
            <a:avLst/>
          </a:prstGeom>
        </p:spPr>
      </p:pic>
      <p:sp>
        <p:nvSpPr>
          <p:cNvPr id="2" name="Google Shape;102;p11">
            <a:extLst>
              <a:ext uri="{FF2B5EF4-FFF2-40B4-BE49-F238E27FC236}">
                <a16:creationId xmlns:a16="http://schemas.microsoft.com/office/drawing/2014/main" id="{F9D2D2AE-FFBF-BFFC-7A10-26E9FE591B6F}"/>
              </a:ext>
            </a:extLst>
          </p:cNvPr>
          <p:cNvSpPr txBox="1"/>
          <p:nvPr/>
        </p:nvSpPr>
        <p:spPr>
          <a:xfrm>
            <a:off x="1404754" y="4918126"/>
            <a:ext cx="7894537" cy="3877985"/>
          </a:xfrm>
          <a:prstGeom prst="rect">
            <a:avLst/>
          </a:prstGeom>
          <a:noFill/>
          <a:ln>
            <a:noFill/>
          </a:ln>
        </p:spPr>
        <p:txBody>
          <a:bodyPr spcFirstLastPara="1" wrap="square" lIns="0" tIns="0" rIns="0" bIns="0" anchor="t" anchorCtr="0">
            <a:spAutoFit/>
          </a:bodyPr>
          <a:lstStyle/>
          <a:p>
            <a:pPr lvl="0" algn="just"/>
            <a:r>
              <a:rPr lang="en-US" sz="3600" dirty="0">
                <a:solidFill>
                  <a:srgbClr val="FFFFFF"/>
                </a:solidFill>
                <a:latin typeface="Darker Grotesque Light"/>
                <a:ea typeface="Darker Grotesque Light"/>
                <a:cs typeface="Darker Grotesque Light"/>
                <a:sym typeface="Darker Grotesque Light"/>
              </a:rPr>
              <a:t>Since Supplier depends on Product and not directly on the primary key (</a:t>
            </a:r>
            <a:r>
              <a:rPr lang="en-US" sz="3600" dirty="0" err="1">
                <a:solidFill>
                  <a:srgbClr val="FFFFFF"/>
                </a:solidFill>
                <a:latin typeface="Darker Grotesque Light"/>
                <a:ea typeface="Darker Grotesque Light"/>
                <a:cs typeface="Darker Grotesque Light"/>
                <a:sym typeface="Darker Grotesque Light"/>
              </a:rPr>
              <a:t>OrderID</a:t>
            </a:r>
            <a:r>
              <a:rPr lang="en-US" sz="3600" dirty="0">
                <a:solidFill>
                  <a:srgbClr val="FFFFFF"/>
                </a:solidFill>
                <a:latin typeface="Darker Grotesque Light"/>
                <a:ea typeface="Darker Grotesque Light"/>
                <a:cs typeface="Darker Grotesque Light"/>
                <a:sym typeface="Darker Grotesque Light"/>
              </a:rPr>
              <a:t>), we isolate it into a new Suppliers table and reference it via the Products table. This removes transitive dependencies and aligns with 3NF rules.</a:t>
            </a:r>
          </a:p>
          <a:p>
            <a:pPr lvl="0" algn="just"/>
            <a:endParaRPr lang="en-US" sz="3600" dirty="0">
              <a:solidFill>
                <a:srgbClr val="FFFFFF"/>
              </a:solidFill>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554692333"/>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875</TotalTime>
  <Words>1157</Words>
  <Application>Microsoft Office PowerPoint</Application>
  <PresentationFormat>Custom</PresentationFormat>
  <Paragraphs>90</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9</cp:revision>
  <dcterms:modified xsi:type="dcterms:W3CDTF">2026-02-20T18:32:05Z</dcterms:modified>
</cp:coreProperties>
</file>