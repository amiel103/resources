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6"/>
  </p:notesMasterIdLst>
  <p:sldIdLst>
    <p:sldId id="276" r:id="rId2"/>
    <p:sldId id="292" r:id="rId3"/>
    <p:sldId id="288" r:id="rId4"/>
    <p:sldId id="293" r:id="rId5"/>
    <p:sldId id="295" r:id="rId6"/>
    <p:sldId id="294" r:id="rId7"/>
    <p:sldId id="296" r:id="rId8"/>
    <p:sldId id="298" r:id="rId9"/>
    <p:sldId id="297" r:id="rId10"/>
    <p:sldId id="299" r:id="rId11"/>
    <p:sldId id="300" r:id="rId12"/>
    <p:sldId id="301" r:id="rId13"/>
    <p:sldId id="302" r:id="rId14"/>
    <p:sldId id="303" r:id="rId15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CB5BD23-C392-7AF8-E981-D02CB7B76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6102FF02-505B-01E1-202D-3461F2D834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D03AE8B-52FA-8C85-B099-907DBEF10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066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02E4BC4-3D54-D94B-C3C5-F011FAA9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8978785-8C19-F58C-0E71-0B931E97D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96C29CF-835B-97D9-DF97-1B1F73022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172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428B108-B6BE-B9ED-6421-BE3C22C1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715CFE-5A63-AB2A-2990-D88A96BB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A893E495-C436-527F-F026-E7F33BC26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212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E17E58AE-6AB5-BB7E-57BC-F320E36DE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3872A58-BF58-CB2E-3F16-AF6C28A0F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B5DB7573-5DC0-E4D7-BD99-B067FBB96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1836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F115758-5998-9ED5-160E-D57D69ED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700DEB12-8FA2-4021-A17C-7285BA74F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260F8956-8DB3-FE3A-7E90-85A8966E2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6186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73A4ED2-F453-6DDA-092E-32BD2E48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318EA68A-4719-E028-035A-4AA2DF55A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A1C293A9-B871-0B68-4A0D-0A4085B95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3216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8551336-FBB8-D0F6-CAE8-E111B43C8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700916C5-ADBF-6FB4-A804-613F3B77E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2D72903C-0989-DB51-A22F-454BBBC990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4625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63846F8-30FD-9F5D-1518-04ADBD1C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E4BE957-AEEC-E8D9-7DB3-BE43C166A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5FCD2D42-6A93-F8C8-CA7C-5FD30C7C03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892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006002F-5AC6-7457-B49C-F7F90209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025A55E6-C536-77D6-00AB-9CB8BCEBC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93BD2875-A34A-89D3-E740-22E93FF48F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0936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D6558883-CFFD-2E40-C1F8-B7A431A8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F3FCEAFE-3547-EDBD-1B6C-98CEF1F2D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6BA398C2-3DA3-28BD-8849-E46E3DA5B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6265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77B114F-F7D2-7518-7301-5783CDC50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F27534E8-01DA-AF99-2E5E-972CD7244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1D83B8B6-A830-02D2-C6DD-70AA48979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7281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11A467C-EFF7-F0ED-BF6B-12911491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B630B40-AB01-EBAA-BF90-E8118371F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F0481604-E2B8-16E6-7308-5D6BF5A4D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2060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84A6E7A-B829-F4F4-A82B-E390D2EF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CD080E59-7F62-88EE-822B-B76D0096A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4F0D3747-12C6-DB7A-043A-756200808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4423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2800636D-B1E8-BBE7-5CBF-9863CC30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BC92A93-6AFF-8D59-3201-CDEC39AE5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BCD91C91-D070-E6EA-A53A-D2FB632621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1934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AE7BF04-D91C-C315-6AA4-056449C8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6E34125-91C5-1CA4-5CEB-4B92C06AF13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E66B82B4-BA34-1F9B-1BB2-AFEF5B98EF1C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98ECA56E-25BF-6D21-90E1-D908266D502D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Stored Procedure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EED845FC-7B9E-A7D4-6524-1A0197F0205E}"/>
              </a:ext>
            </a:extLst>
          </p:cNvPr>
          <p:cNvSpPr txBox="1"/>
          <p:nvPr/>
        </p:nvSpPr>
        <p:spPr>
          <a:xfrm>
            <a:off x="2402137" y="3912394"/>
            <a:ext cx="12664382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stored procedure is a prepared SQL code that you can save, so the code can be reused over and over again.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351269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7F6C15D-F3FE-B6AB-4DD3-9881E71A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97B2CC1-D843-29CD-F252-F856ADBC7119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25745D89-9977-AC9B-4FE0-97523EB9EAF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BC1327FB-8EF0-0E1E-E086-2AEEC413D85B}"/>
              </a:ext>
            </a:extLst>
          </p:cNvPr>
          <p:cNvSpPr txBox="1"/>
          <p:nvPr/>
        </p:nvSpPr>
        <p:spPr>
          <a:xfrm>
            <a:off x="1426306" y="1164079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Stored Procedure</a:t>
            </a: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31CA53ED-D95B-D4A8-00AE-FD9ED494AA24}"/>
              </a:ext>
            </a:extLst>
          </p:cNvPr>
          <p:cNvSpPr txBox="1"/>
          <p:nvPr/>
        </p:nvSpPr>
        <p:spPr>
          <a:xfrm>
            <a:off x="2133197" y="2185782"/>
            <a:ext cx="12664382" cy="837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OR REPLACE PROCEDURE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procedure_name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parameter_1    VARCHAR,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parameter_2    INT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LANGUAGE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plpgsql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 $$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BEGIN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Statement here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END;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$$;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8699635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9DD0CEA1-6F7D-DE23-6D4D-33A4B0CE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AF14819C-BFE7-173A-4EFC-5A6762F49CF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40645D2-94CF-64B5-5E93-8DEF7FBD509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91917366-350F-9834-F357-071B2685B25B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Calling a Procedure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4" name="Google Shape;102;p11">
            <a:extLst>
              <a:ext uri="{FF2B5EF4-FFF2-40B4-BE49-F238E27FC236}">
                <a16:creationId xmlns:a16="http://schemas.microsoft.com/office/drawing/2014/main" id="{C0FC3BB7-8D84-E8AF-58C5-6D511CD04822}"/>
              </a:ext>
            </a:extLst>
          </p:cNvPr>
          <p:cNvSpPr txBox="1"/>
          <p:nvPr/>
        </p:nvSpPr>
        <p:spPr>
          <a:xfrm>
            <a:off x="2913125" y="4202841"/>
            <a:ext cx="1266438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CALL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procedure_name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(‘parameter_1’, parameter2);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81545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2896E1D9-48C2-D48A-C45E-9CCEF07D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11FBE778-A72F-0F82-A3BC-21D94F481ADC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C13D270-3400-EDBF-1629-A7A77A127B48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4EB953BB-80AE-0940-2635-CB0BBE5EC2FD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Variables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E738061A-FE3D-C543-087C-32F1B21EF6BA}"/>
              </a:ext>
            </a:extLst>
          </p:cNvPr>
          <p:cNvSpPr txBox="1"/>
          <p:nvPr/>
        </p:nvSpPr>
        <p:spPr>
          <a:xfrm>
            <a:off x="2133197" y="2185782"/>
            <a:ext cx="12664382" cy="837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 $$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DECLARE  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counter    INTEGER := 1;  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first_name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VARCHAR(50) := 'John';  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last_name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VARCHAR(50) := 'Doe';  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payment    NUMERIC(11,2) := 20.5;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BEGIN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Statement here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END;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$$;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15892385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F97A67D4-64C1-0EE3-78D5-9DF6AFCCA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DCB4DD6-B1BC-B04B-D718-1779DDA0442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1EB7B007-812A-B9F0-FE6D-6625F441711B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F7B718B-28B1-7D43-339E-66950BEC6367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Print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196613D1-F85A-1207-E601-075C8EB9A0B9}"/>
              </a:ext>
            </a:extLst>
          </p:cNvPr>
          <p:cNvSpPr txBox="1"/>
          <p:nvPr/>
        </p:nvSpPr>
        <p:spPr>
          <a:xfrm>
            <a:off x="2133197" y="2185782"/>
            <a:ext cx="12664382" cy="5293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 $$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BEGIN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RAISE NOTICE 'The value of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my_var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is: %’,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my_var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END;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$$;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6946321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688F20F-D294-E6C6-753F-DDC525EF3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EEE49636-3112-4047-85C8-1201E5E64483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D5E174A0-EEA7-425B-7E08-B1D594001C7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31CDBD45-A4B7-5EF8-3F2B-3D4426C6E72B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Conditionals</a:t>
            </a: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92CE3D5C-88B0-0B4B-8AAE-CFD83DFA4FD4}"/>
              </a:ext>
            </a:extLst>
          </p:cNvPr>
          <p:cNvSpPr txBox="1"/>
          <p:nvPr/>
        </p:nvSpPr>
        <p:spPr>
          <a:xfrm>
            <a:off x="2529421" y="1982888"/>
            <a:ext cx="12664382" cy="8987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 $$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BEGIN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IF num &gt; 0 THEN</a:t>
            </a: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RAISE NOTICE ‘Positive’;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ELSIF num &lt; 0 THEN</a:t>
            </a: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RAISE NOTICE ‘Negative’;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ELSE</a:t>
            </a:r>
          </a:p>
          <a:p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	RAISE NOTICE ‘Zero’;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END IF;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END;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$$;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8260008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E5D5CAC8-712F-0BEB-BA15-36B894605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269FC416-64DE-7C3A-90BA-09F4E6E8631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44E5B4C-20DE-FD52-485E-2D524CB93075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BE3D12DA-266B-FE7E-41A7-507EE58BB32D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Functions</a:t>
            </a: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3AEB1023-FBCE-0C54-ACC9-5D9777D7CE5A}"/>
              </a:ext>
            </a:extLst>
          </p:cNvPr>
          <p:cNvSpPr txBox="1"/>
          <p:nvPr/>
        </p:nvSpPr>
        <p:spPr>
          <a:xfrm>
            <a:off x="2542868" y="2682135"/>
            <a:ext cx="12664382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function is similar to a stored procedure, but it returns a value. Functions are used to perform calculations, queries, and other operations, and they can return a variety of data types such as integers, strings, and even entire result sets (tables).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9857534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DCEE944-1491-BCF5-2832-00801DA9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4FC6084-8929-123F-CCF5-FFF3A640888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300E57D-4F1C-5C4C-C4AB-ECA0B5B9680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ED57CC49-06A0-F57F-881B-1BA488EF3784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Functions</a:t>
            </a: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07F1BD61-D977-7A1A-8C9E-930C96AC79E9}"/>
              </a:ext>
            </a:extLst>
          </p:cNvPr>
          <p:cNvSpPr txBox="1"/>
          <p:nvPr/>
        </p:nvSpPr>
        <p:spPr>
          <a:xfrm>
            <a:off x="2542867" y="2682135"/>
            <a:ext cx="14413873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OR REPLACE FUNCTION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add_numbers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(a INT, b INT)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RETURNS INT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LANGUAGE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plpgsql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 $$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BEGIN	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	RETURN a + b;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END;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$$;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54178847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F985B54-F77E-C6EE-835E-CFC51896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8217DB80-019F-8978-F585-ECC4554366C9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C81CFFD7-09C2-CAD0-203E-E7A62360EF5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54D05FC8-C864-D1DC-77C0-20DBB643287C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Calling a Function</a:t>
            </a: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075B121E-CEBD-019F-2F5A-6335EF149149}"/>
              </a:ext>
            </a:extLst>
          </p:cNvPr>
          <p:cNvSpPr txBox="1"/>
          <p:nvPr/>
        </p:nvSpPr>
        <p:spPr>
          <a:xfrm>
            <a:off x="2717680" y="3705821"/>
            <a:ext cx="12664382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SELECT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add_numbers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(5, 10);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4783215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C4B86283-3B51-D823-FAC5-06C5839EB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988D18CA-DE3F-7A71-A4A6-CB089C618CCE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DF9499DA-1DE7-7429-7DD1-E016CB27A062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65607E53-B285-1C47-2673-97DEF745BCF4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Trigger</a:t>
            </a: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55841C9D-B2DE-6FFC-ECF9-B8F84A8B30BC}"/>
              </a:ext>
            </a:extLst>
          </p:cNvPr>
          <p:cNvSpPr txBox="1"/>
          <p:nvPr/>
        </p:nvSpPr>
        <p:spPr>
          <a:xfrm>
            <a:off x="1909486" y="2872104"/>
            <a:ext cx="15625474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PostgreSQL trigger is a powerful tool that allows automatic invocation of a function whenever a specified event occurs on a table. Events that can trigger a function include INSERT, UPDATE, DELETE, or TRUNCATE. Triggers help maintain data integrity and automate complex database operations.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997581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8F604519-1A0B-1D3D-B8A1-F883BF66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724A3BBE-DC42-BE81-1373-5C28534457B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6C0FD8B9-747F-3956-FBC8-23066ED53DD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52927333-DEF9-0555-4ACC-FF5B77DA0A8D}"/>
              </a:ext>
            </a:extLst>
          </p:cNvPr>
          <p:cNvSpPr txBox="1"/>
          <p:nvPr/>
        </p:nvSpPr>
        <p:spPr>
          <a:xfrm>
            <a:off x="1290705" y="1336557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Trigger</a:t>
            </a: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057D54C2-8B05-70BF-4ED6-49DF52BC0C7B}"/>
              </a:ext>
            </a:extLst>
          </p:cNvPr>
          <p:cNvSpPr txBox="1"/>
          <p:nvPr/>
        </p:nvSpPr>
        <p:spPr>
          <a:xfrm>
            <a:off x="1909486" y="2872104"/>
            <a:ext cx="15625474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 trigger is a special user-defined function associated with a table. To create a new trigger, you must define a trigger function first, and then bind this trigger function to a table. The difference between a trigger and a user-defined function is that a trigger is automatically invoked when an event occurs.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266984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CC95331C-E09B-5ABF-7207-E511513C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49734F69-755D-CC06-ECBE-34D40FF9FCD5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0782949E-D760-317F-3201-7D309D19C65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C30CBA70-B332-BED1-746E-E88073489369}"/>
              </a:ext>
            </a:extLst>
          </p:cNvPr>
          <p:cNvSpPr txBox="1"/>
          <p:nvPr/>
        </p:nvSpPr>
        <p:spPr>
          <a:xfrm>
            <a:off x="1150177" y="919698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Let’s create a students table and an </a:t>
            </a:r>
            <a:r>
              <a:rPr lang="en-US" sz="4200" b="1" dirty="0" err="1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audit_log</a:t>
            </a:r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table to track inserts.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F56F2CA8-AF86-9430-2B7F-0F1B269AC552}"/>
              </a:ext>
            </a:extLst>
          </p:cNvPr>
          <p:cNvSpPr txBox="1"/>
          <p:nvPr/>
        </p:nvSpPr>
        <p:spPr>
          <a:xfrm>
            <a:off x="2245662" y="1871662"/>
            <a:ext cx="15625474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TABLE students (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id SERIAL PRIMARY KEY,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name TEXT,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age INT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);</a:t>
            </a:r>
          </a:p>
          <a:p>
            <a:pPr lvl="0"/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TABLE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audit_log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(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log_id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SERIAL PRIMARY KEY,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action_time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TIMESTAMP DEFAULT now(),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action TEXT,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student_name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TEXT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);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330034510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553473CF-09E5-C1EF-62AC-19607292E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25594CBD-BEDC-1EAE-9EF6-177D89DDB217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94753028-5711-4567-3521-B645439C05E4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4ECD0088-0E54-9E72-D5E0-C4FDB62AD0F3}"/>
              </a:ext>
            </a:extLst>
          </p:cNvPr>
          <p:cNvSpPr txBox="1"/>
          <p:nvPr/>
        </p:nvSpPr>
        <p:spPr>
          <a:xfrm>
            <a:off x="1150177" y="919698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Create a Trigger Function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ADD57F56-94DF-176A-B1C1-B7C7F103A231}"/>
              </a:ext>
            </a:extLst>
          </p:cNvPr>
          <p:cNvSpPr txBox="1"/>
          <p:nvPr/>
        </p:nvSpPr>
        <p:spPr>
          <a:xfrm>
            <a:off x="2245662" y="1669256"/>
            <a:ext cx="15625474" cy="738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OR REPLACE FUNCTION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log_student_insert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RETURNS TRIGGER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LANGUAGE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plpgsql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AS $$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BEGIN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INSERT INTO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audit_log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(action,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student_name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)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VALUES ('INSERT', NEW.name);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    RETURN NEW;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END;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$$; 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RETURNS TRIGGER: Means this function is for use with a trigger.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NEW: Refers to the new row being inserted into students.</a:t>
            </a:r>
          </a:p>
        </p:txBody>
      </p:sp>
    </p:spTree>
    <p:extLst>
      <p:ext uri="{BB962C8B-B14F-4D97-AF65-F5344CB8AC3E}">
        <p14:creationId xmlns:p14="http://schemas.microsoft.com/office/powerpoint/2010/main" val="259877882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07731897-F815-E9D9-7940-A235689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119432BA-1028-AA92-2DF0-858AC339988E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FA5458C6-5A54-81C3-E541-4321903BE57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94;p11">
            <a:extLst>
              <a:ext uri="{FF2B5EF4-FFF2-40B4-BE49-F238E27FC236}">
                <a16:creationId xmlns:a16="http://schemas.microsoft.com/office/drawing/2014/main" id="{39225AD6-58A0-300D-070E-F25BCF930751}"/>
              </a:ext>
            </a:extLst>
          </p:cNvPr>
          <p:cNvSpPr txBox="1"/>
          <p:nvPr/>
        </p:nvSpPr>
        <p:spPr>
          <a:xfrm>
            <a:off x="1150177" y="919698"/>
            <a:ext cx="159876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200" b="1" dirty="0">
                <a:solidFill>
                  <a:srgbClr val="FFFFFF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Create a Trigger</a:t>
            </a:r>
            <a:endParaRPr lang="en-US" sz="4200" b="1" i="0" u="none" strike="noStrike" cap="none" dirty="0">
              <a:solidFill>
                <a:srgbClr val="FFFFFF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A9224A60-7F56-7C8B-9D7B-9F677D87DE39}"/>
              </a:ext>
            </a:extLst>
          </p:cNvPr>
          <p:cNvSpPr txBox="1"/>
          <p:nvPr/>
        </p:nvSpPr>
        <p:spPr>
          <a:xfrm>
            <a:off x="2286003" y="3081197"/>
            <a:ext cx="15625474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CREATE TRIGGER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after_student_insert</a:t>
            </a:r>
            <a:endParaRPr lang="en-US" sz="4000" dirty="0">
              <a:solidFill>
                <a:srgbClr val="FFFFFF"/>
              </a:solidFill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AFTER INSERT ON students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FOR EACH ROW</a:t>
            </a:r>
          </a:p>
          <a:p>
            <a:pPr lvl="0"/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EXECUTE FUNCTION </a:t>
            </a:r>
            <a:r>
              <a:rPr lang="en-US" sz="4000" dirty="0" err="1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log_student_insert</a:t>
            </a:r>
            <a:r>
              <a:rPr lang="en-US" sz="4000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43114196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561</Words>
  <Application>Microsoft Office PowerPoint</Application>
  <PresentationFormat>Custom</PresentationFormat>
  <Paragraphs>100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4</cp:revision>
  <dcterms:modified xsi:type="dcterms:W3CDTF">2025-09-19T15:46:52Z</dcterms:modified>
</cp:coreProperties>
</file>