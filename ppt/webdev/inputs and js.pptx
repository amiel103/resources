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3" r:id="rId1"/>
  </p:sldMasterIdLst>
  <p:notesMasterIdLst>
    <p:notesMasterId r:id="rId34"/>
  </p:notesMasterIdLst>
  <p:sldIdLst>
    <p:sldId id="304" r:id="rId2"/>
    <p:sldId id="305" r:id="rId3"/>
    <p:sldId id="306" r:id="rId4"/>
    <p:sldId id="307" r:id="rId5"/>
    <p:sldId id="308" r:id="rId6"/>
    <p:sldId id="309" r:id="rId7"/>
    <p:sldId id="276" r:id="rId8"/>
    <p:sldId id="310" r:id="rId9"/>
    <p:sldId id="311" r:id="rId10"/>
    <p:sldId id="313" r:id="rId11"/>
    <p:sldId id="312" r:id="rId12"/>
    <p:sldId id="314" r:id="rId13"/>
    <p:sldId id="315" r:id="rId14"/>
    <p:sldId id="316" r:id="rId15"/>
    <p:sldId id="317" r:id="rId16"/>
    <p:sldId id="292" r:id="rId17"/>
    <p:sldId id="318" r:id="rId18"/>
    <p:sldId id="319" r:id="rId19"/>
    <p:sldId id="320" r:id="rId20"/>
    <p:sldId id="321" r:id="rId21"/>
    <p:sldId id="322" r:id="rId22"/>
    <p:sldId id="323" r:id="rId23"/>
    <p:sldId id="326" r:id="rId24"/>
    <p:sldId id="324" r:id="rId25"/>
    <p:sldId id="325" r:id="rId26"/>
    <p:sldId id="327" r:id="rId27"/>
    <p:sldId id="329" r:id="rId28"/>
    <p:sldId id="331" r:id="rId29"/>
    <p:sldId id="332" r:id="rId30"/>
    <p:sldId id="333" r:id="rId31"/>
    <p:sldId id="330" r:id="rId32"/>
    <p:sldId id="328" r:id="rId33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78" autoAdjust="0"/>
    <p:restoredTop sz="94660"/>
  </p:normalViewPr>
  <p:slideViewPr>
    <p:cSldViewPr snapToGrid="0">
      <p:cViewPr varScale="1">
        <p:scale>
          <a:sx n="71" d="100"/>
          <a:sy n="71" d="100"/>
        </p:scale>
        <p:origin x="70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A4CEF9CF-B40B-4503-2E84-07D9A1BED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1441F3E9-A3BB-7032-FB69-BF614D665F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D0B95C7F-DC21-D057-0220-57C18A51BC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771240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BD7C7EA1-D181-CF5E-1C54-E35783BDE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29A78838-689B-98F2-2BD5-582C9FA807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2459E6A1-D6A1-155C-C748-92BF51B7E2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932694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8138CA15-27D6-AE8C-DFAA-E25EDAF9A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D86335FB-F5AB-B031-F23B-96B4467F9A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551B7410-8426-3E3F-282F-15A4AAF376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17349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8ECF60EA-4202-0535-42D8-B65E4F786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8CA805C8-7DA1-B01E-566B-7EF26B4C2F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170AC28E-D0D1-8855-EA06-536224C01F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597659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691FEABD-EDC1-AF6E-4846-04C4A2DB6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E6086A67-872B-40B7-28D6-1D1D6A8E5E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922C76BC-697A-4D62-0EEC-931C07A37B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701449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2073BA71-278F-2004-6EEA-E79F693DF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5E6BA076-4ADD-1D1B-03DA-7B3549F51A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04E51BDF-A675-FA4E-E2AE-B40865361F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305382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7CB5BD23-C392-7AF8-E981-D02CB7B76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6102FF02-505B-01E1-202D-3461F2D834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0D03AE8B-52FA-8C85-B099-907DBEF105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706631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97413711-BA8C-9FB1-CEE7-53385AFE7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4B854C79-3276-FBFD-C74A-6CD12BE918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F1B06329-ED1F-F4B3-79F9-DD59E13F97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996280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535789AB-033F-2C09-B3D4-B1CEB2780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467C0AFF-9464-574C-6A5E-FDE9B041EC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496E7880-CA27-8D1E-1533-BCD26D308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21382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181B0E22-CF48-DD50-28E6-7B2C48D4E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A86A972D-341E-DDB5-67CF-E3EEA6A49C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1F94015C-4515-15AD-208B-6714F0CBE7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94284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AC62F9AE-047C-AD92-D262-49FA5D45C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9205E28D-0ABA-7F81-F1C6-8FDD7E32C5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31B75F55-F887-6CB5-D6D8-4A5C08B2FC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10532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F398D3F4-7E99-A6B7-D4C0-F279943E6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199C6BF1-17F9-7E9E-6772-56A42A313C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DC74FB6A-79C1-4341-0861-C3E6394457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345306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9AECC271-6A1B-CBE4-0180-21B15C23D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BCB8F0B6-5B46-64D0-F19B-D038033DC2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1B9F6886-1368-25F3-B5A3-5BD8A64D03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64629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A2637A2E-725C-37CB-82A3-40D9A6227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E534EB10-6819-A7D9-AC6C-4BE0713626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3428CA47-9F09-1EC8-1F82-452A39B555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735835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0472706F-96CB-C4A6-817B-1F6F68BDA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41867733-C09F-3CD2-AA77-8364DE676E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D80097A3-D492-863D-906C-C2BC17842B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270203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102E4BC4-3D54-D94B-C3C5-F011FAA9C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A8978785-8C19-F58C-0E71-0B931E97D5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496C29CF-835B-97D9-DF97-1B1F730220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931723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499094E3-AA43-CDE4-B5F1-ACF9C784C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FC1BA5E8-B517-9B36-561D-17B46D3280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D130DCFD-C8F8-17CF-4A11-C8CA868120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441215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7C7DE8F5-D832-E2A0-4841-6E4C70858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A6059D33-A15B-44ED-A571-4E5B8DD3E1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5FAAB092-5475-5F79-3F47-B97B9B1D69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54932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902BF38D-B149-DF82-58A3-325B06CF4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7ADDEE6B-79D5-019D-46C5-85BEFA4596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632B26E8-D322-68B5-9205-FE8681D5D6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32277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C052345E-FA80-86B3-8B4B-CAD2E52DB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0108BD47-2B3F-D876-59E7-D019F190DE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7243E044-8821-6812-E4FC-E7E707322B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900677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034B8BEE-8B1E-DDD5-5204-90F12C8AF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ACE0105C-5D41-D385-2DFA-BBB9B15048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15FF5768-574B-134E-0998-D59CD46FCD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20725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BFB0F7EC-44F0-534E-6396-50F6F3C89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CE5E293B-C940-238A-BE70-60781F73E9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E3E749E9-8E9D-AD86-77A4-40D6F34EC4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326618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37DA7747-B073-6CF6-C9F4-20AEBDCC2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4178FD7F-6AB7-638B-0251-ECEE3590FD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8EBCE02F-BB35-90C9-5EDD-F107A08D34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659677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E6FCF468-B6DE-17A6-AEA0-99658F1E8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FB6897C2-812D-126D-7802-E03099B370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7498E12F-BB73-D610-01CB-0228395B8F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22468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119D7707-99FA-631C-3A7C-90EFC08A8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25029D18-2552-55DB-4B2D-0E94926A9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2F15AFE0-E35E-4233-5130-6C8DA39FFC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582692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0BB55EB5-41A1-36FB-2A6A-EF14CAF7B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EAC2F5C4-3529-E762-C7CF-3E4E9E1681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91490A18-C11C-489B-A8BB-67CB9C77AD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41761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42C0D933-F482-57BE-EFE5-0B950412E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C0EDF7E3-092F-1A2E-1267-BE095AC14C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93E402A6-3E71-5C6B-0228-1A3D772532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943684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67E01BF3-723A-200E-5F5B-EAF73C131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618033D9-C2DC-C2BE-8F7F-374DEC0FF5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EA607395-6339-9C3C-D8CD-A995B72828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311864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4DABAEE6-BF72-9EC2-A413-A5A691784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2D775232-8196-D2CC-CDC3-F1486E3AEC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BC8E89A3-38F4-9D72-5CDA-DA2600FDB8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076093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32947852-6B80-556B-2FA1-D2891D0E5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C2404325-677D-826C-A58E-EFB73833E1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9BA3A949-A053-F098-340E-AE88167400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6705329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09188B81-E518-69FE-49E9-4E0E64060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527CF0F4-4019-86AA-17DC-017791AAD7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4C910C71-FF68-36FC-EAB6-3036B542D5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559241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6986A1D3-D96D-E4FA-BB43-51D8FEDEA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F1B6483B-B693-C4A5-31FC-FD9E0F48B8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CB6D7FB4-8D50-5628-4EE4-E45E156BE1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41777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allery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>
            <a:spLocks noGrp="1"/>
          </p:cNvSpPr>
          <p:nvPr>
            <p:ph type="pic" idx="2"/>
          </p:nvPr>
        </p:nvSpPr>
        <p:spPr>
          <a:xfrm>
            <a:off x="1512800" y="3065925"/>
            <a:ext cx="3735000" cy="55959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" name="Google Shape;27;p5"/>
          <p:cNvSpPr>
            <a:spLocks noGrp="1"/>
          </p:cNvSpPr>
          <p:nvPr>
            <p:ph type="pic" idx="3"/>
          </p:nvPr>
        </p:nvSpPr>
        <p:spPr>
          <a:xfrm>
            <a:off x="5602888" y="3076200"/>
            <a:ext cx="3735000" cy="55959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" name="Google Shape;28;p5"/>
          <p:cNvSpPr>
            <a:spLocks noGrp="1"/>
          </p:cNvSpPr>
          <p:nvPr>
            <p:ph type="pic" idx="4"/>
          </p:nvPr>
        </p:nvSpPr>
        <p:spPr>
          <a:xfrm>
            <a:off x="9717500" y="3071063"/>
            <a:ext cx="3735000" cy="55959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" name="Google Shape;29;p5"/>
          <p:cNvSpPr>
            <a:spLocks noGrp="1"/>
          </p:cNvSpPr>
          <p:nvPr>
            <p:ph type="pic" idx="5"/>
          </p:nvPr>
        </p:nvSpPr>
        <p:spPr>
          <a:xfrm>
            <a:off x="13807588" y="3081338"/>
            <a:ext cx="3735000" cy="55959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cxnSp>
        <p:nvCxnSpPr>
          <p:cNvPr id="30" name="Google Shape;30;p5"/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" name="Google Shape;31;p5"/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 type="twoObj">
  <p:cSld name="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>
            <a:spLocks noGrp="1"/>
          </p:cNvSpPr>
          <p:nvPr>
            <p:ph type="pic" idx="2"/>
          </p:nvPr>
        </p:nvSpPr>
        <p:spPr>
          <a:xfrm>
            <a:off x="1756050" y="1082375"/>
            <a:ext cx="6483000" cy="50172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6"/>
          <p:cNvSpPr>
            <a:spLocks noGrp="1"/>
          </p:cNvSpPr>
          <p:nvPr>
            <p:ph type="pic" idx="3"/>
          </p:nvPr>
        </p:nvSpPr>
        <p:spPr>
          <a:xfrm>
            <a:off x="1756050" y="6297875"/>
            <a:ext cx="3077700" cy="25545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" name="Google Shape;35;p6"/>
          <p:cNvSpPr>
            <a:spLocks noGrp="1"/>
          </p:cNvSpPr>
          <p:nvPr>
            <p:ph type="pic" idx="4"/>
          </p:nvPr>
        </p:nvSpPr>
        <p:spPr>
          <a:xfrm>
            <a:off x="5138888" y="6288525"/>
            <a:ext cx="3077700" cy="25545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cxnSp>
        <p:nvCxnSpPr>
          <p:cNvPr id="36" name="Google Shape;36;p6"/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6"/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C2F970"/>
              </a:buClr>
              <a:buSzPts val="14400"/>
              <a:buFont typeface="Darker Grotesque"/>
              <a:buNone/>
              <a:defRPr sz="14400" i="0" u="none" strike="noStrike" cap="none">
                <a:solidFill>
                  <a:srgbClr val="C2F970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Darker Grotesque Light"/>
              <a:buChar char="•"/>
              <a:defRPr sz="32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Darker Grotesque Light"/>
              <a:buChar char="–"/>
              <a:defRPr sz="28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arker Grotesque Light"/>
              <a:buChar char="•"/>
              <a:defRPr sz="24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–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»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•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•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•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•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E47ECEFC-943E-E0B4-429A-56670D1E6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E7E2E9D1-3AA3-7C70-23B3-7562BB6780DC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83B35B01-0E2B-30FC-D3C3-143FBBB26FD3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94;p11">
            <a:extLst>
              <a:ext uri="{FF2B5EF4-FFF2-40B4-BE49-F238E27FC236}">
                <a16:creationId xmlns:a16="http://schemas.microsoft.com/office/drawing/2014/main" id="{373BF26A-1B49-B54C-8BFC-1B40D5263679}"/>
              </a:ext>
            </a:extLst>
          </p:cNvPr>
          <p:cNvSpPr txBox="1"/>
          <p:nvPr/>
        </p:nvSpPr>
        <p:spPr>
          <a:xfrm>
            <a:off x="1426306" y="1164079"/>
            <a:ext cx="1598764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Inputs</a:t>
            </a:r>
          </a:p>
        </p:txBody>
      </p:sp>
      <p:sp>
        <p:nvSpPr>
          <p:cNvPr id="4" name="Google Shape;102;p11">
            <a:extLst>
              <a:ext uri="{FF2B5EF4-FFF2-40B4-BE49-F238E27FC236}">
                <a16:creationId xmlns:a16="http://schemas.microsoft.com/office/drawing/2014/main" id="{053A5A13-6D85-ABCC-CE14-631A6319D8C3}"/>
              </a:ext>
            </a:extLst>
          </p:cNvPr>
          <p:cNvSpPr txBox="1"/>
          <p:nvPr/>
        </p:nvSpPr>
        <p:spPr>
          <a:xfrm>
            <a:off x="2240772" y="2473559"/>
            <a:ext cx="15037572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are used to capture user data like text, numbers, emails, passwords, files, and more. 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&lt;input type="text" name="username" placeholder="Enter your name"&gt;</a:t>
            </a:r>
          </a:p>
        </p:txBody>
      </p:sp>
    </p:spTree>
    <p:extLst>
      <p:ext uri="{BB962C8B-B14F-4D97-AF65-F5344CB8AC3E}">
        <p14:creationId xmlns:p14="http://schemas.microsoft.com/office/powerpoint/2010/main" val="403657198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256BEAC9-A34E-52BC-A0F2-E462B6FFB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90ACBC43-8E77-23D2-7140-D145BCED8283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CADF0FB5-5AA0-BFD1-27E5-F52C1404A6F2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94;p11">
            <a:extLst>
              <a:ext uri="{FF2B5EF4-FFF2-40B4-BE49-F238E27FC236}">
                <a16:creationId xmlns:a16="http://schemas.microsoft.com/office/drawing/2014/main" id="{7D422E7A-BF73-5463-89B9-0416F44B943B}"/>
              </a:ext>
            </a:extLst>
          </p:cNvPr>
          <p:cNvSpPr txBox="1"/>
          <p:nvPr/>
        </p:nvSpPr>
        <p:spPr>
          <a:xfrm>
            <a:off x="1426306" y="1164079"/>
            <a:ext cx="1598764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Text </a:t>
            </a:r>
            <a:r>
              <a:rPr lang="en-US" sz="4200" b="1" i="0" u="none" strike="noStrike" cap="none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Inputs</a:t>
            </a:r>
          </a:p>
        </p:txBody>
      </p:sp>
      <p:sp>
        <p:nvSpPr>
          <p:cNvPr id="4" name="Google Shape;102;p11">
            <a:extLst>
              <a:ext uri="{FF2B5EF4-FFF2-40B4-BE49-F238E27FC236}">
                <a16:creationId xmlns:a16="http://schemas.microsoft.com/office/drawing/2014/main" id="{783808C4-874B-3E20-16C1-3AB80CDB3EAA}"/>
              </a:ext>
            </a:extLst>
          </p:cNvPr>
          <p:cNvSpPr txBox="1"/>
          <p:nvPr/>
        </p:nvSpPr>
        <p:spPr>
          <a:xfrm>
            <a:off x="2240772" y="2473559"/>
            <a:ext cx="15037572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&lt;input type="text"&gt;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&lt;input type="password"&gt;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&lt;input type="email" name="email"&gt;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22FA85-E536-416C-5DBB-4600A6C1B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772" y="5119656"/>
            <a:ext cx="7917377" cy="3257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487311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7A9EE18B-581A-4E40-EE19-21EEE7B57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8A24D264-4BCA-1ACD-2F19-7C65DC8CF1B5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5B1EBEAF-6B5E-4004-A73C-0FA4FDA3242F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94;p11">
            <a:extLst>
              <a:ext uri="{FF2B5EF4-FFF2-40B4-BE49-F238E27FC236}">
                <a16:creationId xmlns:a16="http://schemas.microsoft.com/office/drawing/2014/main" id="{67942F17-0A29-7CDB-FA9E-15A064C0E595}"/>
              </a:ext>
            </a:extLst>
          </p:cNvPr>
          <p:cNvSpPr txBox="1"/>
          <p:nvPr/>
        </p:nvSpPr>
        <p:spPr>
          <a:xfrm>
            <a:off x="1426306" y="1164079"/>
            <a:ext cx="1598764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200" b="1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Radio</a:t>
            </a:r>
            <a:endParaRPr lang="en-US" sz="4200" b="1" i="0" u="none" strike="noStrike" cap="none" dirty="0">
              <a:solidFill>
                <a:srgbClr val="FFFFFF"/>
              </a:solidFill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  <p:sp>
        <p:nvSpPr>
          <p:cNvPr id="4" name="Google Shape;102;p11">
            <a:extLst>
              <a:ext uri="{FF2B5EF4-FFF2-40B4-BE49-F238E27FC236}">
                <a16:creationId xmlns:a16="http://schemas.microsoft.com/office/drawing/2014/main" id="{417976A7-80C3-45F1-5F21-D33090FF6874}"/>
              </a:ext>
            </a:extLst>
          </p:cNvPr>
          <p:cNvSpPr txBox="1"/>
          <p:nvPr/>
        </p:nvSpPr>
        <p:spPr>
          <a:xfrm>
            <a:off x="2240772" y="2473559"/>
            <a:ext cx="15037572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&lt;input type="radio" name="gender" value="male"&gt; male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&lt;input type="radio" name="gender" value="female"&gt; female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B82348-3A1F-7534-D373-2BE5C3B61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772" y="4833075"/>
            <a:ext cx="5769432" cy="1648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395393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EA0E3622-A0BB-AA65-314B-0E2B7D03E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023A8CE7-F946-2A4B-99E6-2B2C944A86BB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95083372-CC04-0393-D23B-6F8BAE56209B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94;p11">
            <a:extLst>
              <a:ext uri="{FF2B5EF4-FFF2-40B4-BE49-F238E27FC236}">
                <a16:creationId xmlns:a16="http://schemas.microsoft.com/office/drawing/2014/main" id="{21D117FE-5B42-DD47-647D-A59B9309D24A}"/>
              </a:ext>
            </a:extLst>
          </p:cNvPr>
          <p:cNvSpPr txBox="1"/>
          <p:nvPr/>
        </p:nvSpPr>
        <p:spPr>
          <a:xfrm>
            <a:off x="1426306" y="1164079"/>
            <a:ext cx="1598764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200" b="1" dirty="0" err="1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CheckBox</a:t>
            </a:r>
            <a:endParaRPr lang="en-US" sz="4200" b="1" i="0" u="none" strike="noStrike" cap="none" dirty="0">
              <a:solidFill>
                <a:srgbClr val="FFFFFF"/>
              </a:solidFill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  <p:sp>
        <p:nvSpPr>
          <p:cNvPr id="4" name="Google Shape;102;p11">
            <a:extLst>
              <a:ext uri="{FF2B5EF4-FFF2-40B4-BE49-F238E27FC236}">
                <a16:creationId xmlns:a16="http://schemas.microsoft.com/office/drawing/2014/main" id="{E4415DCB-5AE2-A3AD-B0A6-07A13478F003}"/>
              </a:ext>
            </a:extLst>
          </p:cNvPr>
          <p:cNvSpPr txBox="1"/>
          <p:nvPr/>
        </p:nvSpPr>
        <p:spPr>
          <a:xfrm>
            <a:off x="2240772" y="2473559"/>
            <a:ext cx="15037572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&lt;input type="checkbox" name="agree" checked&gt; agree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14C618-B0A9-B493-7063-940C67418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3071" y="4222911"/>
            <a:ext cx="5059032" cy="2235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57876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282DC2C4-C3A3-3988-5177-AA69B3F6E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4C7C408B-3F7E-72DB-0F7E-758442221CD7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0B10EF4A-70F6-03F9-2757-1206BF710C37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94;p11">
            <a:extLst>
              <a:ext uri="{FF2B5EF4-FFF2-40B4-BE49-F238E27FC236}">
                <a16:creationId xmlns:a16="http://schemas.microsoft.com/office/drawing/2014/main" id="{5666437C-C888-8B6B-7CEE-8BD32B459319}"/>
              </a:ext>
            </a:extLst>
          </p:cNvPr>
          <p:cNvSpPr txBox="1"/>
          <p:nvPr/>
        </p:nvSpPr>
        <p:spPr>
          <a:xfrm>
            <a:off x="1426306" y="1164079"/>
            <a:ext cx="1598764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200" b="1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Date</a:t>
            </a:r>
            <a:endParaRPr lang="en-US" sz="4200" b="1" i="0" u="none" strike="noStrike" cap="none" dirty="0">
              <a:solidFill>
                <a:srgbClr val="FFFFFF"/>
              </a:solidFill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  <p:sp>
        <p:nvSpPr>
          <p:cNvPr id="4" name="Google Shape;102;p11">
            <a:extLst>
              <a:ext uri="{FF2B5EF4-FFF2-40B4-BE49-F238E27FC236}">
                <a16:creationId xmlns:a16="http://schemas.microsoft.com/office/drawing/2014/main" id="{71666ACF-70F7-7C9C-1EC9-774E9A06FBE9}"/>
              </a:ext>
            </a:extLst>
          </p:cNvPr>
          <p:cNvSpPr txBox="1"/>
          <p:nvPr/>
        </p:nvSpPr>
        <p:spPr>
          <a:xfrm>
            <a:off x="2240772" y="2473559"/>
            <a:ext cx="15037572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&lt;input type="date" name="birthdate"&gt;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4F5BB9-B3D3-79FA-B33D-3DBACCF5E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772" y="3390136"/>
            <a:ext cx="3934208" cy="518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312713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040CD8CD-7181-247B-2CF6-7B526451C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4DDB94ED-1311-E047-60EA-7E24B86C1D23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A49DC98A-8832-0DD9-DA6A-031138B5A19B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94;p11">
            <a:extLst>
              <a:ext uri="{FF2B5EF4-FFF2-40B4-BE49-F238E27FC236}">
                <a16:creationId xmlns:a16="http://schemas.microsoft.com/office/drawing/2014/main" id="{E83ABCA0-2422-10BC-740B-9F09CAA0CF8B}"/>
              </a:ext>
            </a:extLst>
          </p:cNvPr>
          <p:cNvSpPr txBox="1"/>
          <p:nvPr/>
        </p:nvSpPr>
        <p:spPr>
          <a:xfrm>
            <a:off x="1426306" y="1164079"/>
            <a:ext cx="1598764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200" b="1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Select Tag</a:t>
            </a:r>
            <a:endParaRPr lang="en-US" sz="4200" b="1" i="0" u="none" strike="noStrike" cap="none" dirty="0">
              <a:solidFill>
                <a:srgbClr val="FFFFFF"/>
              </a:solidFill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  <p:sp>
        <p:nvSpPr>
          <p:cNvPr id="4" name="Google Shape;102;p11">
            <a:extLst>
              <a:ext uri="{FF2B5EF4-FFF2-40B4-BE49-F238E27FC236}">
                <a16:creationId xmlns:a16="http://schemas.microsoft.com/office/drawing/2014/main" id="{95311FC9-E9CA-9074-D860-3E011819B73C}"/>
              </a:ext>
            </a:extLst>
          </p:cNvPr>
          <p:cNvSpPr txBox="1"/>
          <p:nvPr/>
        </p:nvSpPr>
        <p:spPr>
          <a:xfrm>
            <a:off x="2240772" y="1989465"/>
            <a:ext cx="15037572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&lt;label for="cars"&gt;Choose a car:&lt;/label&gt;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&lt;select name="cars" id="cars"&gt;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	&lt;option value="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volvo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"&gt;Volvo&lt;/option&gt;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&lt;option value="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mercedes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"&gt;Mercedes&lt;/option&gt;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&lt;/select&gt;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B32F68-6F86-542C-8F8B-7EA05D4890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772" y="6075943"/>
            <a:ext cx="5731649" cy="278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564249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5AE7BF04-D91C-C315-6AA4-056449C8C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76E34125-91C5-1CA4-5CEB-4B92C06AF138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E66B82B4-BA34-1F9B-1BB2-AFEF5B98EF1C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94;p11">
            <a:extLst>
              <a:ext uri="{FF2B5EF4-FFF2-40B4-BE49-F238E27FC236}">
                <a16:creationId xmlns:a16="http://schemas.microsoft.com/office/drawing/2014/main" id="{98ECA56E-25BF-6D21-90E1-D908266D502D}"/>
              </a:ext>
            </a:extLst>
          </p:cNvPr>
          <p:cNvSpPr txBox="1"/>
          <p:nvPr/>
        </p:nvSpPr>
        <p:spPr>
          <a:xfrm>
            <a:off x="1426306" y="1164079"/>
            <a:ext cx="1598764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Button</a:t>
            </a:r>
          </a:p>
        </p:txBody>
      </p:sp>
      <p:sp>
        <p:nvSpPr>
          <p:cNvPr id="4" name="Google Shape;102;p11">
            <a:extLst>
              <a:ext uri="{FF2B5EF4-FFF2-40B4-BE49-F238E27FC236}">
                <a16:creationId xmlns:a16="http://schemas.microsoft.com/office/drawing/2014/main" id="{EED845FC-7B9E-A7D4-6524-1A0197F0205E}"/>
              </a:ext>
            </a:extLst>
          </p:cNvPr>
          <p:cNvSpPr txBox="1"/>
          <p:nvPr/>
        </p:nvSpPr>
        <p:spPr>
          <a:xfrm>
            <a:off x="1331259" y="3387959"/>
            <a:ext cx="15840635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&lt;button type="button" onclick="alert('Hello world!')"&gt;Click Me!&lt;/button&gt;</a:t>
            </a:r>
            <a:endParaRPr lang="en-US" sz="2400" dirty="0"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302E14-B6CA-390C-DE62-F55EAC71E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306" y="4600272"/>
            <a:ext cx="3360082" cy="130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12698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EF0CB033-AE24-B93F-004E-4FAF831CF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28CBB4A1-2619-4303-2DEB-B8B99BB5E9B8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86EB485E-1E42-892F-70C9-DD680A5084CF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94;p11">
            <a:extLst>
              <a:ext uri="{FF2B5EF4-FFF2-40B4-BE49-F238E27FC236}">
                <a16:creationId xmlns:a16="http://schemas.microsoft.com/office/drawing/2014/main" id="{364A147D-ACE9-1080-4566-CC99AE8F6409}"/>
              </a:ext>
            </a:extLst>
          </p:cNvPr>
          <p:cNvSpPr txBox="1"/>
          <p:nvPr/>
        </p:nvSpPr>
        <p:spPr>
          <a:xfrm>
            <a:off x="4156058" y="2428539"/>
            <a:ext cx="344152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 err="1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Javascript</a:t>
            </a:r>
            <a:endParaRPr lang="en-US" sz="4200" b="1" i="0" u="none" strike="noStrike" cap="none" dirty="0">
              <a:solidFill>
                <a:srgbClr val="FFFFFF"/>
              </a:solidFill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  <p:sp>
        <p:nvSpPr>
          <p:cNvPr id="4" name="Google Shape;102;p11">
            <a:extLst>
              <a:ext uri="{FF2B5EF4-FFF2-40B4-BE49-F238E27FC236}">
                <a16:creationId xmlns:a16="http://schemas.microsoft.com/office/drawing/2014/main" id="{5CB0340A-69B4-91FF-5137-41254DA9E7D9}"/>
              </a:ext>
            </a:extLst>
          </p:cNvPr>
          <p:cNvSpPr txBox="1"/>
          <p:nvPr/>
        </p:nvSpPr>
        <p:spPr>
          <a:xfrm>
            <a:off x="4156058" y="3912394"/>
            <a:ext cx="13015836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JavaScript is a programming language used to make web pages interactive. It runs in the browser and works alongside HTML and CSS.</a:t>
            </a:r>
            <a:endParaRPr lang="en-US" sz="2400" dirty="0"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FABB50C-6152-FF60-93B5-AF03876157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258" y="619784"/>
            <a:ext cx="2608719" cy="2608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0910619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57D5D943-C02B-65B3-3DA6-7AF257AB1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B2EFBB1D-E56C-25FE-7CF9-85E168E1390D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4831B0F1-2CF7-895D-8CB9-6927687D5030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94;p11">
            <a:extLst>
              <a:ext uri="{FF2B5EF4-FFF2-40B4-BE49-F238E27FC236}">
                <a16:creationId xmlns:a16="http://schemas.microsoft.com/office/drawing/2014/main" id="{2FAF4B3A-80E2-517E-7133-72FD2A9ADE0D}"/>
              </a:ext>
            </a:extLst>
          </p:cNvPr>
          <p:cNvSpPr txBox="1"/>
          <p:nvPr/>
        </p:nvSpPr>
        <p:spPr>
          <a:xfrm>
            <a:off x="1331258" y="1904104"/>
            <a:ext cx="4733363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400" b="1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The &lt;script&gt; Tag</a:t>
            </a:r>
          </a:p>
        </p:txBody>
      </p:sp>
      <p:sp>
        <p:nvSpPr>
          <p:cNvPr id="4" name="Google Shape;102;p11">
            <a:extLst>
              <a:ext uri="{FF2B5EF4-FFF2-40B4-BE49-F238E27FC236}">
                <a16:creationId xmlns:a16="http://schemas.microsoft.com/office/drawing/2014/main" id="{804E91FD-24AB-5F7B-972B-84F0A5C9BBE3}"/>
              </a:ext>
            </a:extLst>
          </p:cNvPr>
          <p:cNvSpPr txBox="1"/>
          <p:nvPr/>
        </p:nvSpPr>
        <p:spPr>
          <a:xfrm>
            <a:off x="2689411" y="3132465"/>
            <a:ext cx="14334565" cy="4924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In HTML, JavaScript code is inserted between &lt;script&gt; and &lt;/script&gt; tags. 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JavaScript in &lt;head&gt; or &lt;body&gt;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You can place any number of scripts in an HTML document.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Scripts can be placed in the &lt;body&gt;, or in the &lt;head&gt; section of an HTML page, or in both.</a:t>
            </a:r>
          </a:p>
        </p:txBody>
      </p:sp>
    </p:spTree>
    <p:extLst>
      <p:ext uri="{BB962C8B-B14F-4D97-AF65-F5344CB8AC3E}">
        <p14:creationId xmlns:p14="http://schemas.microsoft.com/office/powerpoint/2010/main" val="2788701906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010DEF76-C2D0-198B-27FD-1FB1F98D7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545637ED-C737-C646-2E01-C2B6CCFB9BCE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5166EF62-6060-9B9D-CB8D-44479F1CDAF8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94;p11">
            <a:extLst>
              <a:ext uri="{FF2B5EF4-FFF2-40B4-BE49-F238E27FC236}">
                <a16:creationId xmlns:a16="http://schemas.microsoft.com/office/drawing/2014/main" id="{60D0E582-C219-A93B-557D-C175703C64DF}"/>
              </a:ext>
            </a:extLst>
          </p:cNvPr>
          <p:cNvSpPr txBox="1"/>
          <p:nvPr/>
        </p:nvSpPr>
        <p:spPr>
          <a:xfrm>
            <a:off x="1317811" y="1823422"/>
            <a:ext cx="4733363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400" b="1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Print Hello World</a:t>
            </a:r>
          </a:p>
        </p:txBody>
      </p:sp>
      <p:sp>
        <p:nvSpPr>
          <p:cNvPr id="4" name="Google Shape;102;p11">
            <a:extLst>
              <a:ext uri="{FF2B5EF4-FFF2-40B4-BE49-F238E27FC236}">
                <a16:creationId xmlns:a16="http://schemas.microsoft.com/office/drawing/2014/main" id="{52185D3A-B3EF-18B6-B790-A19B806ED58F}"/>
              </a:ext>
            </a:extLst>
          </p:cNvPr>
          <p:cNvSpPr txBox="1"/>
          <p:nvPr/>
        </p:nvSpPr>
        <p:spPr>
          <a:xfrm>
            <a:off x="2770093" y="3414853"/>
            <a:ext cx="6078071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console.log("Hello, world!");</a:t>
            </a:r>
          </a:p>
        </p:txBody>
      </p:sp>
    </p:spTree>
    <p:extLst>
      <p:ext uri="{BB962C8B-B14F-4D97-AF65-F5344CB8AC3E}">
        <p14:creationId xmlns:p14="http://schemas.microsoft.com/office/powerpoint/2010/main" val="1883985092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DCF612B0-2D10-0E65-1CD5-0E84B4FF8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A3EEB623-1D53-7DA0-97C1-14C1B5D34180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C29D6326-52E8-CADF-0BA1-3629E7E5F56B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94;p11">
            <a:extLst>
              <a:ext uri="{FF2B5EF4-FFF2-40B4-BE49-F238E27FC236}">
                <a16:creationId xmlns:a16="http://schemas.microsoft.com/office/drawing/2014/main" id="{33CDE7F4-935F-CE4F-01B8-6EADAAA2420A}"/>
              </a:ext>
            </a:extLst>
          </p:cNvPr>
          <p:cNvSpPr txBox="1"/>
          <p:nvPr/>
        </p:nvSpPr>
        <p:spPr>
          <a:xfrm>
            <a:off x="1331258" y="1904104"/>
            <a:ext cx="7100044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400" b="1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Variables = Data Containers</a:t>
            </a:r>
          </a:p>
        </p:txBody>
      </p:sp>
      <p:sp>
        <p:nvSpPr>
          <p:cNvPr id="4" name="Google Shape;102;p11">
            <a:extLst>
              <a:ext uri="{FF2B5EF4-FFF2-40B4-BE49-F238E27FC236}">
                <a16:creationId xmlns:a16="http://schemas.microsoft.com/office/drawing/2014/main" id="{FADBB57D-231D-CEB5-77E1-A9D3D3048636}"/>
              </a:ext>
            </a:extLst>
          </p:cNvPr>
          <p:cNvSpPr txBox="1"/>
          <p:nvPr/>
        </p:nvSpPr>
        <p:spPr>
          <a:xfrm>
            <a:off x="2501149" y="2989064"/>
            <a:ext cx="11860305" cy="430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let = can be Reassigned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const =  cannot be Reassigned’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let x = 1;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x = 2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const name = “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justin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nabunturan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60730188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E43629AF-CD23-CE65-2C15-805993F1D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962B6157-3232-8825-2D90-BF1F18D2E841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4FCAD91A-D7FD-382C-6F1A-B260E60D45F0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94;p11">
            <a:extLst>
              <a:ext uri="{FF2B5EF4-FFF2-40B4-BE49-F238E27FC236}">
                <a16:creationId xmlns:a16="http://schemas.microsoft.com/office/drawing/2014/main" id="{E9158389-28C5-6F71-8377-06CC1C3E66FE}"/>
              </a:ext>
            </a:extLst>
          </p:cNvPr>
          <p:cNvSpPr txBox="1"/>
          <p:nvPr/>
        </p:nvSpPr>
        <p:spPr>
          <a:xfrm>
            <a:off x="1331257" y="1331774"/>
            <a:ext cx="7100044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400" b="1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Block Scope</a:t>
            </a:r>
          </a:p>
        </p:txBody>
      </p:sp>
      <p:sp>
        <p:nvSpPr>
          <p:cNvPr id="4" name="Google Shape;102;p11">
            <a:extLst>
              <a:ext uri="{FF2B5EF4-FFF2-40B4-BE49-F238E27FC236}">
                <a16:creationId xmlns:a16="http://schemas.microsoft.com/office/drawing/2014/main" id="{927B43BA-88A4-A45B-B3B9-7BFEF39CE206}"/>
              </a:ext>
            </a:extLst>
          </p:cNvPr>
          <p:cNvSpPr txBox="1"/>
          <p:nvPr/>
        </p:nvSpPr>
        <p:spPr>
          <a:xfrm>
            <a:off x="2501149" y="2989064"/>
            <a:ext cx="11860305" cy="3077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if (condition) {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let x = 2;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const y = 1;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}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// x and y can NOT be used here</a:t>
            </a:r>
          </a:p>
        </p:txBody>
      </p:sp>
    </p:spTree>
    <p:extLst>
      <p:ext uri="{BB962C8B-B14F-4D97-AF65-F5344CB8AC3E}">
        <p14:creationId xmlns:p14="http://schemas.microsoft.com/office/powerpoint/2010/main" val="2763158933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11FDFDE2-4040-14B9-8FD8-452B71536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AF02C2CC-A5FC-97A8-CD66-270F999C8E1C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584A3C7B-7A40-0ED8-9978-32E545DA4DBF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94;p11">
            <a:extLst>
              <a:ext uri="{FF2B5EF4-FFF2-40B4-BE49-F238E27FC236}">
                <a16:creationId xmlns:a16="http://schemas.microsoft.com/office/drawing/2014/main" id="{086AED8D-2096-E610-2C3C-35C37A017042}"/>
              </a:ext>
            </a:extLst>
          </p:cNvPr>
          <p:cNvSpPr txBox="1"/>
          <p:nvPr/>
        </p:nvSpPr>
        <p:spPr>
          <a:xfrm>
            <a:off x="1331257" y="1331774"/>
            <a:ext cx="14105956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400" b="1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JavaScript has 8 Datatypes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FDA414-5596-5315-5E6D-120EB163D4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6419844"/>
              </p:ext>
            </p:extLst>
          </p:nvPr>
        </p:nvGraphicFramePr>
        <p:xfrm>
          <a:off x="2631141" y="2746935"/>
          <a:ext cx="121920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395356767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3383915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399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dirty="0">
                          <a:effectLst/>
                        </a:rPr>
                        <a:t>String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A text of characters enclosed in quotes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206932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Number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A number representing a mathematical value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944075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Bigint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A number representing a large integer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48049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Boolean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A data type representing true or false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586486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Object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A collection of key-value pairs of data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413431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Undefined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A primitive variable with no assigned value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182051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Null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A primitive value representing object absence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432639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Symbol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dirty="0">
                          <a:effectLst/>
                        </a:rPr>
                        <a:t>A unique and primitive identifier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5981223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3542176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3BEDCAA5-B4A8-6C50-F4D6-7E5C4A8CD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4D17CED1-D72C-BD9E-6229-D3CACA027700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39F9EC5E-6972-704D-9887-FF583A08F31D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Google Shape;102;p11">
            <a:extLst>
              <a:ext uri="{FF2B5EF4-FFF2-40B4-BE49-F238E27FC236}">
                <a16:creationId xmlns:a16="http://schemas.microsoft.com/office/drawing/2014/main" id="{B5270BD5-18AC-A1BB-C753-E4699147BBE3}"/>
              </a:ext>
            </a:extLst>
          </p:cNvPr>
          <p:cNvSpPr txBox="1"/>
          <p:nvPr/>
        </p:nvSpPr>
        <p:spPr>
          <a:xfrm>
            <a:off x="2393575" y="1042146"/>
            <a:ext cx="11860305" cy="8002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// String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let color = "Yellow";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// Number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let length = 16;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let weight = 7.5;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// 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BigInt</a:t>
            </a:r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let x = 1234567890123456789012345n;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// Boolean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let x = true; let y = false;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</p:spTree>
    <p:extLst>
      <p:ext uri="{BB962C8B-B14F-4D97-AF65-F5344CB8AC3E}">
        <p14:creationId xmlns:p14="http://schemas.microsoft.com/office/powerpoint/2010/main" val="1972361292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17D45F11-A4B7-D432-0970-4346BE7FF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9E4596C8-32E1-3418-FF01-BF4C8CF3830C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DF0574DB-9B3A-B2F3-F5C9-DA0ED745DF50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Google Shape;102;p11">
            <a:extLst>
              <a:ext uri="{FF2B5EF4-FFF2-40B4-BE49-F238E27FC236}">
                <a16:creationId xmlns:a16="http://schemas.microsoft.com/office/drawing/2014/main" id="{2B1C4760-C9A7-8227-BDA9-D8533B5707DC}"/>
              </a:ext>
            </a:extLst>
          </p:cNvPr>
          <p:cNvSpPr txBox="1"/>
          <p:nvPr/>
        </p:nvSpPr>
        <p:spPr>
          <a:xfrm>
            <a:off x="2770093" y="535325"/>
            <a:ext cx="11860305" cy="8371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2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// Object</a:t>
            </a:r>
          </a:p>
          <a:p>
            <a:pPr lvl="0"/>
            <a:r>
              <a:rPr lang="en-US" sz="32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const person = {</a:t>
            </a:r>
            <a:r>
              <a:rPr lang="en-US" sz="32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firstName</a:t>
            </a:r>
            <a:r>
              <a:rPr lang="en-US" sz="32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:"John", </a:t>
            </a:r>
            <a:r>
              <a:rPr lang="en-US" sz="32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lastName</a:t>
            </a:r>
            <a:r>
              <a:rPr lang="en-US" sz="32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:"Doe"};</a:t>
            </a:r>
          </a:p>
          <a:p>
            <a:pPr lvl="0"/>
            <a:endParaRPr lang="en-US" sz="32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32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// Array object</a:t>
            </a:r>
          </a:p>
          <a:p>
            <a:pPr lvl="0"/>
            <a:r>
              <a:rPr lang="en-US" sz="32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const cars = ["Saab", "Volvo", "BMW"];</a:t>
            </a:r>
          </a:p>
          <a:p>
            <a:pPr lvl="0"/>
            <a:endParaRPr lang="en-US" sz="32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32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// Date object</a:t>
            </a:r>
          </a:p>
          <a:p>
            <a:pPr lvl="0"/>
            <a:r>
              <a:rPr lang="en-US" sz="32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const date = new Date("2022-03-25");</a:t>
            </a:r>
          </a:p>
          <a:p>
            <a:pPr lvl="0"/>
            <a:endParaRPr lang="en-US" sz="32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32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// Undefined</a:t>
            </a:r>
          </a:p>
          <a:p>
            <a:pPr lvl="0"/>
            <a:r>
              <a:rPr lang="en-US" sz="32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let x; let y;</a:t>
            </a:r>
          </a:p>
          <a:p>
            <a:pPr lvl="0"/>
            <a:endParaRPr lang="en-US" sz="32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32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// Null</a:t>
            </a:r>
          </a:p>
          <a:p>
            <a:pPr lvl="0"/>
            <a:r>
              <a:rPr lang="en-US" sz="32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let x = null;</a:t>
            </a:r>
          </a:p>
          <a:p>
            <a:pPr lvl="0"/>
            <a:endParaRPr lang="en-US" sz="32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32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// Symbol</a:t>
            </a:r>
          </a:p>
          <a:p>
            <a:pPr lvl="0"/>
            <a:r>
              <a:rPr lang="en-US" sz="32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const x = Symbol();</a:t>
            </a:r>
          </a:p>
        </p:txBody>
      </p:sp>
    </p:spTree>
    <p:extLst>
      <p:ext uri="{BB962C8B-B14F-4D97-AF65-F5344CB8AC3E}">
        <p14:creationId xmlns:p14="http://schemas.microsoft.com/office/powerpoint/2010/main" val="1767313169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F7F6C15D-F3FE-B6AB-4DD3-9881E71AD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897B2CC1-D843-29CD-F252-F856ADBC7119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25745D89-9977-AC9B-4FE0-97523EB9EAF1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94;p11">
            <a:extLst>
              <a:ext uri="{FF2B5EF4-FFF2-40B4-BE49-F238E27FC236}">
                <a16:creationId xmlns:a16="http://schemas.microsoft.com/office/drawing/2014/main" id="{BC1327FB-8EF0-0E1E-E086-2AEEC413D85B}"/>
              </a:ext>
            </a:extLst>
          </p:cNvPr>
          <p:cNvSpPr txBox="1"/>
          <p:nvPr/>
        </p:nvSpPr>
        <p:spPr>
          <a:xfrm>
            <a:off x="1426306" y="1164079"/>
            <a:ext cx="1598764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Operators</a:t>
            </a:r>
          </a:p>
        </p:txBody>
      </p:sp>
      <p:sp>
        <p:nvSpPr>
          <p:cNvPr id="4" name="Google Shape;102;p11">
            <a:extLst>
              <a:ext uri="{FF2B5EF4-FFF2-40B4-BE49-F238E27FC236}">
                <a16:creationId xmlns:a16="http://schemas.microsoft.com/office/drawing/2014/main" id="{31CA53ED-D95B-D4A8-00AE-FD9ED494AA24}"/>
              </a:ext>
            </a:extLst>
          </p:cNvPr>
          <p:cNvSpPr txBox="1"/>
          <p:nvPr/>
        </p:nvSpPr>
        <p:spPr>
          <a:xfrm>
            <a:off x="2133197" y="2185782"/>
            <a:ext cx="12664382" cy="5293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operators are special symbols or keywords used to perform operations on values and variables. operators are for Mathematical and Logical Computations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Assignment operator( = ) 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let x = null;</a:t>
            </a:r>
          </a:p>
          <a:p>
            <a:pPr lvl="0"/>
            <a:endParaRPr lang="en-US" sz="2400" dirty="0"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</p:spTree>
    <p:extLst>
      <p:ext uri="{BB962C8B-B14F-4D97-AF65-F5344CB8AC3E}">
        <p14:creationId xmlns:p14="http://schemas.microsoft.com/office/powerpoint/2010/main" val="4086996355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1495A1AF-C2B1-6C0D-ECDF-5AFFCA23D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8934B701-165F-FD95-3653-6A14ABF7FC55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EE2BCB04-D2DC-36C0-3540-E3F38A6DE65B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94;p11">
            <a:extLst>
              <a:ext uri="{FF2B5EF4-FFF2-40B4-BE49-F238E27FC236}">
                <a16:creationId xmlns:a16="http://schemas.microsoft.com/office/drawing/2014/main" id="{6671FA9E-802C-6324-F51E-0583B6A31CA8}"/>
              </a:ext>
            </a:extLst>
          </p:cNvPr>
          <p:cNvSpPr txBox="1"/>
          <p:nvPr/>
        </p:nvSpPr>
        <p:spPr>
          <a:xfrm>
            <a:off x="1426306" y="1164079"/>
            <a:ext cx="1598764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200" b="1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Arithmetic Operators</a:t>
            </a:r>
          </a:p>
        </p:txBody>
      </p:sp>
      <p:sp>
        <p:nvSpPr>
          <p:cNvPr id="4" name="Google Shape;102;p11">
            <a:extLst>
              <a:ext uri="{FF2B5EF4-FFF2-40B4-BE49-F238E27FC236}">
                <a16:creationId xmlns:a16="http://schemas.microsoft.com/office/drawing/2014/main" id="{5A282CDD-70E4-F4C3-3ACF-332FB63993B7}"/>
              </a:ext>
            </a:extLst>
          </p:cNvPr>
          <p:cNvSpPr txBox="1"/>
          <p:nvPr/>
        </p:nvSpPr>
        <p:spPr>
          <a:xfrm>
            <a:off x="2133197" y="2185782"/>
            <a:ext cx="12664382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Arithmetic operators perform arithmetic on numbers (literals or variables).</a:t>
            </a:r>
            <a:endParaRPr lang="en-US" sz="2400" dirty="0"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FC393F1-D919-8386-888C-C55F799337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2240035"/>
              </p:ext>
            </p:extLst>
          </p:nvPr>
        </p:nvGraphicFramePr>
        <p:xfrm>
          <a:off x="2605579" y="3792260"/>
          <a:ext cx="121920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73998212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561179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dirty="0">
                          <a:effectLst/>
                        </a:rPr>
                        <a:t>Operator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Description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86673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+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Addition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2058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-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Subtraction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401733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*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Multiplication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326436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**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dirty="0">
                          <a:effectLst/>
                        </a:rPr>
                        <a:t>Exponentiation 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693744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/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Division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979859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%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Modulus (Remainder)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88482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++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Increment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4128624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--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dirty="0">
                          <a:effectLst/>
                        </a:rPr>
                        <a:t>Decrement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448791792"/>
                  </a:ext>
                </a:extLst>
              </a:tr>
            </a:tbl>
          </a:graphicData>
        </a:graphic>
      </p:graphicFrame>
      <p:sp>
        <p:nvSpPr>
          <p:cNvPr id="5" name="Google Shape;102;p11">
            <a:extLst>
              <a:ext uri="{FF2B5EF4-FFF2-40B4-BE49-F238E27FC236}">
                <a16:creationId xmlns:a16="http://schemas.microsoft.com/office/drawing/2014/main" id="{23107876-071C-C392-2F10-1B10BE52D3BF}"/>
              </a:ext>
            </a:extLst>
          </p:cNvPr>
          <p:cNvSpPr txBox="1"/>
          <p:nvPr/>
        </p:nvSpPr>
        <p:spPr>
          <a:xfrm>
            <a:off x="2285597" y="7485665"/>
            <a:ext cx="12664382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let x = 100 + 50; 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let x = 100 - 50;</a:t>
            </a:r>
            <a:endParaRPr lang="en-US" sz="2400" dirty="0"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</p:spTree>
    <p:extLst>
      <p:ext uri="{BB962C8B-B14F-4D97-AF65-F5344CB8AC3E}">
        <p14:creationId xmlns:p14="http://schemas.microsoft.com/office/powerpoint/2010/main" val="474901059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4C18C0B1-1558-17D9-F9DA-418B9514B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E3862D5E-9A4C-CC64-304E-7577377EE894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8B4BB694-77A4-FF6B-C30C-56C55F225E24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94;p11">
            <a:extLst>
              <a:ext uri="{FF2B5EF4-FFF2-40B4-BE49-F238E27FC236}">
                <a16:creationId xmlns:a16="http://schemas.microsoft.com/office/drawing/2014/main" id="{7A2B8A45-76D9-1881-0866-AB2156A3D97E}"/>
              </a:ext>
            </a:extLst>
          </p:cNvPr>
          <p:cNvSpPr txBox="1"/>
          <p:nvPr/>
        </p:nvSpPr>
        <p:spPr>
          <a:xfrm>
            <a:off x="1426306" y="1164079"/>
            <a:ext cx="1598764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200" b="1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Comparison Operators</a:t>
            </a:r>
          </a:p>
        </p:txBody>
      </p:sp>
      <p:sp>
        <p:nvSpPr>
          <p:cNvPr id="4" name="Google Shape;102;p11">
            <a:extLst>
              <a:ext uri="{FF2B5EF4-FFF2-40B4-BE49-F238E27FC236}">
                <a16:creationId xmlns:a16="http://schemas.microsoft.com/office/drawing/2014/main" id="{D05B8472-B6F6-614F-E91F-47FBC46A38C2}"/>
              </a:ext>
            </a:extLst>
          </p:cNvPr>
          <p:cNvSpPr txBox="1"/>
          <p:nvPr/>
        </p:nvSpPr>
        <p:spPr>
          <a:xfrm>
            <a:off x="2133197" y="2185782"/>
            <a:ext cx="12664382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operators are used to compare two values. Comparison operators always return true or false.</a:t>
            </a:r>
            <a:endParaRPr lang="en-US" sz="2400" dirty="0"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8AF9BA2-DAC6-61EE-6E05-3875563C96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53823"/>
              </p:ext>
            </p:extLst>
          </p:nvPr>
        </p:nvGraphicFramePr>
        <p:xfrm>
          <a:off x="2240773" y="3640114"/>
          <a:ext cx="97536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392837086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996811028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487396554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716709667"/>
                    </a:ext>
                  </a:extLst>
                </a:gridCol>
              </a:tblGrid>
              <a:tr h="34413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dirty="0">
                          <a:effectLst/>
                        </a:rPr>
                        <a:t>Operator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Description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Comparing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Returns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95476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==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equal to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x == 8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false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899616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x == 5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true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742987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x == "5"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true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571484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===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equal value and equal type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x === 5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true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759772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x === "5"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false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191991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!=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not equal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x != 8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true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694579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!==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not equal value or not equal type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x !== 5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false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958435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x !== "5"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true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568822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x !== 8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true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659770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&gt;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greater than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x &gt; 8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false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05767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&lt;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less than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x &lt; 8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true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978015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&gt;=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greater than or equal to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x &gt;= 8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false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231607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&lt;=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less than or equal to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dirty="0">
                          <a:effectLst/>
                        </a:rPr>
                        <a:t>x &lt;= 8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dirty="0">
                          <a:effectLst/>
                        </a:rPr>
                        <a:t>true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877201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2601906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02E0E2DB-8C51-CE59-FBF2-FFDE39E9E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87BF0910-14A6-FE21-9C80-E5C2EC88CA72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86945968-DB93-1E3D-41D2-D945ABDC31F3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94;p11">
            <a:extLst>
              <a:ext uri="{FF2B5EF4-FFF2-40B4-BE49-F238E27FC236}">
                <a16:creationId xmlns:a16="http://schemas.microsoft.com/office/drawing/2014/main" id="{CDC9A5D9-86CD-AB3E-D0B2-C7E57824C576}"/>
              </a:ext>
            </a:extLst>
          </p:cNvPr>
          <p:cNvSpPr txBox="1"/>
          <p:nvPr/>
        </p:nvSpPr>
        <p:spPr>
          <a:xfrm>
            <a:off x="1426306" y="1164079"/>
            <a:ext cx="1598764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200" b="1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The JavaScript if Statement</a:t>
            </a:r>
          </a:p>
        </p:txBody>
      </p:sp>
      <p:sp>
        <p:nvSpPr>
          <p:cNvPr id="4" name="Google Shape;102;p11">
            <a:extLst>
              <a:ext uri="{FF2B5EF4-FFF2-40B4-BE49-F238E27FC236}">
                <a16:creationId xmlns:a16="http://schemas.microsoft.com/office/drawing/2014/main" id="{B4223C36-1CE7-BDD3-E3A6-6289EFE08CE8}"/>
              </a:ext>
            </a:extLst>
          </p:cNvPr>
          <p:cNvSpPr txBox="1"/>
          <p:nvPr/>
        </p:nvSpPr>
        <p:spPr>
          <a:xfrm>
            <a:off x="2173538" y="2100143"/>
            <a:ext cx="12664382" cy="430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Use the JavaScript if statement to execute a block of code when a condition is true. 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if (condition) {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 //  block of code to be executed if the condition is true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}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</p:spTree>
    <p:extLst>
      <p:ext uri="{BB962C8B-B14F-4D97-AF65-F5344CB8AC3E}">
        <p14:creationId xmlns:p14="http://schemas.microsoft.com/office/powerpoint/2010/main" val="4165761807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932B905D-7D15-0275-58C7-89AC2DF65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4A5BD79A-C0AD-E9D8-EC8E-88277EE3FE63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D7D9EB8B-6985-4106-EE44-DFB99923B2A1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Google Shape;102;p11">
            <a:extLst>
              <a:ext uri="{FF2B5EF4-FFF2-40B4-BE49-F238E27FC236}">
                <a16:creationId xmlns:a16="http://schemas.microsoft.com/office/drawing/2014/main" id="{7D36F9CF-BFE4-0B6C-8D74-2FF67A7C2E94}"/>
              </a:ext>
            </a:extLst>
          </p:cNvPr>
          <p:cNvSpPr txBox="1"/>
          <p:nvPr/>
        </p:nvSpPr>
        <p:spPr>
          <a:xfrm>
            <a:off x="2160091" y="330087"/>
            <a:ext cx="12664382" cy="861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if (condition) {</a:t>
            </a:r>
          </a:p>
          <a:p>
            <a:pPr lvl="0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 //  block of code to be executed if the condition is true</a:t>
            </a:r>
          </a:p>
          <a:p>
            <a:pPr lvl="0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} else {</a:t>
            </a:r>
          </a:p>
          <a:p>
            <a:pPr lvl="0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 //  block of code to be executed if the condition is false</a:t>
            </a:r>
          </a:p>
          <a:p>
            <a:pPr lvl="0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}</a:t>
            </a:r>
          </a:p>
          <a:p>
            <a:pPr lvl="0"/>
            <a:endParaRPr lang="en-US" sz="36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if (condition1) {</a:t>
            </a:r>
          </a:p>
          <a:p>
            <a:pPr lvl="0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 //  block of code to be executed if condition1 is true</a:t>
            </a:r>
          </a:p>
          <a:p>
            <a:pPr lvl="0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} else if (condition2) {</a:t>
            </a:r>
          </a:p>
          <a:p>
            <a:pPr lvl="0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 //  block of code to be executed if the condition1 is false and condition2 is true</a:t>
            </a:r>
          </a:p>
          <a:p>
            <a:pPr lvl="0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} else {</a:t>
            </a:r>
          </a:p>
          <a:p>
            <a:pPr lvl="0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 //  block of code to be executed if the condition1 is false and condition2 is false</a:t>
            </a:r>
          </a:p>
          <a:p>
            <a:pPr lvl="0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}</a:t>
            </a:r>
          </a:p>
          <a:p>
            <a:pPr lvl="0"/>
            <a:endParaRPr lang="en-US" sz="2000" dirty="0"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</p:spTree>
    <p:extLst>
      <p:ext uri="{BB962C8B-B14F-4D97-AF65-F5344CB8AC3E}">
        <p14:creationId xmlns:p14="http://schemas.microsoft.com/office/powerpoint/2010/main" val="3937445357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21EFCE23-BD8B-3CE2-BD40-D16EBECD9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C5970C1E-9794-6082-8F41-772471E62D63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8BCF1674-F273-5AC0-3482-F5D9D345D338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94;p11">
            <a:extLst>
              <a:ext uri="{FF2B5EF4-FFF2-40B4-BE49-F238E27FC236}">
                <a16:creationId xmlns:a16="http://schemas.microsoft.com/office/drawing/2014/main" id="{8AA0672B-5546-7EA8-9375-6AC1E20C1AFE}"/>
              </a:ext>
            </a:extLst>
          </p:cNvPr>
          <p:cNvSpPr txBox="1"/>
          <p:nvPr/>
        </p:nvSpPr>
        <p:spPr>
          <a:xfrm>
            <a:off x="1426306" y="1164079"/>
            <a:ext cx="1598764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200" b="1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JavaScript Loops</a:t>
            </a:r>
          </a:p>
        </p:txBody>
      </p:sp>
      <p:sp>
        <p:nvSpPr>
          <p:cNvPr id="4" name="Google Shape;102;p11">
            <a:extLst>
              <a:ext uri="{FF2B5EF4-FFF2-40B4-BE49-F238E27FC236}">
                <a16:creationId xmlns:a16="http://schemas.microsoft.com/office/drawing/2014/main" id="{DECE1CB4-1115-5EB0-46D3-58EE67D48A94}"/>
              </a:ext>
            </a:extLst>
          </p:cNvPr>
          <p:cNvSpPr txBox="1"/>
          <p:nvPr/>
        </p:nvSpPr>
        <p:spPr>
          <a:xfrm>
            <a:off x="2173538" y="2100143"/>
            <a:ext cx="12664382" cy="677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Loops are handy, if you want to run the same code over and over again, each time with a different value.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For loop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for (  initialization  ;  condition  ;  iteration  ) {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 // code block to be executed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}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for (let 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i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= 0; 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i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&lt; 5; 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i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++) {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 console.log(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i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);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18962536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B99EF8A7-D20D-73FD-C853-1B82BAA5A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8FE69E5F-59EC-305D-21D6-FCB48BC1832A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8A06FAC7-1B4E-E5F3-0EF7-13DF8ED31ACC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94;p11">
            <a:extLst>
              <a:ext uri="{FF2B5EF4-FFF2-40B4-BE49-F238E27FC236}">
                <a16:creationId xmlns:a16="http://schemas.microsoft.com/office/drawing/2014/main" id="{3D318902-C589-6BD6-9580-F54D67F10F01}"/>
              </a:ext>
            </a:extLst>
          </p:cNvPr>
          <p:cNvSpPr txBox="1"/>
          <p:nvPr/>
        </p:nvSpPr>
        <p:spPr>
          <a:xfrm>
            <a:off x="1426306" y="1164079"/>
            <a:ext cx="1598764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200" b="1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While Loop</a:t>
            </a:r>
          </a:p>
        </p:txBody>
      </p:sp>
      <p:sp>
        <p:nvSpPr>
          <p:cNvPr id="4" name="Google Shape;102;p11">
            <a:extLst>
              <a:ext uri="{FF2B5EF4-FFF2-40B4-BE49-F238E27FC236}">
                <a16:creationId xmlns:a16="http://schemas.microsoft.com/office/drawing/2014/main" id="{349A4967-5B4B-2349-28F4-EC99E181B756}"/>
              </a:ext>
            </a:extLst>
          </p:cNvPr>
          <p:cNvSpPr txBox="1"/>
          <p:nvPr/>
        </p:nvSpPr>
        <p:spPr>
          <a:xfrm>
            <a:off x="2173538" y="2100143"/>
            <a:ext cx="12664382" cy="6155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while (condition) {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 // code block to be executed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}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let 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i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= 0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while (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i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&lt; 10) {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console.log("The number is " + 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i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)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i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++;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}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</p:spTree>
    <p:extLst>
      <p:ext uri="{BB962C8B-B14F-4D97-AF65-F5344CB8AC3E}">
        <p14:creationId xmlns:p14="http://schemas.microsoft.com/office/powerpoint/2010/main" val="3063827712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473E0E0E-EEEE-CAB0-4744-767AF68AC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DA1AE31F-C383-63A3-6E83-301D284A4EEE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FFCF9564-9A8B-C73D-7ED1-5B5AF205131A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94;p11">
            <a:extLst>
              <a:ext uri="{FF2B5EF4-FFF2-40B4-BE49-F238E27FC236}">
                <a16:creationId xmlns:a16="http://schemas.microsoft.com/office/drawing/2014/main" id="{722A5B40-9FCC-3D92-9208-16B2BFF2EE2A}"/>
              </a:ext>
            </a:extLst>
          </p:cNvPr>
          <p:cNvSpPr txBox="1"/>
          <p:nvPr/>
        </p:nvSpPr>
        <p:spPr>
          <a:xfrm>
            <a:off x="1426306" y="1164079"/>
            <a:ext cx="1598764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200" b="1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Break and Continue</a:t>
            </a:r>
          </a:p>
        </p:txBody>
      </p:sp>
      <p:sp>
        <p:nvSpPr>
          <p:cNvPr id="4" name="Google Shape;102;p11">
            <a:extLst>
              <a:ext uri="{FF2B5EF4-FFF2-40B4-BE49-F238E27FC236}">
                <a16:creationId xmlns:a16="http://schemas.microsoft.com/office/drawing/2014/main" id="{5C46C071-C5B3-B778-D315-3157CC1DF7B4}"/>
              </a:ext>
            </a:extLst>
          </p:cNvPr>
          <p:cNvSpPr txBox="1"/>
          <p:nvPr/>
        </p:nvSpPr>
        <p:spPr>
          <a:xfrm>
            <a:off x="2173538" y="2100143"/>
            <a:ext cx="12664382" cy="4924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The Break Statement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The break statement "jumps out" of loops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The break statement terminates the execution of a loop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The Continue Statement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The continue statement skips the current iteration in a loop.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The remaining code in the iteration is skipped and processing moves to the next iteration.</a:t>
            </a:r>
          </a:p>
        </p:txBody>
      </p:sp>
    </p:spTree>
    <p:extLst>
      <p:ext uri="{BB962C8B-B14F-4D97-AF65-F5344CB8AC3E}">
        <p14:creationId xmlns:p14="http://schemas.microsoft.com/office/powerpoint/2010/main" val="1472887757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9FE82FAF-A005-331C-595E-12B374F4E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252B989F-6288-FBF6-C058-89A69B39D70D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A83B4E80-7D98-F785-169C-E73C5D62D54A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94;p11">
            <a:extLst>
              <a:ext uri="{FF2B5EF4-FFF2-40B4-BE49-F238E27FC236}">
                <a16:creationId xmlns:a16="http://schemas.microsoft.com/office/drawing/2014/main" id="{FDF3F5FE-9966-0D74-9BEB-592BF5A240A0}"/>
              </a:ext>
            </a:extLst>
          </p:cNvPr>
          <p:cNvSpPr txBox="1"/>
          <p:nvPr/>
        </p:nvSpPr>
        <p:spPr>
          <a:xfrm>
            <a:off x="1426306" y="1164079"/>
            <a:ext cx="1598764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200" b="1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Functions</a:t>
            </a:r>
          </a:p>
        </p:txBody>
      </p:sp>
      <p:sp>
        <p:nvSpPr>
          <p:cNvPr id="4" name="Google Shape;102;p11">
            <a:extLst>
              <a:ext uri="{FF2B5EF4-FFF2-40B4-BE49-F238E27FC236}">
                <a16:creationId xmlns:a16="http://schemas.microsoft.com/office/drawing/2014/main" id="{13F91BBB-683C-6DC5-49A7-DEF849BC8510}"/>
              </a:ext>
            </a:extLst>
          </p:cNvPr>
          <p:cNvSpPr txBox="1"/>
          <p:nvPr/>
        </p:nvSpPr>
        <p:spPr>
          <a:xfrm>
            <a:off x="2173538" y="2100143"/>
            <a:ext cx="12664382" cy="5539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A function is a block of code designed to perform a particular task. You can call (or invoke) the function whenever you want to run that task.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function 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sayHello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() {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 console.log("Hello, world!");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}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sayHello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(); </a:t>
            </a:r>
          </a:p>
        </p:txBody>
      </p:sp>
    </p:spTree>
    <p:extLst>
      <p:ext uri="{BB962C8B-B14F-4D97-AF65-F5344CB8AC3E}">
        <p14:creationId xmlns:p14="http://schemas.microsoft.com/office/powerpoint/2010/main" val="1645954967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DE548C74-EB6D-275B-754F-FB23F1052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849F0B5C-CA85-D510-A857-54448BB5F7F8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796C419C-2203-284F-DE10-9570AC8BD3CC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94;p11">
            <a:extLst>
              <a:ext uri="{FF2B5EF4-FFF2-40B4-BE49-F238E27FC236}">
                <a16:creationId xmlns:a16="http://schemas.microsoft.com/office/drawing/2014/main" id="{A806A3BA-C836-EC8D-8218-358F80625CCF}"/>
              </a:ext>
            </a:extLst>
          </p:cNvPr>
          <p:cNvSpPr txBox="1"/>
          <p:nvPr/>
        </p:nvSpPr>
        <p:spPr>
          <a:xfrm>
            <a:off x="1426306" y="1164079"/>
            <a:ext cx="1598764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200" b="1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Arrow Functions</a:t>
            </a:r>
          </a:p>
        </p:txBody>
      </p:sp>
      <p:sp>
        <p:nvSpPr>
          <p:cNvPr id="4" name="Google Shape;102;p11">
            <a:extLst>
              <a:ext uri="{FF2B5EF4-FFF2-40B4-BE49-F238E27FC236}">
                <a16:creationId xmlns:a16="http://schemas.microsoft.com/office/drawing/2014/main" id="{3C2E8C8F-7FA4-F757-1B6F-02D7FAA21BF8}"/>
              </a:ext>
            </a:extLst>
          </p:cNvPr>
          <p:cNvSpPr txBox="1"/>
          <p:nvPr/>
        </p:nvSpPr>
        <p:spPr>
          <a:xfrm>
            <a:off x="2173538" y="2100143"/>
            <a:ext cx="12664382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const 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sayHello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= () =&gt; {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console.log("Hello, world!");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};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sayHello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(); 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</p:spTree>
    <p:extLst>
      <p:ext uri="{BB962C8B-B14F-4D97-AF65-F5344CB8AC3E}">
        <p14:creationId xmlns:p14="http://schemas.microsoft.com/office/powerpoint/2010/main" val="764401408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E331708E-BE44-C18C-7C94-140C71802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B3236F7A-F73A-61E0-AED6-B5B06DE18CC2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2440AC2E-101B-5924-AF5F-FA72E7F80114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Google Shape;102;p11">
            <a:extLst>
              <a:ext uri="{FF2B5EF4-FFF2-40B4-BE49-F238E27FC236}">
                <a16:creationId xmlns:a16="http://schemas.microsoft.com/office/drawing/2014/main" id="{4BA9FB3D-1A72-99A5-234B-112E0B7C6CB5}"/>
              </a:ext>
            </a:extLst>
          </p:cNvPr>
          <p:cNvSpPr txBox="1"/>
          <p:nvPr/>
        </p:nvSpPr>
        <p:spPr>
          <a:xfrm>
            <a:off x="2019300" y="378920"/>
            <a:ext cx="12664382" cy="923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const 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sayHello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= ( name ) =&gt; {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let 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helloName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= “hello ”+ name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console.log(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helloName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);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};</a:t>
            </a:r>
          </a:p>
          <a:p>
            <a:pPr lvl="0"/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sayHello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( ‘world’ );</a:t>
            </a:r>
          </a:p>
          <a:p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Variables declared within a JavaScript function, become LOCAL to the function. Local variables can only be accessed from within the function.</a:t>
            </a:r>
          </a:p>
          <a:p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Parameters are the names listed in the function definition.</a:t>
            </a:r>
          </a:p>
          <a:p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Arguments are the values received by the function.</a:t>
            </a:r>
          </a:p>
          <a:p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name is the parameter</a:t>
            </a:r>
          </a:p>
          <a:p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‘world’ is the argument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</p:spTree>
    <p:extLst>
      <p:ext uri="{BB962C8B-B14F-4D97-AF65-F5344CB8AC3E}">
        <p14:creationId xmlns:p14="http://schemas.microsoft.com/office/powerpoint/2010/main" val="2578720143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1B145686-0513-00B7-9EB5-09594D423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60186D0B-9963-2F8E-4973-E274E4437BF7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35F17CD4-4630-DAB4-909D-3B861576AD5E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94;p11">
            <a:extLst>
              <a:ext uri="{FF2B5EF4-FFF2-40B4-BE49-F238E27FC236}">
                <a16:creationId xmlns:a16="http://schemas.microsoft.com/office/drawing/2014/main" id="{B0650D14-31C6-281E-0E5E-F9038C5DDE7C}"/>
              </a:ext>
            </a:extLst>
          </p:cNvPr>
          <p:cNvSpPr txBox="1"/>
          <p:nvPr/>
        </p:nvSpPr>
        <p:spPr>
          <a:xfrm>
            <a:off x="1426306" y="1164079"/>
            <a:ext cx="1598764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200" b="1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DOM (Document Object Model)</a:t>
            </a:r>
          </a:p>
        </p:txBody>
      </p:sp>
      <p:sp>
        <p:nvSpPr>
          <p:cNvPr id="4" name="Google Shape;102;p11">
            <a:extLst>
              <a:ext uri="{FF2B5EF4-FFF2-40B4-BE49-F238E27FC236}">
                <a16:creationId xmlns:a16="http://schemas.microsoft.com/office/drawing/2014/main" id="{A632D6C1-BF11-E07B-798C-8B3D89BDF57B}"/>
              </a:ext>
            </a:extLst>
          </p:cNvPr>
          <p:cNvSpPr txBox="1"/>
          <p:nvPr/>
        </p:nvSpPr>
        <p:spPr>
          <a:xfrm>
            <a:off x="2173538" y="2100143"/>
            <a:ext cx="12664382" cy="4924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When you open any webpage in a browser, the HTML of the page is loaded and rendered visually on the screen.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To accomplish that, the browser builds the Document Object Model of that page, which is an object oriented model of its logical structure. 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It’s a way for JavaScript to interact with the HTML and CSS on a webpage.</a:t>
            </a:r>
          </a:p>
        </p:txBody>
      </p:sp>
    </p:spTree>
    <p:extLst>
      <p:ext uri="{BB962C8B-B14F-4D97-AF65-F5344CB8AC3E}">
        <p14:creationId xmlns:p14="http://schemas.microsoft.com/office/powerpoint/2010/main" val="3580239859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555F0A24-B2E8-13E7-A45C-7DE8FFDE8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70C9C4A7-D57C-9624-20C2-D6A75C06C3F5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964588B1-178D-6CA0-E3E4-07351B239AD8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94;p11">
            <a:extLst>
              <a:ext uri="{FF2B5EF4-FFF2-40B4-BE49-F238E27FC236}">
                <a16:creationId xmlns:a16="http://schemas.microsoft.com/office/drawing/2014/main" id="{FF0568B3-B6A1-811E-A5D7-62B25328028F}"/>
              </a:ext>
            </a:extLst>
          </p:cNvPr>
          <p:cNvSpPr txBox="1"/>
          <p:nvPr/>
        </p:nvSpPr>
        <p:spPr>
          <a:xfrm>
            <a:off x="1426306" y="1164079"/>
            <a:ext cx="1598764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200" b="1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Selecting Elements</a:t>
            </a:r>
          </a:p>
        </p:txBody>
      </p:sp>
      <p:sp>
        <p:nvSpPr>
          <p:cNvPr id="4" name="Google Shape;102;p11">
            <a:extLst>
              <a:ext uri="{FF2B5EF4-FFF2-40B4-BE49-F238E27FC236}">
                <a16:creationId xmlns:a16="http://schemas.microsoft.com/office/drawing/2014/main" id="{33818B93-627F-E633-2543-AC943152E87A}"/>
              </a:ext>
            </a:extLst>
          </p:cNvPr>
          <p:cNvSpPr txBox="1"/>
          <p:nvPr/>
        </p:nvSpPr>
        <p:spPr>
          <a:xfrm>
            <a:off x="2173538" y="2100143"/>
            <a:ext cx="12664382" cy="4924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//finds element by id</a:t>
            </a:r>
          </a:p>
          <a:p>
            <a:pPr lvl="0"/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document.getElementById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(id) 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//finds elements by class name</a:t>
            </a:r>
          </a:p>
          <a:p>
            <a:pPr lvl="0"/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document.getElementsByClassName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(name) 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//finds elements by tag name</a:t>
            </a:r>
          </a:p>
          <a:p>
            <a:pPr lvl="0"/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document.getElementsByTagName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(name)</a:t>
            </a:r>
          </a:p>
        </p:txBody>
      </p:sp>
    </p:spTree>
    <p:extLst>
      <p:ext uri="{BB962C8B-B14F-4D97-AF65-F5344CB8AC3E}">
        <p14:creationId xmlns:p14="http://schemas.microsoft.com/office/powerpoint/2010/main" val="3136525342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FDFC11D5-4036-CDF4-D2C6-C4AC5F4E6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A0DCA710-21AA-FE9F-D945-9E4B43DDC7BC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F0E74E9B-FBB8-F427-5670-5C56FF20D4FA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94;p11">
            <a:extLst>
              <a:ext uri="{FF2B5EF4-FFF2-40B4-BE49-F238E27FC236}">
                <a16:creationId xmlns:a16="http://schemas.microsoft.com/office/drawing/2014/main" id="{D18DE017-EA90-C579-B807-CF81578BE19B}"/>
              </a:ext>
            </a:extLst>
          </p:cNvPr>
          <p:cNvSpPr txBox="1"/>
          <p:nvPr/>
        </p:nvSpPr>
        <p:spPr>
          <a:xfrm>
            <a:off x="1426306" y="1164079"/>
            <a:ext cx="1598764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200" b="1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Changing HTML Elements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2BFD732-0EDB-E96F-D6C8-A97067AEC0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770487"/>
              </p:ext>
            </p:extLst>
          </p:nvPr>
        </p:nvGraphicFramePr>
        <p:xfrm>
          <a:off x="1694342" y="2376845"/>
          <a:ext cx="15719610" cy="31575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9805">
                  <a:extLst>
                    <a:ext uri="{9D8B030D-6E8A-4147-A177-3AD203B41FA5}">
                      <a16:colId xmlns:a16="http://schemas.microsoft.com/office/drawing/2014/main" val="4253882064"/>
                    </a:ext>
                  </a:extLst>
                </a:gridCol>
                <a:gridCol w="7859805">
                  <a:extLst>
                    <a:ext uri="{9D8B030D-6E8A-4147-A177-3AD203B41FA5}">
                      <a16:colId xmlns:a16="http://schemas.microsoft.com/office/drawing/2014/main" val="2344359085"/>
                    </a:ext>
                  </a:extLst>
                </a:gridCol>
              </a:tblGrid>
              <a:tr h="63150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800" dirty="0">
                          <a:effectLst/>
                        </a:rPr>
                        <a:t>Property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800">
                          <a:effectLst/>
                        </a:rPr>
                        <a:t>Description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4254774853"/>
                  </a:ext>
                </a:extLst>
              </a:tr>
              <a:tr h="63150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800" i="1">
                          <a:effectLst/>
                        </a:rPr>
                        <a:t>element</a:t>
                      </a:r>
                      <a:r>
                        <a:rPr lang="en-US" sz="2800">
                          <a:effectLst/>
                        </a:rPr>
                        <a:t>.innerHTML =  </a:t>
                      </a:r>
                      <a:r>
                        <a:rPr lang="en-US" sz="2800" i="1">
                          <a:effectLst/>
                        </a:rPr>
                        <a:t>new html content</a:t>
                      </a:r>
                      <a:endParaRPr lang="en-US" sz="2800">
                        <a:effectLst/>
                      </a:endParaRP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800">
                          <a:effectLst/>
                        </a:rPr>
                        <a:t>Change the inner HTML of an element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257341140"/>
                  </a:ext>
                </a:extLst>
              </a:tr>
              <a:tr h="63150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800" i="1">
                          <a:effectLst/>
                        </a:rPr>
                        <a:t>element</a:t>
                      </a:r>
                      <a:r>
                        <a:rPr lang="en-US" sz="2800">
                          <a:effectLst/>
                        </a:rPr>
                        <a:t>.</a:t>
                      </a:r>
                      <a:r>
                        <a:rPr lang="en-US" sz="2800" i="1">
                          <a:effectLst/>
                        </a:rPr>
                        <a:t>attribute = new value</a:t>
                      </a:r>
                      <a:endParaRPr lang="en-US" sz="2800">
                        <a:effectLst/>
                      </a:endParaRP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800">
                          <a:effectLst/>
                        </a:rPr>
                        <a:t>Change the attribute value of an HTML element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4043705797"/>
                  </a:ext>
                </a:extLst>
              </a:tr>
              <a:tr h="63150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800" i="1">
                          <a:effectLst/>
                        </a:rPr>
                        <a:t>element</a:t>
                      </a:r>
                      <a:r>
                        <a:rPr lang="en-US" sz="2800">
                          <a:effectLst/>
                        </a:rPr>
                        <a:t>.style.</a:t>
                      </a:r>
                      <a:r>
                        <a:rPr lang="en-US" sz="2800" i="1">
                          <a:effectLst/>
                        </a:rPr>
                        <a:t>property = new style</a:t>
                      </a:r>
                      <a:endParaRPr lang="en-US" sz="2800">
                        <a:effectLst/>
                      </a:endParaRP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800" dirty="0">
                          <a:effectLst/>
                        </a:rPr>
                        <a:t>Change the style of an HTML element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835254724"/>
                  </a:ext>
                </a:extLst>
              </a:tr>
              <a:tr h="631502"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0262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5920768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A1C24C14-33DE-8292-94EC-B16A61897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9CC5407A-3AD5-C15A-E672-7F9F7EA1504D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FE303173-9487-2F62-96C9-4C1C8B0B3400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303025237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D9C3C694-EB11-B8D9-94E4-6B609F79D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AE8870EC-1978-AB6A-2FF5-44E9E74DAC85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53FFBEA9-9D54-EF0B-69ED-063947AED09E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217208171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2C4E6273-7FE4-0DDD-B443-15BAE9D09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DFC62FB6-0B5D-516B-48E1-D688E38BAAF8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A83027F7-207D-D670-59A2-CD66C195E122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62257054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Bold Minimal E-Commer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</TotalTime>
  <Words>1319</Words>
  <Application>Microsoft Office PowerPoint</Application>
  <PresentationFormat>Custom</PresentationFormat>
  <Paragraphs>271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Calibri</vt:lpstr>
      <vt:lpstr>Darker Grotesque</vt:lpstr>
      <vt:lpstr>Darker Grotesque Light</vt:lpstr>
      <vt:lpstr>Darker Grotesque Medium</vt:lpstr>
      <vt:lpstr>Bold Minimal E-Commerce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Administrator</dc:creator>
  <cp:lastModifiedBy>Administrator</cp:lastModifiedBy>
  <cp:revision>5</cp:revision>
  <dcterms:modified xsi:type="dcterms:W3CDTF">2025-09-19T18:59:12Z</dcterms:modified>
</cp:coreProperties>
</file>