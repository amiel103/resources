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6"/>
  </p:notesMasterIdLst>
  <p:sldIdLst>
    <p:sldId id="311" r:id="rId2"/>
    <p:sldId id="304" r:id="rId3"/>
    <p:sldId id="312" r:id="rId4"/>
    <p:sldId id="313" r:id="rId5"/>
    <p:sldId id="327" r:id="rId6"/>
    <p:sldId id="328" r:id="rId7"/>
    <p:sldId id="329" r:id="rId8"/>
    <p:sldId id="330" r:id="rId9"/>
    <p:sldId id="332" r:id="rId10"/>
    <p:sldId id="334" r:id="rId11"/>
    <p:sldId id="335" r:id="rId12"/>
    <p:sldId id="336" r:id="rId13"/>
    <p:sldId id="333" r:id="rId14"/>
    <p:sldId id="337" r:id="rId15"/>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4F77845-1C7F-3CF4-7F82-9CAC338A36F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35A4A30-A30C-8D0F-0E44-32CBC2F0E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13340D0-3350-38B4-BCF5-DD7A068E49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996035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1B4D34C-AAFD-91E3-81FD-706C85D5590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86CC0FF-FF25-4FFF-E821-4CF63F7D4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07AD495-4D2B-497E-91CB-8B01AB1897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379840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A1BFAEF-9CF4-3149-CB52-02F11A01228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61F1833-0FBE-6966-1C8A-4B89A8BF9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8BC01EE-B288-90E9-A934-58306B1E8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452666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53C9184-07C6-3969-4C37-C3FA15BAD1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0F2FBC3-9227-6355-8814-54D484D2C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7C23927D-25BD-1814-090A-E48BF1916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816867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D44767E-613D-423F-FA85-ED014BBD86B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5B8CAC5-0D46-A989-1788-4C278CC9AD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414B231-541D-DDCA-C243-B523516909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918843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8CB9478-A2EF-537C-465F-C7B6972B193B}"/>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EB281241-9E64-C58B-AC10-FC4F23CB5C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EFFC40F4-F5B6-92B2-BC01-B4DA0540BF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464099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E53FC3D-9B47-B0A3-87A7-C90B28CF179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8051CB9-B383-28A1-AC7A-7C16324A7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C650931B-B1F7-3758-54B2-3EA07730AF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957754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B9E041E-66EB-D6C9-605F-3A6292662F9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06E596E-941C-13AC-B6C0-61F782100B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0C768F0-7AB4-C71A-FC29-C866B23642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44253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4F72701-2BED-424E-4B3D-D606C93B65B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B6356B3-8E15-0C95-45C7-95644DDCFB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0BB34DF9-5304-5BE2-575F-F7F6FA0D0B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41757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447C1D4-7645-B4EA-9A65-4F23F657D2B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3E42266-9457-C5E8-0EC4-0C3B91D3D0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4B45381-C144-5B10-9A20-85D5566C2E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584404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B739CC5-1026-651C-93C8-708619406CC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46766F21-792D-3C12-FD71-637A58AC9B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1CC7C32-FA0B-7AAD-11DB-EB6186FF8E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410903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5BAE4C62-6A1B-079D-816C-891C5578935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CEF1DBD-5BB9-AA6A-5228-E59A63B67E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5EAA6D5D-6C65-4E0C-99A2-374131E64B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769421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790FEB7-A799-4CB7-BDBC-76963FADDB1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4479A2AF-D585-335F-D12E-B2951ACAC0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CE209FC-1A57-9EF9-4551-78F1C40DB9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78131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7222911-CA34-2568-1817-6D4922146FDD}"/>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D981A74-92FA-BC63-E48A-73513FCCB7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EFC7B3B1-AB39-7409-C368-3E6E561A63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95364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DA973A42-F278-8915-9695-E52621784F0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04C4E23-5165-9369-7178-E9928CD34F22}"/>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6386307-CEFF-7EA4-74D2-A84F52BD350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2C9B631C-1948-2770-71B2-0343D68F962C}"/>
              </a:ext>
            </a:extLst>
          </p:cNvPr>
          <p:cNvSpPr txBox="1"/>
          <p:nvPr/>
        </p:nvSpPr>
        <p:spPr>
          <a:xfrm>
            <a:off x="1290705" y="1472452"/>
            <a:ext cx="15987646" cy="3877985"/>
          </a:xfrm>
          <a:prstGeom prst="rect">
            <a:avLst/>
          </a:prstGeom>
          <a:noFill/>
          <a:ln>
            <a:noFill/>
          </a:ln>
        </p:spPr>
        <p:txBody>
          <a:bodyPr spcFirstLastPara="1" wrap="square" lIns="0" tIns="0" rIns="0" bIns="0" anchor="t" anchorCtr="0">
            <a:spAutoFit/>
          </a:bodyPr>
          <a:lstStyle/>
          <a:p>
            <a:pPr lvl="0" algn="just"/>
            <a:r>
              <a:rPr lang="en-US" sz="4200" dirty="0" err="1">
                <a:solidFill>
                  <a:srgbClr val="FFFFFF"/>
                </a:solidFill>
                <a:latin typeface="Darker Grotesque Medium"/>
                <a:ea typeface="Darker Grotesque Medium"/>
                <a:cs typeface="Darker Grotesque Medium"/>
                <a:sym typeface="Darker Grotesque Medium"/>
              </a:rPr>
              <a:t>FastAPI’s</a:t>
            </a:r>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APIRouter</a:t>
            </a:r>
            <a:r>
              <a:rPr lang="en-US" sz="4200" dirty="0">
                <a:solidFill>
                  <a:srgbClr val="FFFFFF"/>
                </a:solidFill>
                <a:latin typeface="Darker Grotesque Medium"/>
                <a:ea typeface="Darker Grotesque Medium"/>
                <a:cs typeface="Darker Grotesque Medium"/>
                <a:sym typeface="Darker Grotesque Medium"/>
              </a:rPr>
              <a:t> </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helps you organize your API into separate modules instead of putting everything inside one large main.py.</a:t>
            </a:r>
          </a:p>
          <a:p>
            <a:pPr lvl="0" algn="just"/>
            <a:r>
              <a:rPr lang="en-US" sz="4200" dirty="0">
                <a:solidFill>
                  <a:srgbClr val="FFFFFF"/>
                </a:solidFill>
                <a:latin typeface="Darker Grotesque Medium"/>
                <a:ea typeface="Darker Grotesque Medium"/>
                <a:cs typeface="Darker Grotesque Medium"/>
                <a:sym typeface="Darker Grotesque Medium"/>
              </a:rPr>
              <a:t>It’s especially useful when your project grows.</a:t>
            </a:r>
          </a:p>
          <a:p>
            <a:pPr lvl="0" algn="just"/>
            <a:endParaRPr lang="en-US" sz="4200"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94699955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1145260-8242-2C97-71CC-E0F7632F317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B6881DC-93D9-EEC6-2BEB-D792FF2BAF5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0D8275A-A0EB-EB61-55BE-12E64915E97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72A06E8-18B2-D824-3A38-3458DC101784}"/>
              </a:ext>
            </a:extLst>
          </p:cNvPr>
          <p:cNvSpPr txBox="1"/>
          <p:nvPr/>
        </p:nvSpPr>
        <p:spPr>
          <a:xfrm>
            <a:off x="1655002" y="1674038"/>
            <a:ext cx="15987646" cy="6463308"/>
          </a:xfrm>
          <a:prstGeom prst="rect">
            <a:avLst/>
          </a:prstGeom>
          <a:noFill/>
          <a:ln>
            <a:noFill/>
          </a:ln>
        </p:spPr>
        <p:txBody>
          <a:bodyPr spcFirstLastPara="1" wrap="square" lIns="0" tIns="0" rIns="0" bIns="0" anchor="t" anchorCtr="0">
            <a:spAutoFit/>
          </a:bodyPr>
          <a:lstStyle/>
          <a:p>
            <a:pPr lvl="0" algn="just"/>
            <a:r>
              <a:rPr lang="en-US" sz="4200" dirty="0">
                <a:solidFill>
                  <a:srgbClr val="FFFFFF"/>
                </a:solidFill>
                <a:latin typeface="Darker Grotesque Medium"/>
                <a:ea typeface="Darker Grotesque Medium"/>
                <a:cs typeface="Darker Grotesque Medium"/>
                <a:sym typeface="Darker Grotesque Medium"/>
              </a:rPr>
              <a:t>Why use </a:t>
            </a:r>
            <a:r>
              <a:rPr lang="en-US" sz="4200" dirty="0" err="1">
                <a:solidFill>
                  <a:srgbClr val="FFFFFF"/>
                </a:solidFill>
                <a:latin typeface="Darker Grotesque Medium"/>
                <a:ea typeface="Darker Grotesque Medium"/>
                <a:cs typeface="Darker Grotesque Medium"/>
                <a:sym typeface="Darker Grotesque Medium"/>
              </a:rPr>
              <a:t>APIRouter</a:t>
            </a:r>
            <a:r>
              <a:rPr lang="en-US" sz="4200" dirty="0">
                <a:solidFill>
                  <a:srgbClr val="FFFFFF"/>
                </a:solidFill>
                <a:latin typeface="Darker Grotesque Medium"/>
                <a:ea typeface="Darker Grotesque Medium"/>
                <a:cs typeface="Darker Grotesque Medium"/>
                <a:sym typeface="Darker Grotesque Medium"/>
              </a:rPr>
              <a:t>?</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 Keeps your code clean and modular</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 Helps you group routes by feature</a:t>
            </a:r>
          </a:p>
          <a:p>
            <a:pPr lvl="0" algn="just"/>
            <a:r>
              <a:rPr lang="en-US" sz="4200" dirty="0">
                <a:solidFill>
                  <a:srgbClr val="FFFFFF"/>
                </a:solidFill>
                <a:latin typeface="Darker Grotesque Medium"/>
                <a:ea typeface="Darker Grotesque Medium"/>
                <a:cs typeface="Darker Grotesque Medium"/>
                <a:sym typeface="Darker Grotesque Medium"/>
              </a:rPr>
              <a:t>	(e.g., /users, /auth, /products)</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 Allows you to reuse dependencies across grouped routes</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 Makes your app more maintainable</a:t>
            </a:r>
          </a:p>
        </p:txBody>
      </p:sp>
    </p:spTree>
    <p:extLst>
      <p:ext uri="{BB962C8B-B14F-4D97-AF65-F5344CB8AC3E}">
        <p14:creationId xmlns:p14="http://schemas.microsoft.com/office/powerpoint/2010/main" val="5093666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CA9C70D9-0864-D8BB-41E3-5C2E9B300C6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EA90797-F614-BAAC-FA95-A0C68FAE96C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6E8E378-D41D-19C1-EB3B-6725403B53F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A9ED1DE-5D2B-6199-CB7D-3F1D5C54AA38}"/>
              </a:ext>
            </a:extLst>
          </p:cNvPr>
          <p:cNvSpPr txBox="1"/>
          <p:nvPr/>
        </p:nvSpPr>
        <p:spPr>
          <a:xfrm>
            <a:off x="1521759" y="578086"/>
            <a:ext cx="15987646" cy="7755969"/>
          </a:xfrm>
          <a:prstGeom prst="rect">
            <a:avLst/>
          </a:prstGeom>
          <a:noFill/>
          <a:ln>
            <a:noFill/>
          </a:ln>
        </p:spPr>
        <p:txBody>
          <a:bodyPr spcFirstLastPara="1" wrap="square" lIns="0" tIns="0" rIns="0" bIns="0" anchor="t" anchorCtr="0">
            <a:spAutoFit/>
          </a:bodyPr>
          <a:lstStyle/>
          <a:p>
            <a:pPr lvl="0" algn="just"/>
            <a:r>
              <a:rPr lang="en-US" sz="3600" spc="-150" dirty="0">
                <a:solidFill>
                  <a:srgbClr val="FFFFFF"/>
                </a:solidFill>
                <a:latin typeface="Darker Grotesque Medium"/>
                <a:ea typeface="Darker Grotesque Medium"/>
                <a:cs typeface="Darker Grotesque Medium"/>
                <a:sym typeface="Darker Grotesque Medium"/>
              </a:rPr>
              <a:t># saved as routers/employee</a:t>
            </a:r>
          </a:p>
          <a:p>
            <a:pPr lvl="0" algn="just"/>
            <a:r>
              <a:rPr lang="en-US" sz="3600" spc="-150" dirty="0">
                <a:solidFill>
                  <a:srgbClr val="FFFFFF"/>
                </a:solidFill>
                <a:latin typeface="Darker Grotesque Medium"/>
                <a:ea typeface="Darker Grotesque Medium"/>
                <a:cs typeface="Darker Grotesque Medium"/>
                <a:sym typeface="Darker Grotesque Medium"/>
              </a:rPr>
              <a:t>from </a:t>
            </a:r>
            <a:r>
              <a:rPr lang="en-US" sz="3600" spc="-150" dirty="0" err="1">
                <a:solidFill>
                  <a:srgbClr val="FFFFFF"/>
                </a:solidFill>
                <a:latin typeface="Darker Grotesque Medium"/>
                <a:ea typeface="Darker Grotesque Medium"/>
                <a:cs typeface="Darker Grotesque Medium"/>
                <a:sym typeface="Darker Grotesque Medium"/>
              </a:rPr>
              <a:t>fastapi</a:t>
            </a:r>
            <a:r>
              <a:rPr lang="en-US" sz="3600" spc="-150" dirty="0">
                <a:solidFill>
                  <a:srgbClr val="FFFFFF"/>
                </a:solidFill>
                <a:latin typeface="Darker Grotesque Medium"/>
                <a:ea typeface="Darker Grotesque Medium"/>
                <a:cs typeface="Darker Grotesque Medium"/>
                <a:sym typeface="Darker Grotesque Medium"/>
              </a:rPr>
              <a:t> import </a:t>
            </a:r>
            <a:r>
              <a:rPr lang="en-US" sz="3600" spc="-150" dirty="0" err="1">
                <a:solidFill>
                  <a:srgbClr val="FFFFFF"/>
                </a:solidFill>
                <a:latin typeface="Darker Grotesque Medium"/>
                <a:ea typeface="Darker Grotesque Medium"/>
                <a:cs typeface="Darker Grotesque Medium"/>
                <a:sym typeface="Darker Grotesque Medium"/>
              </a:rPr>
              <a:t>APIRouter</a:t>
            </a:r>
            <a:endParaRPr lang="en-US" sz="3600" spc="-150" dirty="0">
              <a:solidFill>
                <a:srgbClr val="FFFFFF"/>
              </a:solidFill>
              <a:latin typeface="Darker Grotesque Medium"/>
              <a:ea typeface="Darker Grotesque Medium"/>
              <a:cs typeface="Darker Grotesque Medium"/>
              <a:sym typeface="Darker Grotesque Medium"/>
            </a:endParaRPr>
          </a:p>
          <a:p>
            <a:pPr lvl="0" algn="just"/>
            <a:r>
              <a:rPr lang="en-US" sz="3600" spc="-150" dirty="0">
                <a:solidFill>
                  <a:srgbClr val="FFFFFF"/>
                </a:solidFill>
                <a:latin typeface="Darker Grotesque Medium"/>
                <a:ea typeface="Darker Grotesque Medium"/>
                <a:cs typeface="Darker Grotesque Medium"/>
                <a:sym typeface="Darker Grotesque Medium"/>
              </a:rPr>
              <a:t>from </a:t>
            </a:r>
            <a:r>
              <a:rPr lang="en-US" sz="3600" spc="-150" dirty="0" err="1">
                <a:solidFill>
                  <a:srgbClr val="FFFFFF"/>
                </a:solidFill>
                <a:latin typeface="Darker Grotesque Medium"/>
                <a:ea typeface="Darker Grotesque Medium"/>
                <a:cs typeface="Darker Grotesque Medium"/>
                <a:sym typeface="Darker Grotesque Medium"/>
              </a:rPr>
              <a:t>app.models</a:t>
            </a:r>
            <a:r>
              <a:rPr lang="en-US" sz="3600" spc="-150" dirty="0">
                <a:solidFill>
                  <a:srgbClr val="FFFFFF"/>
                </a:solidFill>
                <a:latin typeface="Darker Grotesque Medium"/>
                <a:ea typeface="Darker Grotesque Medium"/>
                <a:cs typeface="Darker Grotesque Medium"/>
                <a:sym typeface="Darker Grotesque Medium"/>
              </a:rPr>
              <a:t> import employee</a:t>
            </a:r>
          </a:p>
          <a:p>
            <a:pPr lvl="0" algn="just"/>
            <a:r>
              <a:rPr lang="en-US" sz="3600" spc="-150" dirty="0">
                <a:solidFill>
                  <a:srgbClr val="FFFFFF"/>
                </a:solidFill>
                <a:latin typeface="Darker Grotesque Medium"/>
                <a:ea typeface="Darker Grotesque Medium"/>
                <a:cs typeface="Darker Grotesque Medium"/>
                <a:sym typeface="Darker Grotesque Medium"/>
              </a:rPr>
              <a:t>from </a:t>
            </a:r>
            <a:r>
              <a:rPr lang="en-US" sz="3600" spc="-150" dirty="0" err="1">
                <a:solidFill>
                  <a:srgbClr val="FFFFFF"/>
                </a:solidFill>
                <a:latin typeface="Darker Grotesque Medium"/>
                <a:ea typeface="Darker Grotesque Medium"/>
                <a:cs typeface="Darker Grotesque Medium"/>
                <a:sym typeface="Darker Grotesque Medium"/>
              </a:rPr>
              <a:t>sqlmodel</a:t>
            </a:r>
            <a:r>
              <a:rPr lang="en-US" sz="3600" spc="-150" dirty="0">
                <a:solidFill>
                  <a:srgbClr val="FFFFFF"/>
                </a:solidFill>
                <a:latin typeface="Darker Grotesque Medium"/>
                <a:ea typeface="Darker Grotesque Medium"/>
                <a:cs typeface="Darker Grotesque Medium"/>
                <a:sym typeface="Darker Grotesque Medium"/>
              </a:rPr>
              <a:t> import Session, select</a:t>
            </a:r>
          </a:p>
          <a:p>
            <a:pPr lvl="0" algn="just"/>
            <a:endParaRPr lang="en-US" sz="3600" spc="-150" dirty="0">
              <a:solidFill>
                <a:srgbClr val="FFFFFF"/>
              </a:solidFill>
              <a:latin typeface="Darker Grotesque Medium"/>
              <a:ea typeface="Darker Grotesque Medium"/>
              <a:cs typeface="Darker Grotesque Medium"/>
              <a:sym typeface="Darker Grotesque Medium"/>
            </a:endParaRPr>
          </a:p>
          <a:p>
            <a:pPr lvl="0" algn="just"/>
            <a:r>
              <a:rPr lang="en-US" sz="3600" spc="-150" dirty="0">
                <a:solidFill>
                  <a:srgbClr val="FFFFFF"/>
                </a:solidFill>
                <a:latin typeface="Darker Grotesque Medium"/>
                <a:ea typeface="Darker Grotesque Medium"/>
                <a:cs typeface="Darker Grotesque Medium"/>
                <a:sym typeface="Darker Grotesque Medium"/>
              </a:rPr>
              <a:t>router = </a:t>
            </a:r>
            <a:r>
              <a:rPr lang="en-US" sz="3600" spc="-150" dirty="0" err="1">
                <a:solidFill>
                  <a:srgbClr val="FFFFFF"/>
                </a:solidFill>
                <a:latin typeface="Darker Grotesque Medium"/>
                <a:ea typeface="Darker Grotesque Medium"/>
                <a:cs typeface="Darker Grotesque Medium"/>
                <a:sym typeface="Darker Grotesque Medium"/>
              </a:rPr>
              <a:t>APIRouter</a:t>
            </a:r>
            <a:r>
              <a:rPr lang="en-US" sz="3600" spc="-150" dirty="0">
                <a:solidFill>
                  <a:srgbClr val="FFFFFF"/>
                </a:solidFill>
                <a:latin typeface="Darker Grotesque Medium"/>
                <a:ea typeface="Darker Grotesque Medium"/>
                <a:cs typeface="Darker Grotesque Medium"/>
                <a:sym typeface="Darker Grotesque Medium"/>
              </a:rPr>
              <a:t>(prefix="/employee", tags=["employee"])</a:t>
            </a:r>
          </a:p>
          <a:p>
            <a:pPr lvl="0" algn="just"/>
            <a:r>
              <a:rPr lang="en-US" sz="3600" spc="-150" dirty="0">
                <a:solidFill>
                  <a:srgbClr val="FFFFFF"/>
                </a:solidFill>
                <a:latin typeface="Darker Grotesque Medium"/>
                <a:ea typeface="Darker Grotesque Medium"/>
                <a:cs typeface="Darker Grotesque Medium"/>
                <a:sym typeface="Darker Grotesque Medium"/>
              </a:rPr>
              <a:t>from ..database import engine</a:t>
            </a:r>
          </a:p>
          <a:p>
            <a:pPr lvl="0" algn="just"/>
            <a:endParaRPr lang="en-US" sz="3600" spc="-150" dirty="0">
              <a:solidFill>
                <a:srgbClr val="FFFFFF"/>
              </a:solidFill>
              <a:latin typeface="Darker Grotesque Medium"/>
              <a:ea typeface="Darker Grotesque Medium"/>
              <a:cs typeface="Darker Grotesque Medium"/>
              <a:sym typeface="Darker Grotesque Medium"/>
            </a:endParaRPr>
          </a:p>
          <a:p>
            <a:pPr lvl="0" algn="just"/>
            <a:r>
              <a:rPr lang="en-US" sz="3600" spc="-150" dirty="0">
                <a:solidFill>
                  <a:srgbClr val="FFFFFF"/>
                </a:solidFill>
                <a:latin typeface="Darker Grotesque Medium"/>
                <a:ea typeface="Darker Grotesque Medium"/>
                <a:cs typeface="Darker Grotesque Medium"/>
                <a:sym typeface="Darker Grotesque Medium"/>
              </a:rPr>
              <a:t>@router.get("/", summary=“employee")</a:t>
            </a:r>
          </a:p>
          <a:p>
            <a:pPr lvl="0" algn="just"/>
            <a:r>
              <a:rPr lang="en-US" sz="3600" spc="-150" dirty="0">
                <a:solidFill>
                  <a:srgbClr val="FFFFFF"/>
                </a:solidFill>
                <a:latin typeface="Darker Grotesque Medium"/>
                <a:ea typeface="Darker Grotesque Medium"/>
                <a:cs typeface="Darker Grotesque Medium"/>
                <a:sym typeface="Darker Grotesque Medium"/>
              </a:rPr>
              <a:t>async def </a:t>
            </a:r>
            <a:r>
              <a:rPr lang="en-US" sz="3600" spc="-150" dirty="0" err="1">
                <a:solidFill>
                  <a:srgbClr val="FFFFFF"/>
                </a:solidFill>
                <a:latin typeface="Darker Grotesque Medium"/>
                <a:ea typeface="Darker Grotesque Medium"/>
                <a:cs typeface="Darker Grotesque Medium"/>
                <a:sym typeface="Darker Grotesque Medium"/>
              </a:rPr>
              <a:t>get_all</a:t>
            </a:r>
            <a:r>
              <a:rPr lang="en-US" sz="3600" spc="-150" dirty="0">
                <a:solidFill>
                  <a:srgbClr val="FFFFFF"/>
                </a:solidFill>
                <a:latin typeface="Darker Grotesque Medium"/>
                <a:ea typeface="Darker Grotesque Medium"/>
                <a:cs typeface="Darker Grotesque Medium"/>
                <a:sym typeface="Darker Grotesque Medium"/>
              </a:rPr>
              <a:t>():</a:t>
            </a:r>
          </a:p>
          <a:p>
            <a:pPr lvl="0" algn="just"/>
            <a:r>
              <a:rPr lang="en-US" sz="3600" spc="-150" dirty="0">
                <a:solidFill>
                  <a:srgbClr val="FFFFFF"/>
                </a:solidFill>
                <a:latin typeface="Darker Grotesque Medium"/>
                <a:ea typeface="Darker Grotesque Medium"/>
                <a:cs typeface="Darker Grotesque Medium"/>
                <a:sym typeface="Darker Grotesque Medium"/>
              </a:rPr>
              <a:t>    with Session(engine) as session:</a:t>
            </a:r>
          </a:p>
          <a:p>
            <a:pPr lvl="0" algn="just"/>
            <a:r>
              <a:rPr lang="en-US" sz="3600" spc="-150" dirty="0">
                <a:solidFill>
                  <a:srgbClr val="FFFFFF"/>
                </a:solidFill>
                <a:latin typeface="Darker Grotesque Medium"/>
                <a:ea typeface="Darker Grotesque Medium"/>
                <a:cs typeface="Darker Grotesque Medium"/>
                <a:sym typeface="Darker Grotesque Medium"/>
              </a:rPr>
              <a:t>        statement = select( employee)</a:t>
            </a:r>
          </a:p>
          <a:p>
            <a:pPr lvl="0" algn="just"/>
            <a:r>
              <a:rPr lang="en-US" sz="3600" spc="-150" dirty="0">
                <a:solidFill>
                  <a:srgbClr val="FFFFFF"/>
                </a:solidFill>
                <a:latin typeface="Darker Grotesque Medium"/>
                <a:ea typeface="Darker Grotesque Medium"/>
                <a:cs typeface="Darker Grotesque Medium"/>
                <a:sym typeface="Darker Grotesque Medium"/>
              </a:rPr>
              <a:t>        results = </a:t>
            </a:r>
            <a:r>
              <a:rPr lang="en-US" sz="3600" spc="-150" dirty="0" err="1">
                <a:solidFill>
                  <a:srgbClr val="FFFFFF"/>
                </a:solidFill>
                <a:latin typeface="Darker Grotesque Medium"/>
                <a:ea typeface="Darker Grotesque Medium"/>
                <a:cs typeface="Darker Grotesque Medium"/>
                <a:sym typeface="Darker Grotesque Medium"/>
              </a:rPr>
              <a:t>session.exec</a:t>
            </a:r>
            <a:r>
              <a:rPr lang="en-US" sz="3600" spc="-150" dirty="0">
                <a:solidFill>
                  <a:srgbClr val="FFFFFF"/>
                </a:solidFill>
                <a:latin typeface="Darker Grotesque Medium"/>
                <a:ea typeface="Darker Grotesque Medium"/>
                <a:cs typeface="Darker Grotesque Medium"/>
                <a:sym typeface="Darker Grotesque Medium"/>
              </a:rPr>
              <a:t>(statement).all()</a:t>
            </a:r>
          </a:p>
          <a:p>
            <a:pPr lvl="0" algn="just"/>
            <a:r>
              <a:rPr lang="en-US" sz="3600" spc="-150" dirty="0">
                <a:solidFill>
                  <a:srgbClr val="FFFFFF"/>
                </a:solidFill>
                <a:latin typeface="Darker Grotesque Medium"/>
                <a:ea typeface="Darker Grotesque Medium"/>
                <a:cs typeface="Darker Grotesque Medium"/>
                <a:sym typeface="Darker Grotesque Medium"/>
              </a:rPr>
              <a:t>        return results</a:t>
            </a:r>
          </a:p>
        </p:txBody>
      </p:sp>
    </p:spTree>
    <p:extLst>
      <p:ext uri="{BB962C8B-B14F-4D97-AF65-F5344CB8AC3E}">
        <p14:creationId xmlns:p14="http://schemas.microsoft.com/office/powerpoint/2010/main" val="413764098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E6E6A19-3E76-D19B-BAA3-392733266FB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61004BB-0DCA-5125-AA5D-043C0255F80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30943E6-FB37-4B17-FA22-492F255815B8}"/>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0CA7758-AC86-6E25-DA9F-15FEECB32801}"/>
              </a:ext>
            </a:extLst>
          </p:cNvPr>
          <p:cNvSpPr txBox="1"/>
          <p:nvPr/>
        </p:nvSpPr>
        <p:spPr>
          <a:xfrm>
            <a:off x="1454523" y="1119962"/>
            <a:ext cx="15987646" cy="4431983"/>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from </a:t>
            </a:r>
            <a:r>
              <a:rPr lang="en-US" sz="3600" dirty="0" err="1">
                <a:solidFill>
                  <a:srgbClr val="FFFFFF"/>
                </a:solidFill>
                <a:latin typeface="Darker Grotesque Medium"/>
                <a:ea typeface="Darker Grotesque Medium"/>
                <a:cs typeface="Darker Grotesque Medium"/>
                <a:sym typeface="Darker Grotesque Medium"/>
              </a:rPr>
              <a:t>app.routers</a:t>
            </a:r>
            <a:r>
              <a:rPr lang="en-US" sz="3600" dirty="0">
                <a:solidFill>
                  <a:srgbClr val="FFFFFF"/>
                </a:solidFill>
                <a:latin typeface="Darker Grotesque Medium"/>
                <a:ea typeface="Darker Grotesque Medium"/>
                <a:cs typeface="Darker Grotesque Medium"/>
                <a:sym typeface="Darker Grotesque Medium"/>
              </a:rPr>
              <a:t> import employee</a:t>
            </a:r>
          </a:p>
          <a:p>
            <a:pPr lvl="0" algn="just"/>
            <a:r>
              <a:rPr lang="en-US" sz="3600" dirty="0">
                <a:solidFill>
                  <a:srgbClr val="FFFFFF"/>
                </a:solidFill>
                <a:latin typeface="Darker Grotesque Medium"/>
                <a:ea typeface="Darker Grotesque Medium"/>
                <a:cs typeface="Darker Grotesque Medium"/>
                <a:sym typeface="Darker Grotesque Medium"/>
              </a:rPr>
              <a:t>from </a:t>
            </a:r>
            <a:r>
              <a:rPr lang="en-US" sz="3600" dirty="0" err="1">
                <a:solidFill>
                  <a:srgbClr val="FFFFFF"/>
                </a:solidFill>
                <a:latin typeface="Darker Grotesque Medium"/>
                <a:ea typeface="Darker Grotesque Medium"/>
                <a:cs typeface="Darker Grotesque Medium"/>
                <a:sym typeface="Darker Grotesque Medium"/>
              </a:rPr>
              <a:t>contextlib</a:t>
            </a:r>
            <a:r>
              <a:rPr lang="en-US" sz="3600" dirty="0">
                <a:solidFill>
                  <a:srgbClr val="FFFFFF"/>
                </a:solidFill>
                <a:latin typeface="Darker Grotesque Medium"/>
                <a:ea typeface="Darker Grotesque Medium"/>
                <a:cs typeface="Darker Grotesque Medium"/>
                <a:sym typeface="Darker Grotesque Medium"/>
              </a:rPr>
              <a:t> import </a:t>
            </a:r>
            <a:r>
              <a:rPr lang="en-US" sz="3600" dirty="0" err="1">
                <a:solidFill>
                  <a:srgbClr val="FFFFFF"/>
                </a:solidFill>
                <a:latin typeface="Darker Grotesque Medium"/>
                <a:ea typeface="Darker Grotesque Medium"/>
                <a:cs typeface="Darker Grotesque Medium"/>
                <a:sym typeface="Darker Grotesque Medium"/>
              </a:rPr>
              <a:t>asynccontextmanager</a:t>
            </a:r>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from </a:t>
            </a:r>
            <a:r>
              <a:rPr lang="en-US" sz="3600" dirty="0" err="1">
                <a:solidFill>
                  <a:srgbClr val="FFFFFF"/>
                </a:solidFill>
                <a:latin typeface="Darker Grotesque Medium"/>
                <a:ea typeface="Darker Grotesque Medium"/>
                <a:cs typeface="Darker Grotesque Medium"/>
                <a:sym typeface="Darker Grotesque Medium"/>
              </a:rPr>
              <a:t>app.database</a:t>
            </a:r>
            <a:r>
              <a:rPr lang="en-US" sz="3600" dirty="0">
                <a:solidFill>
                  <a:srgbClr val="FFFFFF"/>
                </a:solidFill>
                <a:latin typeface="Darker Grotesque Medium"/>
                <a:ea typeface="Darker Grotesque Medium"/>
                <a:cs typeface="Darker Grotesque Medium"/>
                <a:sym typeface="Darker Grotesque Medium"/>
              </a:rPr>
              <a:t> import </a:t>
            </a:r>
            <a:r>
              <a:rPr lang="en-US" sz="3600" dirty="0" err="1">
                <a:solidFill>
                  <a:srgbClr val="FFFFFF"/>
                </a:solidFill>
                <a:latin typeface="Darker Grotesque Medium"/>
                <a:ea typeface="Darker Grotesque Medium"/>
                <a:cs typeface="Darker Grotesque Medium"/>
                <a:sym typeface="Darker Grotesque Medium"/>
              </a:rPr>
              <a:t>create_db_and_tables</a:t>
            </a:r>
            <a:r>
              <a:rPr lang="en-US" sz="3600" dirty="0">
                <a:solidFill>
                  <a:srgbClr val="FFFFFF"/>
                </a:solidFill>
                <a:latin typeface="Darker Grotesque Medium"/>
                <a:ea typeface="Darker Grotesque Medium"/>
                <a:cs typeface="Darker Grotesque Medium"/>
                <a:sym typeface="Darker Grotesque Medium"/>
              </a:rPr>
              <a:t>, engine</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app = </a:t>
            </a:r>
            <a:r>
              <a:rPr lang="en-US" sz="3600" dirty="0" err="1">
                <a:solidFill>
                  <a:srgbClr val="FFFFFF"/>
                </a:solidFill>
                <a:latin typeface="Darker Grotesque Medium"/>
                <a:ea typeface="Darker Grotesque Medium"/>
                <a:cs typeface="Darker Grotesque Medium"/>
                <a:sym typeface="Darker Grotesque Medium"/>
              </a:rPr>
              <a:t>FastAPI</a:t>
            </a:r>
            <a:r>
              <a:rPr lang="en-US" sz="3600" dirty="0">
                <a:solidFill>
                  <a:srgbClr val="FFFFFF"/>
                </a:solidFill>
                <a:latin typeface="Darker Grotesque Medium"/>
                <a:ea typeface="Darker Grotesque Medium"/>
                <a:cs typeface="Darker Grotesque Medium"/>
                <a:sym typeface="Darker Grotesque Medium"/>
              </a:rPr>
              <a:t>(lifespan=lifespan)</a:t>
            </a:r>
          </a:p>
          <a:p>
            <a:pPr lvl="0" algn="just"/>
            <a:r>
              <a:rPr lang="en-US" sz="3600" dirty="0" err="1">
                <a:solidFill>
                  <a:srgbClr val="FFFFFF"/>
                </a:solidFill>
                <a:latin typeface="Darker Grotesque Medium"/>
                <a:ea typeface="Darker Grotesque Medium"/>
                <a:cs typeface="Darker Grotesque Medium"/>
                <a:sym typeface="Darker Grotesque Medium"/>
              </a:rPr>
              <a:t>app.include_router</a:t>
            </a:r>
            <a:r>
              <a:rPr lang="en-US" sz="3600" dirty="0">
                <a:solidFill>
                  <a:srgbClr val="FFFFFF"/>
                </a:solidFill>
                <a:latin typeface="Darker Grotesque Medium"/>
                <a:ea typeface="Darker Grotesque Medium"/>
                <a:cs typeface="Darker Grotesque Medium"/>
                <a:sym typeface="Darker Grotesque Medium"/>
              </a:rPr>
              <a:t>(</a:t>
            </a:r>
            <a:r>
              <a:rPr lang="en-US" sz="3600" dirty="0" err="1">
                <a:solidFill>
                  <a:srgbClr val="FFFFFF"/>
                </a:solidFill>
                <a:latin typeface="Darker Grotesque Medium"/>
                <a:ea typeface="Darker Grotesque Medium"/>
                <a:cs typeface="Darker Grotesque Medium"/>
                <a:sym typeface="Darker Grotesque Medium"/>
              </a:rPr>
              <a:t>employee.router</a:t>
            </a:r>
            <a:r>
              <a:rPr lang="en-US" sz="3600" dirty="0">
                <a:solidFill>
                  <a:srgbClr val="FFFFFF"/>
                </a:solidFill>
                <a:latin typeface="Darker Grotesque Medium"/>
                <a:ea typeface="Darker Grotesque Medium"/>
                <a:cs typeface="Darker Grotesque Medium"/>
                <a:sym typeface="Darker Grotesque Medium"/>
              </a:rPr>
              <a:t>)</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27866043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091C218-3167-2904-C35D-7F30CC4E1B3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E812AAC-9ED9-B58C-931E-011B4564FD2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163769F-AFC6-21CC-632E-A881866D4EF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0F80CFC-F93F-CFF6-3B1A-D12C8C23CC8D}"/>
              </a:ext>
            </a:extLst>
          </p:cNvPr>
          <p:cNvSpPr txBox="1"/>
          <p:nvPr/>
        </p:nvSpPr>
        <p:spPr>
          <a:xfrm>
            <a:off x="1454523" y="1119962"/>
            <a:ext cx="15987646" cy="4431983"/>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Encryption and Hashing</a:t>
            </a: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Encryption is a reversible two-way process that scrambles data to ensure confidentiality, while hashing is an irreversible one-way process that creates a unique digital fingerprint to verify data integrity. Encryption requires a key to both encrypt and decrypt data, making it useful for securing data in transit or at rest, whereas hashing cannot be reversed and is used for verifying that data has not been altered, such as in password storage or checking file integrity. </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83118766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92D20B4-A22A-3852-7DA6-6EFD79896D2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6B548E0-53DC-EEF7-1D6E-0A206C90C33B}"/>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A9B28E53-8EE0-0393-BB14-A56D5E6A143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7D362B0-22FB-EDF9-3A1C-3E2C1B028A4A}"/>
              </a:ext>
            </a:extLst>
          </p:cNvPr>
          <p:cNvSpPr txBox="1"/>
          <p:nvPr/>
        </p:nvSpPr>
        <p:spPr>
          <a:xfrm>
            <a:off x="1454523" y="1119962"/>
            <a:ext cx="15987646" cy="5539978"/>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Encryption</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Process: Two-way (reversible).</a:t>
            </a:r>
          </a:p>
          <a:p>
            <a:pPr lvl="0" algn="just"/>
            <a:r>
              <a:rPr lang="en-US" sz="3600" dirty="0">
                <a:solidFill>
                  <a:srgbClr val="FFFFFF"/>
                </a:solidFill>
                <a:latin typeface="Darker Grotesque Medium"/>
                <a:ea typeface="Darker Grotesque Medium"/>
                <a:cs typeface="Darker Grotesque Medium"/>
                <a:sym typeface="Darker Grotesque Medium"/>
              </a:rPr>
              <a:t>Purpose: To keep data secret and confidential.</a:t>
            </a:r>
          </a:p>
          <a:p>
            <a:pPr lvl="0" algn="just"/>
            <a:r>
              <a:rPr lang="en-US" sz="3600" dirty="0">
                <a:solidFill>
                  <a:srgbClr val="FFFFFF"/>
                </a:solidFill>
                <a:latin typeface="Darker Grotesque Medium"/>
                <a:ea typeface="Darker Grotesque Medium"/>
                <a:cs typeface="Darker Grotesque Medium"/>
                <a:sym typeface="Darker Grotesque Medium"/>
              </a:rPr>
              <a:t>How it works: Transforms plaintext into unreadable ciphertext using a key, which can be transformed back to the original plaintext using the correct decryption key.</a:t>
            </a:r>
          </a:p>
          <a:p>
            <a:pPr lvl="0" algn="just"/>
            <a:r>
              <a:rPr lang="en-US" sz="3600" dirty="0">
                <a:solidFill>
                  <a:srgbClr val="FFFFFF"/>
                </a:solidFill>
                <a:latin typeface="Darker Grotesque Medium"/>
                <a:ea typeface="Darker Grotesque Medium"/>
                <a:cs typeface="Darker Grotesque Medium"/>
                <a:sym typeface="Darker Grotesque Medium"/>
              </a:rPr>
              <a:t>Use cases: Securing data in transit (like through an SSL/TLS connection) and protecting sensitive data at rest.</a:t>
            </a:r>
          </a:p>
          <a:p>
            <a:pPr lvl="0" algn="just"/>
            <a:r>
              <a:rPr lang="en-US" sz="3600" dirty="0">
                <a:solidFill>
                  <a:srgbClr val="FFFFFF"/>
                </a:solidFill>
                <a:latin typeface="Darker Grotesque Medium"/>
                <a:ea typeface="Darker Grotesque Medium"/>
                <a:cs typeface="Darker Grotesque Medium"/>
                <a:sym typeface="Darker Grotesque Medium"/>
              </a:rPr>
              <a:t>Key types: Requires a key for decryption.</a:t>
            </a:r>
          </a:p>
          <a:p>
            <a:pPr lvl="0" algn="just"/>
            <a:r>
              <a:rPr lang="en-US" sz="3600" dirty="0">
                <a:solidFill>
                  <a:srgbClr val="FFFFFF"/>
                </a:solidFill>
                <a:latin typeface="Darker Grotesque Medium"/>
                <a:ea typeface="Darker Grotesque Medium"/>
                <a:cs typeface="Darker Grotesque Medium"/>
                <a:sym typeface="Darker Grotesque Medium"/>
              </a:rPr>
              <a:t>Output: Variable length. </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26212172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E053E9A-1854-6055-4976-3596CED950DE}"/>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CD02F3B-B9B9-E6B1-B0EA-519752131FF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72BB89AB-1616-AA8E-D3A4-11061F770AB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95353C1-F363-9B10-6A65-480FA64EDB9A}"/>
              </a:ext>
            </a:extLst>
          </p:cNvPr>
          <p:cNvSpPr txBox="1"/>
          <p:nvPr/>
        </p:nvSpPr>
        <p:spPr>
          <a:xfrm>
            <a:off x="1290705" y="178668"/>
            <a:ext cx="15987646" cy="8863965"/>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Passwords should not be stored in plaintext.</a:t>
            </a: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import </a:t>
            </a:r>
            <a:r>
              <a:rPr lang="en-US" sz="3600" dirty="0" err="1">
                <a:solidFill>
                  <a:srgbClr val="FFFFFF"/>
                </a:solidFill>
                <a:latin typeface="Darker Grotesque Medium"/>
                <a:ea typeface="Darker Grotesque Medium"/>
                <a:cs typeface="Darker Grotesque Medium"/>
                <a:sym typeface="Darker Grotesque Medium"/>
              </a:rPr>
              <a:t>hashlib</a:t>
            </a:r>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err="1">
                <a:solidFill>
                  <a:srgbClr val="FFFFFF"/>
                </a:solidFill>
                <a:latin typeface="Darker Grotesque Medium"/>
                <a:ea typeface="Darker Grotesque Medium"/>
                <a:cs typeface="Darker Grotesque Medium"/>
                <a:sym typeface="Darker Grotesque Medium"/>
              </a:rPr>
              <a:t>pwd</a:t>
            </a:r>
            <a:r>
              <a:rPr lang="en-US" sz="3600" dirty="0">
                <a:solidFill>
                  <a:srgbClr val="FFFFFF"/>
                </a:solidFill>
                <a:latin typeface="Darker Grotesque Medium"/>
                <a:ea typeface="Darker Grotesque Medium"/>
                <a:cs typeface="Darker Grotesque Medium"/>
                <a:sym typeface="Darker Grotesque Medium"/>
              </a:rPr>
              <a:t> = ‘secure password'</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hashed = hashlib.sha256(</a:t>
            </a:r>
            <a:r>
              <a:rPr lang="en-US" sz="3600" dirty="0" err="1">
                <a:solidFill>
                  <a:srgbClr val="FFFFFF"/>
                </a:solidFill>
                <a:latin typeface="Darker Grotesque Medium"/>
                <a:ea typeface="Darker Grotesque Medium"/>
                <a:cs typeface="Darker Grotesque Medium"/>
                <a:sym typeface="Darker Grotesque Medium"/>
              </a:rPr>
              <a:t>pwd.encode</a:t>
            </a:r>
            <a:r>
              <a:rPr lang="en-US" sz="3600" dirty="0">
                <a:solidFill>
                  <a:srgbClr val="FFFFFF"/>
                </a:solidFill>
                <a:latin typeface="Darker Grotesque Medium"/>
                <a:ea typeface="Darker Grotesque Medium"/>
                <a:cs typeface="Darker Grotesque Medium"/>
                <a:sym typeface="Darker Grotesque Medium"/>
              </a:rPr>
              <a:t>().</a:t>
            </a:r>
            <a:r>
              <a:rPr lang="en-US" sz="3600" dirty="0" err="1">
                <a:solidFill>
                  <a:srgbClr val="FFFFFF"/>
                </a:solidFill>
                <a:latin typeface="Darker Grotesque Medium"/>
                <a:ea typeface="Darker Grotesque Medium"/>
                <a:cs typeface="Darker Grotesque Medium"/>
                <a:sym typeface="Darker Grotesque Medium"/>
              </a:rPr>
              <a:t>hexdigest</a:t>
            </a:r>
            <a:r>
              <a:rPr lang="en-US" sz="3600" dirty="0">
                <a:solidFill>
                  <a:srgbClr val="FFFFFF"/>
                </a:solidFill>
                <a:latin typeface="Darker Grotesque Medium"/>
                <a:ea typeface="Darker Grotesque Medium"/>
                <a:cs typeface="Darker Grotesque Medium"/>
                <a:sym typeface="Darker Grotesque Medium"/>
              </a:rPr>
              <a:t>())</a:t>
            </a:r>
          </a:p>
          <a:p>
            <a:pPr lvl="0" algn="just"/>
            <a:r>
              <a:rPr lang="en-US" sz="3600" dirty="0">
                <a:solidFill>
                  <a:srgbClr val="FFFFFF"/>
                </a:solidFill>
                <a:latin typeface="Darker Grotesque Medium"/>
                <a:ea typeface="Darker Grotesque Medium"/>
                <a:cs typeface="Darker Grotesque Medium"/>
                <a:sym typeface="Darker Grotesque Medium"/>
              </a:rPr>
              <a:t>print(</a:t>
            </a:r>
            <a:r>
              <a:rPr lang="en-US" sz="3600" dirty="0" err="1">
                <a:solidFill>
                  <a:srgbClr val="FFFFFF"/>
                </a:solidFill>
                <a:latin typeface="Darker Grotesque Medium"/>
                <a:ea typeface="Darker Grotesque Medium"/>
                <a:cs typeface="Darker Grotesque Medium"/>
                <a:sym typeface="Darker Grotesque Medium"/>
              </a:rPr>
              <a:t>hashed.hexdigest</a:t>
            </a:r>
            <a:r>
              <a:rPr lang="en-US" sz="3600" dirty="0">
                <a:solidFill>
                  <a:srgbClr val="FFFFFF"/>
                </a:solidFill>
                <a:latin typeface="Darker Grotesque Medium"/>
                <a:ea typeface="Darker Grotesque Medium"/>
                <a:cs typeface="Darker Grotesque Medium"/>
                <a:sym typeface="Darker Grotesque Medium"/>
              </a:rPr>
              <a:t>())</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i="0" u="none" strike="noStrike" cap="none" dirty="0">
                <a:solidFill>
                  <a:srgbClr val="FFFFFF"/>
                </a:solidFill>
                <a:latin typeface="Darker Grotesque Medium"/>
                <a:ea typeface="Darker Grotesque Medium"/>
                <a:cs typeface="Darker Grotesque Medium"/>
                <a:sym typeface="Darker Grotesque Medium"/>
              </a:rPr>
              <a:t>#</a:t>
            </a:r>
            <a:r>
              <a:rPr lang="en-US" sz="3600" dirty="0">
                <a:solidFill>
                  <a:srgbClr val="FFFFFF"/>
                </a:solidFill>
                <a:latin typeface="Darker Grotesque Medium"/>
                <a:ea typeface="Darker Grotesque Medium"/>
                <a:cs typeface="Darker Grotesque Medium"/>
                <a:sym typeface="Darker Grotesque Medium"/>
              </a:rPr>
              <a:t>c0b4c6be95c976bea97cb21c18771e09a6446b5b6b8a393b38d4774d755370fe</a:t>
            </a:r>
          </a:p>
          <a:p>
            <a:pPr lvl="0" algn="just"/>
            <a:r>
              <a:rPr lang="en-US" sz="3600" i="0" u="none" strike="noStrike" cap="none" dirty="0">
                <a:solidFill>
                  <a:srgbClr val="FFFFFF"/>
                </a:solidFill>
                <a:latin typeface="Darker Grotesque Medium"/>
                <a:ea typeface="Darker Grotesque Medium"/>
                <a:cs typeface="Darker Grotesque Medium"/>
                <a:sym typeface="Darker Grotesque Medium"/>
              </a:rPr>
              <a:t># checking of password</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err="1">
                <a:solidFill>
                  <a:srgbClr val="FFFFFF"/>
                </a:solidFill>
                <a:latin typeface="Darker Grotesque Medium"/>
                <a:ea typeface="Darker Grotesque Medium"/>
                <a:cs typeface="Darker Grotesque Medium"/>
                <a:sym typeface="Darker Grotesque Medium"/>
              </a:rPr>
              <a:t>Input_password</a:t>
            </a:r>
            <a:r>
              <a:rPr lang="en-US" sz="3600" dirty="0">
                <a:solidFill>
                  <a:srgbClr val="FFFFFF"/>
                </a:solidFill>
                <a:latin typeface="Darker Grotesque Medium"/>
                <a:ea typeface="Darker Grotesque Medium"/>
                <a:cs typeface="Darker Grotesque Medium"/>
                <a:sym typeface="Darker Grotesque Medium"/>
              </a:rPr>
              <a:t> = input()</a:t>
            </a:r>
          </a:p>
          <a:p>
            <a:pPr lvl="0" algn="just"/>
            <a:r>
              <a:rPr lang="en-US" sz="3600" dirty="0" err="1">
                <a:solidFill>
                  <a:srgbClr val="FFFFFF"/>
                </a:solidFill>
                <a:latin typeface="Darker Grotesque Medium"/>
                <a:ea typeface="Darker Grotesque Medium"/>
                <a:cs typeface="Darker Grotesque Medium"/>
                <a:sym typeface="Darker Grotesque Medium"/>
              </a:rPr>
              <a:t>Input_hashed</a:t>
            </a:r>
            <a:r>
              <a:rPr lang="en-US" sz="3600" dirty="0">
                <a:solidFill>
                  <a:srgbClr val="FFFFFF"/>
                </a:solidFill>
                <a:latin typeface="Darker Grotesque Medium"/>
                <a:ea typeface="Darker Grotesque Medium"/>
                <a:cs typeface="Darker Grotesque Medium"/>
                <a:sym typeface="Darker Grotesque Medium"/>
              </a:rPr>
              <a:t> = hashlib.sha256(</a:t>
            </a:r>
            <a:r>
              <a:rPr lang="en-US" sz="3600" dirty="0" err="1">
                <a:solidFill>
                  <a:srgbClr val="FFFFFF"/>
                </a:solidFill>
                <a:latin typeface="Darker Grotesque Medium"/>
                <a:ea typeface="Darker Grotesque Medium"/>
                <a:cs typeface="Darker Grotesque Medium"/>
                <a:sym typeface="Darker Grotesque Medium"/>
              </a:rPr>
              <a:t>Input_password.encode</a:t>
            </a:r>
            <a:r>
              <a:rPr lang="en-US" sz="3600" dirty="0">
                <a:solidFill>
                  <a:srgbClr val="FFFFFF"/>
                </a:solidFill>
                <a:latin typeface="Darker Grotesque Medium"/>
                <a:ea typeface="Darker Grotesque Medium"/>
                <a:cs typeface="Darker Grotesque Medium"/>
                <a:sym typeface="Darker Grotesque Medium"/>
              </a:rPr>
              <a:t>()).</a:t>
            </a:r>
            <a:r>
              <a:rPr lang="en-US" sz="3600" dirty="0" err="1">
                <a:solidFill>
                  <a:srgbClr val="FFFFFF"/>
                </a:solidFill>
                <a:latin typeface="Darker Grotesque Medium"/>
                <a:ea typeface="Darker Grotesque Medium"/>
                <a:cs typeface="Darker Grotesque Medium"/>
                <a:sym typeface="Darker Grotesque Medium"/>
              </a:rPr>
              <a:t>hexdigest</a:t>
            </a:r>
            <a:r>
              <a:rPr lang="en-US" sz="3600" dirty="0">
                <a:solidFill>
                  <a:srgbClr val="FFFFFF"/>
                </a:solidFill>
                <a:latin typeface="Darker Grotesque Medium"/>
                <a:ea typeface="Darker Grotesque Medium"/>
                <a:cs typeface="Darker Grotesque Medium"/>
                <a:sym typeface="Darker Grotesque Medium"/>
              </a:rPr>
              <a:t>()</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if( hashed == </a:t>
            </a:r>
            <a:r>
              <a:rPr lang="en-US" sz="3600" dirty="0" err="1">
                <a:solidFill>
                  <a:srgbClr val="FFFFFF"/>
                </a:solidFill>
                <a:latin typeface="Darker Grotesque Medium"/>
                <a:ea typeface="Darker Grotesque Medium"/>
                <a:cs typeface="Darker Grotesque Medium"/>
                <a:sym typeface="Darker Grotesque Medium"/>
              </a:rPr>
              <a:t>Input_hashed</a:t>
            </a:r>
            <a:r>
              <a:rPr lang="en-US" sz="3600" dirty="0">
                <a:solidFill>
                  <a:srgbClr val="FFFFFF"/>
                </a:solidFill>
                <a:latin typeface="Darker Grotesque Medium"/>
                <a:ea typeface="Darker Grotesque Medium"/>
                <a:cs typeface="Darker Grotesque Medium"/>
                <a:sym typeface="Darker Grotesque Medium"/>
              </a:rPr>
              <a:t>):</a:t>
            </a:r>
          </a:p>
          <a:p>
            <a:pPr lvl="0" algn="just"/>
            <a:r>
              <a:rPr lang="en-US" sz="3600" dirty="0">
                <a:solidFill>
                  <a:srgbClr val="FFFFFF"/>
                </a:solidFill>
                <a:latin typeface="Darker Grotesque Medium"/>
                <a:ea typeface="Darker Grotesque Medium"/>
                <a:cs typeface="Darker Grotesque Medium"/>
                <a:sym typeface="Darker Grotesque Medium"/>
              </a:rPr>
              <a:t>    print("login success")</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03360262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DA9C30C8-AE20-1C48-EEE6-6FC8A9515F67}"/>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AC72309-131A-7514-B68E-80AE5443D93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808A9F3-1D37-963D-8214-0B246750A47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35FBC76-AB76-34F0-8B0D-0FEEF28E5916}"/>
              </a:ext>
            </a:extLst>
          </p:cNvPr>
          <p:cNvSpPr txBox="1"/>
          <p:nvPr/>
        </p:nvSpPr>
        <p:spPr>
          <a:xfrm>
            <a:off x="1454523" y="1119962"/>
            <a:ext cx="15987646" cy="6093976"/>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What is a DDoS attack? </a:t>
            </a:r>
          </a:p>
          <a:p>
            <a:pPr lvl="0" algn="just"/>
            <a:r>
              <a:rPr lang="en-US" sz="3600" dirty="0">
                <a:solidFill>
                  <a:srgbClr val="FFFFFF"/>
                </a:solidFill>
                <a:latin typeface="Darker Grotesque Medium"/>
                <a:ea typeface="Darker Grotesque Medium"/>
                <a:cs typeface="Darker Grotesque Medium"/>
                <a:sym typeface="Darker Grotesque Medium"/>
              </a:rPr>
              <a:t>A DDoS (Distributed Denial of Service) attack is when many computers or bots send tons of requests to your server at the same time, trying to overload it.</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Think of:</a:t>
            </a:r>
          </a:p>
          <a:p>
            <a:pPr lvl="0" algn="just"/>
            <a:r>
              <a:rPr lang="en-US" sz="3600" dirty="0">
                <a:solidFill>
                  <a:srgbClr val="FFFFFF"/>
                </a:solidFill>
                <a:latin typeface="Darker Grotesque Medium"/>
                <a:ea typeface="Darker Grotesque Medium"/>
                <a:cs typeface="Darker Grotesque Medium"/>
                <a:sym typeface="Darker Grotesque Medium"/>
              </a:rPr>
              <a:t>Your store has 1 cashier.</a:t>
            </a:r>
          </a:p>
          <a:p>
            <a:pPr lvl="0" algn="just"/>
            <a:r>
              <a:rPr lang="en-US" sz="3600" dirty="0">
                <a:solidFill>
                  <a:srgbClr val="FFFFFF"/>
                </a:solidFill>
                <a:latin typeface="Darker Grotesque Medium"/>
                <a:ea typeface="Darker Grotesque Medium"/>
                <a:cs typeface="Darker Grotesque Medium"/>
                <a:sym typeface="Darker Grotesque Medium"/>
              </a:rPr>
              <a:t>Suddenly 10,000 people rush in and ask questions nonstop.</a:t>
            </a:r>
          </a:p>
          <a:p>
            <a:pPr lvl="0" algn="just"/>
            <a:r>
              <a:rPr lang="en-US" sz="3600" dirty="0">
                <a:solidFill>
                  <a:srgbClr val="FFFFFF"/>
                </a:solidFill>
                <a:latin typeface="Darker Grotesque Medium"/>
                <a:ea typeface="Darker Grotesque Medium"/>
                <a:cs typeface="Darker Grotesque Medium"/>
                <a:sym typeface="Darker Grotesque Medium"/>
              </a:rPr>
              <a:t>Real customers can’t get service because the cashier is overwhelmed.</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A DDoS attack tries to crash your server or make it super slow by sending way more traffic than it can handle.</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19575439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30A251C-67F9-CCD4-ECAE-4BE9611B87F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D2AA6DE-0C4B-CD21-1D39-5A8C2D1CAB77}"/>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6A9D3DC-15C9-E192-04AC-9B500E7A998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B0D067C8-9B08-55D5-C85C-08B40CA14787}"/>
              </a:ext>
            </a:extLst>
          </p:cNvPr>
          <p:cNvSpPr txBox="1"/>
          <p:nvPr/>
        </p:nvSpPr>
        <p:spPr>
          <a:xfrm>
            <a:off x="1290705" y="259350"/>
            <a:ext cx="15987646" cy="8371523"/>
          </a:xfrm>
          <a:prstGeom prst="rect">
            <a:avLst/>
          </a:prstGeom>
          <a:noFill/>
          <a:ln>
            <a:noFill/>
          </a:ln>
        </p:spPr>
        <p:txBody>
          <a:bodyPr spcFirstLastPara="1" wrap="square" lIns="0" tIns="0" rIns="0" bIns="0" anchor="t" anchorCtr="0">
            <a:spAutoFit/>
          </a:bodyPr>
          <a:lstStyle/>
          <a:p>
            <a:pPr lvl="0" algn="just"/>
            <a:r>
              <a:rPr lang="en-US" sz="3200" dirty="0">
                <a:solidFill>
                  <a:srgbClr val="FFFFFF"/>
                </a:solidFill>
                <a:latin typeface="Darker Grotesque Medium"/>
                <a:ea typeface="Darker Grotesque Medium"/>
                <a:cs typeface="Darker Grotesque Medium"/>
                <a:sym typeface="Darker Grotesque Medium"/>
              </a:rPr>
              <a:t>from </a:t>
            </a:r>
            <a:r>
              <a:rPr lang="en-US" sz="3200" dirty="0" err="1">
                <a:solidFill>
                  <a:srgbClr val="FFFFFF"/>
                </a:solidFill>
                <a:latin typeface="Darker Grotesque Medium"/>
                <a:ea typeface="Darker Grotesque Medium"/>
                <a:cs typeface="Darker Grotesque Medium"/>
                <a:sym typeface="Darker Grotesque Medium"/>
              </a:rPr>
              <a:t>fastapi</a:t>
            </a:r>
            <a:r>
              <a:rPr lang="en-US" sz="3200" dirty="0">
                <a:solidFill>
                  <a:srgbClr val="FFFFFF"/>
                </a:solidFill>
                <a:latin typeface="Darker Grotesque Medium"/>
                <a:ea typeface="Darker Grotesque Medium"/>
                <a:cs typeface="Darker Grotesque Medium"/>
                <a:sym typeface="Darker Grotesque Medium"/>
              </a:rPr>
              <a:t> import </a:t>
            </a:r>
            <a:r>
              <a:rPr lang="en-US" sz="3200" dirty="0" err="1">
                <a:solidFill>
                  <a:srgbClr val="FFFFFF"/>
                </a:solidFill>
                <a:latin typeface="Darker Grotesque Medium"/>
                <a:ea typeface="Darker Grotesque Medium"/>
                <a:cs typeface="Darker Grotesque Medium"/>
                <a:sym typeface="Darker Grotesque Medium"/>
              </a:rPr>
              <a:t>FastAPI</a:t>
            </a:r>
            <a:r>
              <a:rPr lang="en-US" sz="3200" dirty="0">
                <a:solidFill>
                  <a:srgbClr val="FFFFFF"/>
                </a:solidFill>
                <a:latin typeface="Darker Grotesque Medium"/>
                <a:ea typeface="Darker Grotesque Medium"/>
                <a:cs typeface="Darker Grotesque Medium"/>
                <a:sym typeface="Darker Grotesque Medium"/>
              </a:rPr>
              <a:t>, Request</a:t>
            </a:r>
          </a:p>
          <a:p>
            <a:pPr lvl="0" algn="just"/>
            <a:r>
              <a:rPr lang="en-US" sz="3200" dirty="0">
                <a:solidFill>
                  <a:srgbClr val="FFFFFF"/>
                </a:solidFill>
                <a:latin typeface="Darker Grotesque Medium"/>
                <a:ea typeface="Darker Grotesque Medium"/>
                <a:cs typeface="Darker Grotesque Medium"/>
                <a:sym typeface="Darker Grotesque Medium"/>
              </a:rPr>
              <a:t>from </a:t>
            </a:r>
            <a:r>
              <a:rPr lang="en-US" sz="3200" dirty="0" err="1">
                <a:solidFill>
                  <a:srgbClr val="FFFFFF"/>
                </a:solidFill>
                <a:latin typeface="Darker Grotesque Medium"/>
                <a:ea typeface="Darker Grotesque Medium"/>
                <a:cs typeface="Darker Grotesque Medium"/>
                <a:sym typeface="Darker Grotesque Medium"/>
              </a:rPr>
              <a:t>fastapi.testclient</a:t>
            </a:r>
            <a:r>
              <a:rPr lang="en-US" sz="3200" dirty="0">
                <a:solidFill>
                  <a:srgbClr val="FFFFFF"/>
                </a:solidFill>
                <a:latin typeface="Darker Grotesque Medium"/>
                <a:ea typeface="Darker Grotesque Medium"/>
                <a:cs typeface="Darker Grotesque Medium"/>
                <a:sym typeface="Darker Grotesque Medium"/>
              </a:rPr>
              <a:t> import </a:t>
            </a:r>
            <a:r>
              <a:rPr lang="en-US" sz="3200" dirty="0" err="1">
                <a:solidFill>
                  <a:srgbClr val="FFFFFF"/>
                </a:solidFill>
                <a:latin typeface="Darker Grotesque Medium"/>
                <a:ea typeface="Darker Grotesque Medium"/>
                <a:cs typeface="Darker Grotesque Medium"/>
                <a:sym typeface="Darker Grotesque Medium"/>
              </a:rPr>
              <a:t>TestClient</a:t>
            </a:r>
            <a:endParaRPr lang="en-US" sz="3200" dirty="0">
              <a:solidFill>
                <a:srgbClr val="FFFFFF"/>
              </a:solidFill>
              <a:latin typeface="Darker Grotesque Medium"/>
              <a:ea typeface="Darker Grotesque Medium"/>
              <a:cs typeface="Darker Grotesque Medium"/>
              <a:sym typeface="Darker Grotesque Medium"/>
            </a:endParaRPr>
          </a:p>
          <a:p>
            <a:pPr lvl="0" algn="just"/>
            <a:r>
              <a:rPr lang="en-US" sz="3200" dirty="0">
                <a:solidFill>
                  <a:srgbClr val="FFFFFF"/>
                </a:solidFill>
                <a:latin typeface="Darker Grotesque Medium"/>
                <a:ea typeface="Darker Grotesque Medium"/>
                <a:cs typeface="Darker Grotesque Medium"/>
                <a:sym typeface="Darker Grotesque Medium"/>
              </a:rPr>
              <a:t>from </a:t>
            </a:r>
            <a:r>
              <a:rPr lang="en-US" sz="3200" dirty="0" err="1">
                <a:solidFill>
                  <a:srgbClr val="FFFFFF"/>
                </a:solidFill>
                <a:latin typeface="Darker Grotesque Medium"/>
                <a:ea typeface="Darker Grotesque Medium"/>
                <a:cs typeface="Darker Grotesque Medium"/>
                <a:sym typeface="Darker Grotesque Medium"/>
              </a:rPr>
              <a:t>slowapi</a:t>
            </a:r>
            <a:r>
              <a:rPr lang="en-US" sz="3200" dirty="0">
                <a:solidFill>
                  <a:srgbClr val="FFFFFF"/>
                </a:solidFill>
                <a:latin typeface="Darker Grotesque Medium"/>
                <a:ea typeface="Darker Grotesque Medium"/>
                <a:cs typeface="Darker Grotesque Medium"/>
                <a:sym typeface="Darker Grotesque Medium"/>
              </a:rPr>
              <a:t> import Limiter</a:t>
            </a:r>
          </a:p>
          <a:p>
            <a:pPr lvl="0" algn="just"/>
            <a:r>
              <a:rPr lang="en-US" sz="3200" dirty="0">
                <a:solidFill>
                  <a:srgbClr val="FFFFFF"/>
                </a:solidFill>
                <a:latin typeface="Darker Grotesque Medium"/>
                <a:ea typeface="Darker Grotesque Medium"/>
                <a:cs typeface="Darker Grotesque Medium"/>
                <a:sym typeface="Darker Grotesque Medium"/>
              </a:rPr>
              <a:t>from </a:t>
            </a:r>
            <a:r>
              <a:rPr lang="en-US" sz="3200" dirty="0" err="1">
                <a:solidFill>
                  <a:srgbClr val="FFFFFF"/>
                </a:solidFill>
                <a:latin typeface="Darker Grotesque Medium"/>
                <a:ea typeface="Darker Grotesque Medium"/>
                <a:cs typeface="Darker Grotesque Medium"/>
                <a:sym typeface="Darker Grotesque Medium"/>
              </a:rPr>
              <a:t>slowapi.util</a:t>
            </a:r>
            <a:r>
              <a:rPr lang="en-US" sz="3200" dirty="0">
                <a:solidFill>
                  <a:srgbClr val="FFFFFF"/>
                </a:solidFill>
                <a:latin typeface="Darker Grotesque Medium"/>
                <a:ea typeface="Darker Grotesque Medium"/>
                <a:cs typeface="Darker Grotesque Medium"/>
                <a:sym typeface="Darker Grotesque Medium"/>
              </a:rPr>
              <a:t> import </a:t>
            </a:r>
            <a:r>
              <a:rPr lang="en-US" sz="3200" dirty="0" err="1">
                <a:solidFill>
                  <a:srgbClr val="FFFFFF"/>
                </a:solidFill>
                <a:latin typeface="Darker Grotesque Medium"/>
                <a:ea typeface="Darker Grotesque Medium"/>
                <a:cs typeface="Darker Grotesque Medium"/>
                <a:sym typeface="Darker Grotesque Medium"/>
              </a:rPr>
              <a:t>get_remote_address</a:t>
            </a:r>
            <a:endParaRPr lang="en-US" sz="3200" dirty="0">
              <a:solidFill>
                <a:srgbClr val="FFFFFF"/>
              </a:solidFill>
              <a:latin typeface="Darker Grotesque Medium"/>
              <a:ea typeface="Darker Grotesque Medium"/>
              <a:cs typeface="Darker Grotesque Medium"/>
              <a:sym typeface="Darker Grotesque Medium"/>
            </a:endParaRPr>
          </a:p>
          <a:p>
            <a:pPr lvl="0" algn="just"/>
            <a:r>
              <a:rPr lang="en-US" sz="3200" dirty="0">
                <a:solidFill>
                  <a:srgbClr val="FFFFFF"/>
                </a:solidFill>
                <a:latin typeface="Darker Grotesque Medium"/>
                <a:ea typeface="Darker Grotesque Medium"/>
                <a:cs typeface="Darker Grotesque Medium"/>
                <a:sym typeface="Darker Grotesque Medium"/>
              </a:rPr>
              <a:t>RATE_LIMITING_ENABLED = True</a:t>
            </a:r>
          </a:p>
          <a:p>
            <a:pPr lvl="0" algn="just"/>
            <a:endParaRPr lang="en-US" sz="3200" dirty="0">
              <a:solidFill>
                <a:srgbClr val="FFFFFF"/>
              </a:solidFill>
              <a:latin typeface="Darker Grotesque Medium"/>
              <a:ea typeface="Darker Grotesque Medium"/>
              <a:cs typeface="Darker Grotesque Medium"/>
              <a:sym typeface="Darker Grotesque Medium"/>
            </a:endParaRPr>
          </a:p>
          <a:p>
            <a:pPr lvl="0" algn="just"/>
            <a:r>
              <a:rPr lang="en-US" sz="3200" dirty="0">
                <a:solidFill>
                  <a:srgbClr val="FFFFFF"/>
                </a:solidFill>
                <a:latin typeface="Darker Grotesque Medium"/>
                <a:ea typeface="Darker Grotesque Medium"/>
                <a:cs typeface="Darker Grotesque Medium"/>
                <a:sym typeface="Darker Grotesque Medium"/>
              </a:rPr>
              <a:t>app = </a:t>
            </a:r>
            <a:r>
              <a:rPr lang="en-US" sz="3200" dirty="0" err="1">
                <a:solidFill>
                  <a:srgbClr val="FFFFFF"/>
                </a:solidFill>
                <a:latin typeface="Darker Grotesque Medium"/>
                <a:ea typeface="Darker Grotesque Medium"/>
                <a:cs typeface="Darker Grotesque Medium"/>
                <a:sym typeface="Darker Grotesque Medium"/>
              </a:rPr>
              <a:t>FastAPI</a:t>
            </a:r>
            <a:r>
              <a:rPr lang="en-US" sz="3200" dirty="0">
                <a:solidFill>
                  <a:srgbClr val="FFFFFF"/>
                </a:solidFill>
                <a:latin typeface="Darker Grotesque Medium"/>
                <a:ea typeface="Darker Grotesque Medium"/>
                <a:cs typeface="Darker Grotesque Medium"/>
                <a:sym typeface="Darker Grotesque Medium"/>
              </a:rPr>
              <a:t>()</a:t>
            </a:r>
          </a:p>
          <a:p>
            <a:pPr lvl="0" algn="just"/>
            <a:r>
              <a:rPr lang="en-US" sz="3200" dirty="0">
                <a:solidFill>
                  <a:srgbClr val="FFFFFF"/>
                </a:solidFill>
                <a:latin typeface="Darker Grotesque Medium"/>
                <a:ea typeface="Darker Grotesque Medium"/>
                <a:cs typeface="Darker Grotesque Medium"/>
                <a:sym typeface="Darker Grotesque Medium"/>
              </a:rPr>
              <a:t>limiter = Limiter(</a:t>
            </a:r>
          </a:p>
          <a:p>
            <a:pPr lvl="0" algn="just"/>
            <a:r>
              <a:rPr lang="en-US" sz="3200" dirty="0">
                <a:solidFill>
                  <a:srgbClr val="FFFFFF"/>
                </a:solidFill>
                <a:latin typeface="Darker Grotesque Medium"/>
                <a:ea typeface="Darker Grotesque Medium"/>
                <a:cs typeface="Darker Grotesque Medium"/>
                <a:sym typeface="Darker Grotesque Medium"/>
              </a:rPr>
              <a:t>    </a:t>
            </a:r>
            <a:r>
              <a:rPr lang="en-US" sz="3200" dirty="0" err="1">
                <a:solidFill>
                  <a:srgbClr val="FFFFFF"/>
                </a:solidFill>
                <a:latin typeface="Darker Grotesque Medium"/>
                <a:ea typeface="Darker Grotesque Medium"/>
                <a:cs typeface="Darker Grotesque Medium"/>
                <a:sym typeface="Darker Grotesque Medium"/>
              </a:rPr>
              <a:t>key_func</a:t>
            </a:r>
            <a:r>
              <a:rPr lang="en-US" sz="3200" dirty="0">
                <a:solidFill>
                  <a:srgbClr val="FFFFFF"/>
                </a:solidFill>
                <a:latin typeface="Darker Grotesque Medium"/>
                <a:ea typeface="Darker Grotesque Medium"/>
                <a:cs typeface="Darker Grotesque Medium"/>
                <a:sym typeface="Darker Grotesque Medium"/>
              </a:rPr>
              <a:t>=</a:t>
            </a:r>
            <a:r>
              <a:rPr lang="en-US" sz="3200" dirty="0" err="1">
                <a:solidFill>
                  <a:srgbClr val="FFFFFF"/>
                </a:solidFill>
                <a:latin typeface="Darker Grotesque Medium"/>
                <a:ea typeface="Darker Grotesque Medium"/>
                <a:cs typeface="Darker Grotesque Medium"/>
                <a:sym typeface="Darker Grotesque Medium"/>
              </a:rPr>
              <a:t>get_remote_address</a:t>
            </a:r>
            <a:r>
              <a:rPr lang="en-US" sz="3200" dirty="0">
                <a:solidFill>
                  <a:srgbClr val="FFFFFF"/>
                </a:solidFill>
                <a:latin typeface="Darker Grotesque Medium"/>
                <a:ea typeface="Darker Grotesque Medium"/>
                <a:cs typeface="Darker Grotesque Medium"/>
                <a:sym typeface="Darker Grotesque Medium"/>
              </a:rPr>
              <a:t>,</a:t>
            </a:r>
          </a:p>
          <a:p>
            <a:pPr lvl="0" algn="just"/>
            <a:r>
              <a:rPr lang="en-US" sz="3200" dirty="0">
                <a:solidFill>
                  <a:srgbClr val="FFFFFF"/>
                </a:solidFill>
                <a:latin typeface="Darker Grotesque Medium"/>
                <a:ea typeface="Darker Grotesque Medium"/>
                <a:cs typeface="Darker Grotesque Medium"/>
                <a:sym typeface="Darker Grotesque Medium"/>
              </a:rPr>
              <a:t>    strategy="fixed-window",</a:t>
            </a:r>
          </a:p>
          <a:p>
            <a:pPr lvl="0" algn="just"/>
            <a:r>
              <a:rPr lang="en-US" sz="3200" dirty="0">
                <a:solidFill>
                  <a:srgbClr val="FFFFFF"/>
                </a:solidFill>
                <a:latin typeface="Darker Grotesque Medium"/>
                <a:ea typeface="Darker Grotesque Medium"/>
                <a:cs typeface="Darker Grotesque Medium"/>
                <a:sym typeface="Darker Grotesque Medium"/>
              </a:rPr>
              <a:t>    </a:t>
            </a:r>
            <a:r>
              <a:rPr lang="en-US" sz="3200" dirty="0" err="1">
                <a:solidFill>
                  <a:srgbClr val="FFFFFF"/>
                </a:solidFill>
                <a:latin typeface="Darker Grotesque Medium"/>
                <a:ea typeface="Darker Grotesque Medium"/>
                <a:cs typeface="Darker Grotesque Medium"/>
                <a:sym typeface="Darker Grotesque Medium"/>
              </a:rPr>
              <a:t>storage_uri</a:t>
            </a:r>
            <a:r>
              <a:rPr lang="en-US" sz="3200" dirty="0">
                <a:solidFill>
                  <a:srgbClr val="FFFFFF"/>
                </a:solidFill>
                <a:latin typeface="Darker Grotesque Medium"/>
                <a:ea typeface="Darker Grotesque Medium"/>
                <a:cs typeface="Darker Grotesque Medium"/>
                <a:sym typeface="Darker Grotesque Medium"/>
              </a:rPr>
              <a:t>="memory://",</a:t>
            </a:r>
          </a:p>
          <a:p>
            <a:pPr lvl="0" algn="just"/>
            <a:r>
              <a:rPr lang="en-US" sz="3200" dirty="0">
                <a:solidFill>
                  <a:srgbClr val="FFFFFF"/>
                </a:solidFill>
                <a:latin typeface="Darker Grotesque Medium"/>
                <a:ea typeface="Darker Grotesque Medium"/>
                <a:cs typeface="Darker Grotesque Medium"/>
                <a:sym typeface="Darker Grotesque Medium"/>
              </a:rPr>
              <a:t>    enabled=RATE_LIMITING_ENABLED,</a:t>
            </a:r>
          </a:p>
          <a:p>
            <a:pPr lvl="0" algn="just"/>
            <a:r>
              <a:rPr lang="en-US" sz="3200" dirty="0">
                <a:solidFill>
                  <a:srgbClr val="FFFFFF"/>
                </a:solidFill>
                <a:latin typeface="Darker Grotesque Medium"/>
                <a:ea typeface="Darker Grotesque Medium"/>
                <a:cs typeface="Darker Grotesque Medium"/>
                <a:sym typeface="Darker Grotesque Medium"/>
              </a:rPr>
              <a:t>)</a:t>
            </a:r>
          </a:p>
          <a:p>
            <a:pPr lvl="0" algn="just"/>
            <a:r>
              <a:rPr lang="en-US" sz="3200" dirty="0">
                <a:solidFill>
                  <a:srgbClr val="FFFFFF"/>
                </a:solidFill>
                <a:latin typeface="Darker Grotesque Medium"/>
                <a:ea typeface="Darker Grotesque Medium"/>
                <a:cs typeface="Darker Grotesque Medium"/>
                <a:sym typeface="Darker Grotesque Medium"/>
              </a:rPr>
              <a:t>@app.get("/limited")</a:t>
            </a:r>
          </a:p>
          <a:p>
            <a:pPr lvl="0" algn="just"/>
            <a:r>
              <a:rPr lang="en-US" sz="3200" dirty="0">
                <a:solidFill>
                  <a:srgbClr val="FFFFFF"/>
                </a:solidFill>
                <a:latin typeface="Darker Grotesque Medium"/>
                <a:ea typeface="Darker Grotesque Medium"/>
                <a:cs typeface="Darker Grotesque Medium"/>
                <a:sym typeface="Darker Grotesque Medium"/>
              </a:rPr>
              <a:t>@limiter.limit("2/second", </a:t>
            </a:r>
            <a:r>
              <a:rPr lang="en-US" sz="3200" dirty="0" err="1">
                <a:solidFill>
                  <a:srgbClr val="FFFFFF"/>
                </a:solidFill>
                <a:latin typeface="Darker Grotesque Medium"/>
                <a:ea typeface="Darker Grotesque Medium"/>
                <a:cs typeface="Darker Grotesque Medium"/>
                <a:sym typeface="Darker Grotesque Medium"/>
              </a:rPr>
              <a:t>per_method</a:t>
            </a:r>
            <a:r>
              <a:rPr lang="en-US" sz="3200" dirty="0">
                <a:solidFill>
                  <a:srgbClr val="FFFFFF"/>
                </a:solidFill>
                <a:latin typeface="Darker Grotesque Medium"/>
                <a:ea typeface="Darker Grotesque Medium"/>
                <a:cs typeface="Darker Grotesque Medium"/>
                <a:sym typeface="Darker Grotesque Medium"/>
              </a:rPr>
              <a:t>=True)</a:t>
            </a:r>
          </a:p>
          <a:p>
            <a:pPr lvl="0" algn="just"/>
            <a:r>
              <a:rPr lang="en-US" sz="3200" dirty="0">
                <a:solidFill>
                  <a:srgbClr val="FFFFFF"/>
                </a:solidFill>
                <a:latin typeface="Darker Grotesque Medium"/>
                <a:ea typeface="Darker Grotesque Medium"/>
                <a:cs typeface="Darker Grotesque Medium"/>
                <a:sym typeface="Darker Grotesque Medium"/>
              </a:rPr>
              <a:t>async def </a:t>
            </a:r>
            <a:r>
              <a:rPr lang="en-US" sz="3200" dirty="0" err="1">
                <a:solidFill>
                  <a:srgbClr val="FFFFFF"/>
                </a:solidFill>
                <a:latin typeface="Darker Grotesque Medium"/>
                <a:ea typeface="Darker Grotesque Medium"/>
                <a:cs typeface="Darker Grotesque Medium"/>
                <a:sym typeface="Darker Grotesque Medium"/>
              </a:rPr>
              <a:t>limited_route</a:t>
            </a:r>
            <a:r>
              <a:rPr lang="en-US" sz="3200" dirty="0">
                <a:solidFill>
                  <a:srgbClr val="FFFFFF"/>
                </a:solidFill>
                <a:latin typeface="Darker Grotesque Medium"/>
                <a:ea typeface="Darker Grotesque Medium"/>
                <a:cs typeface="Darker Grotesque Medium"/>
                <a:sym typeface="Darker Grotesque Medium"/>
              </a:rPr>
              <a:t>(request: Request) -&gt; </a:t>
            </a:r>
            <a:r>
              <a:rPr lang="en-US" sz="3200" dirty="0" err="1">
                <a:solidFill>
                  <a:srgbClr val="FFFFFF"/>
                </a:solidFill>
                <a:latin typeface="Darker Grotesque Medium"/>
                <a:ea typeface="Darker Grotesque Medium"/>
                <a:cs typeface="Darker Grotesque Medium"/>
                <a:sym typeface="Darker Grotesque Medium"/>
              </a:rPr>
              <a:t>dict</a:t>
            </a:r>
            <a:r>
              <a:rPr lang="en-US" sz="3200" dirty="0">
                <a:solidFill>
                  <a:srgbClr val="FFFFFF"/>
                </a:solidFill>
                <a:latin typeface="Darker Grotesque Medium"/>
                <a:ea typeface="Darker Grotesque Medium"/>
                <a:cs typeface="Darker Grotesque Medium"/>
                <a:sym typeface="Darker Grotesque Medium"/>
              </a:rPr>
              <a:t>[str, str]:</a:t>
            </a:r>
          </a:p>
          <a:p>
            <a:pPr lvl="0" algn="just"/>
            <a:r>
              <a:rPr lang="en-US" sz="3200" dirty="0">
                <a:solidFill>
                  <a:srgbClr val="FFFFFF"/>
                </a:solidFill>
                <a:latin typeface="Darker Grotesque Medium"/>
                <a:ea typeface="Darker Grotesque Medium"/>
                <a:cs typeface="Darker Grotesque Medium"/>
                <a:sym typeface="Darker Grotesque Medium"/>
              </a:rPr>
              <a:t>    return {"message": "This is a limited route"}</a:t>
            </a:r>
            <a:endParaRPr lang="en-US" sz="32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6556105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1C490ED-ADD3-0EC2-2B1D-9B9E58D2A127}"/>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289BF0B-FE66-0496-80A6-FAA09141254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3FD376F-62C9-1A91-F9B4-A95655AF7C2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74556789-9A40-8701-0AAD-4BC349756CB1}"/>
              </a:ext>
            </a:extLst>
          </p:cNvPr>
          <p:cNvSpPr txBox="1"/>
          <p:nvPr/>
        </p:nvSpPr>
        <p:spPr>
          <a:xfrm>
            <a:off x="1454523" y="1119962"/>
            <a:ext cx="15987646" cy="3877985"/>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Axios </a:t>
            </a:r>
          </a:p>
          <a:p>
            <a:pPr lvl="0" algn="just"/>
            <a:r>
              <a:rPr lang="en-US" sz="3600" dirty="0">
                <a:solidFill>
                  <a:srgbClr val="FFFFFF"/>
                </a:solidFill>
                <a:latin typeface="Darker Grotesque Medium"/>
                <a:ea typeface="Darker Grotesque Medium"/>
                <a:cs typeface="Darker Grotesque Medium"/>
                <a:sym typeface="Darker Grotesque Medium"/>
              </a:rPr>
              <a:t>Axios is a promise-based HTTP Client for node.js and the browser. It is isomorphic (= it can run in the browser and node.js with the same codebase). On the server-side it uses the native node.js http module, while on the client (browser) it uses </a:t>
            </a:r>
            <a:r>
              <a:rPr lang="en-US" sz="3600" dirty="0" err="1">
                <a:solidFill>
                  <a:srgbClr val="FFFFFF"/>
                </a:solidFill>
                <a:latin typeface="Darker Grotesque Medium"/>
                <a:ea typeface="Darker Grotesque Medium"/>
                <a:cs typeface="Darker Grotesque Medium"/>
                <a:sym typeface="Darker Grotesque Medium"/>
              </a:rPr>
              <a:t>XMLHttpRequest</a:t>
            </a:r>
            <a:r>
              <a:rPr lang="en-US" sz="3600" dirty="0">
                <a:solidFill>
                  <a:srgbClr val="FFFFFF"/>
                </a:solidFill>
                <a:latin typeface="Darker Grotesque Medium"/>
                <a:ea typeface="Darker Grotesque Medium"/>
                <a:cs typeface="Darker Grotesque Medium"/>
                <a:sym typeface="Darker Grotesque Medium"/>
              </a:rPr>
              <a:t>.</a:t>
            </a: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5810710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0A4EBFC6-F42E-6A1B-04D7-6D9E9A7A019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C05C992-8BB0-62C6-05E5-8307DF84D61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6049021-FEC1-C02C-07AC-94E1907DDC6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6E51C085-F740-2E32-3962-6F3603DAE958}"/>
              </a:ext>
            </a:extLst>
          </p:cNvPr>
          <p:cNvSpPr txBox="1"/>
          <p:nvPr/>
        </p:nvSpPr>
        <p:spPr>
          <a:xfrm>
            <a:off x="1454523" y="1119962"/>
            <a:ext cx="15987646" cy="7201972"/>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&lt;script </a:t>
            </a:r>
            <a:r>
              <a:rPr lang="en-US" sz="3600" dirty="0" err="1">
                <a:solidFill>
                  <a:srgbClr val="FFFFFF"/>
                </a:solidFill>
                <a:latin typeface="Darker Grotesque Medium"/>
                <a:ea typeface="Darker Grotesque Medium"/>
                <a:cs typeface="Darker Grotesque Medium"/>
                <a:sym typeface="Darker Grotesque Medium"/>
              </a:rPr>
              <a:t>src</a:t>
            </a:r>
            <a:r>
              <a:rPr lang="en-US" sz="3600" dirty="0">
                <a:solidFill>
                  <a:srgbClr val="FFFFFF"/>
                </a:solidFill>
                <a:latin typeface="Darker Grotesque Medium"/>
                <a:ea typeface="Darker Grotesque Medium"/>
                <a:cs typeface="Darker Grotesque Medium"/>
                <a:sym typeface="Darker Grotesque Medium"/>
              </a:rPr>
              <a:t>="https://cdn.jsdelivr.net/</a:t>
            </a:r>
            <a:r>
              <a:rPr lang="en-US" sz="3600" dirty="0" err="1">
                <a:solidFill>
                  <a:srgbClr val="FFFFFF"/>
                </a:solidFill>
                <a:latin typeface="Darker Grotesque Medium"/>
                <a:ea typeface="Darker Grotesque Medium"/>
                <a:cs typeface="Darker Grotesque Medium"/>
                <a:sym typeface="Darker Grotesque Medium"/>
              </a:rPr>
              <a:t>npm</a:t>
            </a:r>
            <a:r>
              <a:rPr lang="en-US" sz="3600" dirty="0">
                <a:solidFill>
                  <a:srgbClr val="FFFFFF"/>
                </a:solidFill>
                <a:latin typeface="Darker Grotesque Medium"/>
                <a:ea typeface="Darker Grotesque Medium"/>
                <a:cs typeface="Darker Grotesque Medium"/>
                <a:sym typeface="Darker Grotesque Medium"/>
              </a:rPr>
              <a:t>/</a:t>
            </a:r>
            <a:r>
              <a:rPr lang="en-US" sz="3600" dirty="0" err="1">
                <a:solidFill>
                  <a:srgbClr val="FFFFFF"/>
                </a:solidFill>
                <a:latin typeface="Darker Grotesque Medium"/>
                <a:ea typeface="Darker Grotesque Medium"/>
                <a:cs typeface="Darker Grotesque Medium"/>
                <a:sym typeface="Darker Grotesque Medium"/>
              </a:rPr>
              <a:t>axios</a:t>
            </a:r>
            <a:r>
              <a:rPr lang="en-US" sz="3600" dirty="0">
                <a:solidFill>
                  <a:srgbClr val="FFFFFF"/>
                </a:solidFill>
                <a:latin typeface="Darker Grotesque Medium"/>
                <a:ea typeface="Darker Grotesque Medium"/>
                <a:cs typeface="Darker Grotesque Medium"/>
                <a:sym typeface="Darker Grotesque Medium"/>
              </a:rPr>
              <a:t>/</a:t>
            </a:r>
            <a:r>
              <a:rPr lang="en-US" sz="3600" dirty="0" err="1">
                <a:solidFill>
                  <a:srgbClr val="FFFFFF"/>
                </a:solidFill>
                <a:latin typeface="Darker Grotesque Medium"/>
                <a:ea typeface="Darker Grotesque Medium"/>
                <a:cs typeface="Darker Grotesque Medium"/>
                <a:sym typeface="Darker Grotesque Medium"/>
              </a:rPr>
              <a:t>dist</a:t>
            </a:r>
            <a:r>
              <a:rPr lang="en-US" sz="3600" dirty="0">
                <a:solidFill>
                  <a:srgbClr val="FFFFFF"/>
                </a:solidFill>
                <a:latin typeface="Darker Grotesque Medium"/>
                <a:ea typeface="Darker Grotesque Medium"/>
                <a:cs typeface="Darker Grotesque Medium"/>
                <a:sym typeface="Darker Grotesque Medium"/>
              </a:rPr>
              <a:t>/axios.min.js"&gt;&lt;/script&gt;</a:t>
            </a: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async function </a:t>
            </a:r>
            <a:r>
              <a:rPr lang="en-US" sz="3600" dirty="0" err="1">
                <a:solidFill>
                  <a:srgbClr val="FFFFFF"/>
                </a:solidFill>
                <a:latin typeface="Darker Grotesque Medium"/>
                <a:ea typeface="Darker Grotesque Medium"/>
                <a:cs typeface="Darker Grotesque Medium"/>
                <a:sym typeface="Darker Grotesque Medium"/>
              </a:rPr>
              <a:t>fetchData</a:t>
            </a:r>
            <a:r>
              <a:rPr lang="en-US" sz="3600" dirty="0">
                <a:solidFill>
                  <a:srgbClr val="FFFFFF"/>
                </a:solidFill>
                <a:latin typeface="Darker Grotesque Medium"/>
                <a:ea typeface="Darker Grotesque Medium"/>
                <a:cs typeface="Darker Grotesque Medium"/>
                <a:sym typeface="Darker Grotesque Medium"/>
              </a:rPr>
              <a:t>() {</a:t>
            </a:r>
          </a:p>
          <a:p>
            <a:pPr lvl="0" algn="just"/>
            <a:r>
              <a:rPr lang="en-US" sz="3600" dirty="0">
                <a:solidFill>
                  <a:srgbClr val="FFFFFF"/>
                </a:solidFill>
                <a:latin typeface="Darker Grotesque Medium"/>
                <a:ea typeface="Darker Grotesque Medium"/>
                <a:cs typeface="Darker Grotesque Medium"/>
                <a:sym typeface="Darker Grotesque Medium"/>
              </a:rPr>
              <a:t>  try {</a:t>
            </a:r>
          </a:p>
          <a:p>
            <a:pPr lvl="0" algn="just"/>
            <a:r>
              <a:rPr lang="en-US" sz="3600" dirty="0">
                <a:solidFill>
                  <a:srgbClr val="FFFFFF"/>
                </a:solidFill>
                <a:latin typeface="Darker Grotesque Medium"/>
                <a:ea typeface="Darker Grotesque Medium"/>
                <a:cs typeface="Darker Grotesque Medium"/>
                <a:sym typeface="Darker Grotesque Medium"/>
              </a:rPr>
              <a:t>    const response = await </a:t>
            </a:r>
            <a:r>
              <a:rPr lang="en-US" sz="3600" dirty="0" err="1">
                <a:solidFill>
                  <a:srgbClr val="FFFFFF"/>
                </a:solidFill>
                <a:latin typeface="Darker Grotesque Medium"/>
                <a:ea typeface="Darker Grotesque Medium"/>
                <a:cs typeface="Darker Grotesque Medium"/>
                <a:sym typeface="Darker Grotesque Medium"/>
              </a:rPr>
              <a:t>axios.get</a:t>
            </a:r>
            <a:r>
              <a:rPr lang="en-US" sz="3600" dirty="0">
                <a:solidFill>
                  <a:srgbClr val="FFFFFF"/>
                </a:solidFill>
                <a:latin typeface="Darker Grotesque Medium"/>
                <a:ea typeface="Darker Grotesque Medium"/>
                <a:cs typeface="Darker Grotesque Medium"/>
                <a:sym typeface="Darker Grotesque Medium"/>
              </a:rPr>
              <a:t>("https://jsonplaceholder.typicode.com/posts/1");</a:t>
            </a:r>
          </a:p>
          <a:p>
            <a:pPr lvl="0" algn="just"/>
            <a:r>
              <a:rPr lang="en-US" sz="3600" dirty="0">
                <a:solidFill>
                  <a:srgbClr val="FFFFFF"/>
                </a:solidFill>
                <a:latin typeface="Darker Grotesque Medium"/>
                <a:ea typeface="Darker Grotesque Medium"/>
                <a:cs typeface="Darker Grotesque Medium"/>
                <a:sym typeface="Darker Grotesque Medium"/>
              </a:rPr>
              <a:t>    console.log(</a:t>
            </a:r>
            <a:r>
              <a:rPr lang="en-US" sz="3600" dirty="0" err="1">
                <a:solidFill>
                  <a:srgbClr val="FFFFFF"/>
                </a:solidFill>
                <a:latin typeface="Darker Grotesque Medium"/>
                <a:ea typeface="Darker Grotesque Medium"/>
                <a:cs typeface="Darker Grotesque Medium"/>
                <a:sym typeface="Darker Grotesque Medium"/>
              </a:rPr>
              <a:t>response.data</a:t>
            </a:r>
            <a:r>
              <a:rPr lang="en-US" sz="3600" dirty="0">
                <a:solidFill>
                  <a:srgbClr val="FFFFFF"/>
                </a:solidFill>
                <a:latin typeface="Darker Grotesque Medium"/>
                <a:ea typeface="Darker Grotesque Medium"/>
                <a:cs typeface="Darker Grotesque Medium"/>
                <a:sym typeface="Darker Grotesque Medium"/>
              </a:rPr>
              <a:t>); // the returned JSON data</a:t>
            </a:r>
          </a:p>
          <a:p>
            <a:pPr lvl="0" algn="just"/>
            <a:r>
              <a:rPr lang="en-US" sz="3600" dirty="0">
                <a:solidFill>
                  <a:srgbClr val="FFFFFF"/>
                </a:solidFill>
                <a:latin typeface="Darker Grotesque Medium"/>
                <a:ea typeface="Darker Grotesque Medium"/>
                <a:cs typeface="Darker Grotesque Medium"/>
                <a:sym typeface="Darker Grotesque Medium"/>
              </a:rPr>
              <a:t>  } catch (error) {</a:t>
            </a:r>
          </a:p>
          <a:p>
            <a:pPr lvl="0" algn="just"/>
            <a:r>
              <a:rPr lang="en-US" sz="3600" dirty="0">
                <a:solidFill>
                  <a:srgbClr val="FFFFFF"/>
                </a:solidFill>
                <a:latin typeface="Darker Grotesque Medium"/>
                <a:ea typeface="Darker Grotesque Medium"/>
                <a:cs typeface="Darker Grotesque Medium"/>
                <a:sym typeface="Darker Grotesque Medium"/>
              </a:rPr>
              <a:t>    </a:t>
            </a:r>
            <a:r>
              <a:rPr lang="en-US" sz="3600" dirty="0" err="1">
                <a:solidFill>
                  <a:srgbClr val="FFFFFF"/>
                </a:solidFill>
                <a:latin typeface="Darker Grotesque Medium"/>
                <a:ea typeface="Darker Grotesque Medium"/>
                <a:cs typeface="Darker Grotesque Medium"/>
                <a:sym typeface="Darker Grotesque Medium"/>
              </a:rPr>
              <a:t>console.error</a:t>
            </a:r>
            <a:r>
              <a:rPr lang="en-US" sz="3600" dirty="0">
                <a:solidFill>
                  <a:srgbClr val="FFFFFF"/>
                </a:solidFill>
                <a:latin typeface="Darker Grotesque Medium"/>
                <a:ea typeface="Darker Grotesque Medium"/>
                <a:cs typeface="Darker Grotesque Medium"/>
                <a:sym typeface="Darker Grotesque Medium"/>
              </a:rPr>
              <a:t>("Error fetching data:", error);</a:t>
            </a:r>
          </a:p>
          <a:p>
            <a:pPr lvl="0" algn="just"/>
            <a:r>
              <a:rPr lang="en-US" sz="3600" dirty="0">
                <a:solidFill>
                  <a:srgbClr val="FFFFFF"/>
                </a:solidFill>
                <a:latin typeface="Darker Grotesque Medium"/>
                <a:ea typeface="Darker Grotesque Medium"/>
                <a:cs typeface="Darker Grotesque Medium"/>
                <a:sym typeface="Darker Grotesque Medium"/>
              </a:rPr>
              <a:t>  }</a:t>
            </a:r>
          </a:p>
          <a:p>
            <a:pPr lvl="0" algn="just"/>
            <a:r>
              <a:rPr lang="en-US" sz="3600" dirty="0">
                <a:solidFill>
                  <a:srgbClr val="FFFFFF"/>
                </a:solidFill>
                <a:latin typeface="Darker Grotesque Medium"/>
                <a:ea typeface="Darker Grotesque Medium"/>
                <a:cs typeface="Darker Grotesque Medium"/>
                <a:sym typeface="Darker Grotesque Medium"/>
              </a:rPr>
              <a:t>}</a:t>
            </a:r>
            <a:endParaRPr lang="en-US" sz="3600" i="0" u="none" strike="noStrike" cap="none" dirty="0">
              <a:solidFill>
                <a:srgbClr val="FFFFFF"/>
              </a:solidFill>
              <a:latin typeface="Darker Grotesque Medium"/>
              <a:ea typeface="Darker Grotesque Medium"/>
              <a:cs typeface="Darker Grotesque Medium"/>
              <a:sym typeface="Darker Grotesque Medium"/>
            </a:endParaRPr>
          </a:p>
          <a:p>
            <a:pPr lvl="0" algn="just"/>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1958615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78450AD-844F-FC3F-C892-917A6E0171BC}"/>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FE6BEAD-A671-F23D-27A0-0AD43F8D22A2}"/>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39D792B-FFE1-8291-BF56-14FF7BE0D93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3B0E1887-1A07-447E-DEF4-D2F6F0F9E788}"/>
              </a:ext>
            </a:extLst>
          </p:cNvPr>
          <p:cNvSpPr txBox="1"/>
          <p:nvPr/>
        </p:nvSpPr>
        <p:spPr>
          <a:xfrm>
            <a:off x="1454523" y="124880"/>
            <a:ext cx="15987646" cy="9417963"/>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async function </a:t>
            </a:r>
            <a:r>
              <a:rPr lang="en-US" sz="3600" dirty="0" err="1">
                <a:solidFill>
                  <a:srgbClr val="FFFFFF"/>
                </a:solidFill>
                <a:latin typeface="Darker Grotesque Medium"/>
                <a:ea typeface="Darker Grotesque Medium"/>
                <a:cs typeface="Darker Grotesque Medium"/>
                <a:sym typeface="Darker Grotesque Medium"/>
              </a:rPr>
              <a:t>createPost</a:t>
            </a:r>
            <a:r>
              <a:rPr lang="en-US" sz="3600" dirty="0">
                <a:solidFill>
                  <a:srgbClr val="FFFFFF"/>
                </a:solidFill>
                <a:latin typeface="Darker Grotesque Medium"/>
                <a:ea typeface="Darker Grotesque Medium"/>
                <a:cs typeface="Darker Grotesque Medium"/>
                <a:sym typeface="Darker Grotesque Medium"/>
              </a:rPr>
              <a:t>() {</a:t>
            </a:r>
          </a:p>
          <a:p>
            <a:pPr lvl="0" algn="just"/>
            <a:r>
              <a:rPr lang="en-US" sz="3600" dirty="0">
                <a:solidFill>
                  <a:srgbClr val="FFFFFF"/>
                </a:solidFill>
                <a:latin typeface="Darker Grotesque Medium"/>
                <a:ea typeface="Darker Grotesque Medium"/>
                <a:cs typeface="Darker Grotesque Medium"/>
                <a:sym typeface="Darker Grotesque Medium"/>
              </a:rPr>
              <a:t>  const </a:t>
            </a:r>
            <a:r>
              <a:rPr lang="en-US" sz="3600" dirty="0" err="1">
                <a:solidFill>
                  <a:srgbClr val="FFFFFF"/>
                </a:solidFill>
                <a:latin typeface="Darker Grotesque Medium"/>
                <a:ea typeface="Darker Grotesque Medium"/>
                <a:cs typeface="Darker Grotesque Medium"/>
                <a:sym typeface="Darker Grotesque Medium"/>
              </a:rPr>
              <a:t>postData</a:t>
            </a:r>
            <a:r>
              <a:rPr lang="en-US" sz="3600" dirty="0">
                <a:solidFill>
                  <a:srgbClr val="FFFFFF"/>
                </a:solidFill>
                <a:latin typeface="Darker Grotesque Medium"/>
                <a:ea typeface="Darker Grotesque Medium"/>
                <a:cs typeface="Darker Grotesque Medium"/>
                <a:sym typeface="Darker Grotesque Medium"/>
              </a:rPr>
              <a:t> = {</a:t>
            </a:r>
          </a:p>
          <a:p>
            <a:pPr lvl="0" algn="just"/>
            <a:r>
              <a:rPr lang="en-US" sz="3600" dirty="0">
                <a:solidFill>
                  <a:srgbClr val="FFFFFF"/>
                </a:solidFill>
                <a:latin typeface="Darker Grotesque Medium"/>
                <a:ea typeface="Darker Grotesque Medium"/>
                <a:cs typeface="Darker Grotesque Medium"/>
                <a:sym typeface="Darker Grotesque Medium"/>
              </a:rPr>
              <a:t>    title: "Hello World",</a:t>
            </a:r>
          </a:p>
          <a:p>
            <a:pPr lvl="0" algn="just"/>
            <a:r>
              <a:rPr lang="en-US" sz="3600" dirty="0">
                <a:solidFill>
                  <a:srgbClr val="FFFFFF"/>
                </a:solidFill>
                <a:latin typeface="Darker Grotesque Medium"/>
                <a:ea typeface="Darker Grotesque Medium"/>
                <a:cs typeface="Darker Grotesque Medium"/>
                <a:sym typeface="Darker Grotesque Medium"/>
              </a:rPr>
              <a:t>    body: "This is a new post",</a:t>
            </a:r>
          </a:p>
          <a:p>
            <a:pPr lvl="0" algn="just"/>
            <a:r>
              <a:rPr lang="en-US" sz="3600" dirty="0">
                <a:solidFill>
                  <a:srgbClr val="FFFFFF"/>
                </a:solidFill>
                <a:latin typeface="Darker Grotesque Medium"/>
                <a:ea typeface="Darker Grotesque Medium"/>
                <a:cs typeface="Darker Grotesque Medium"/>
                <a:sym typeface="Darker Grotesque Medium"/>
              </a:rPr>
              <a:t>    </a:t>
            </a:r>
            <a:r>
              <a:rPr lang="en-US" sz="3600" dirty="0" err="1">
                <a:solidFill>
                  <a:srgbClr val="FFFFFF"/>
                </a:solidFill>
                <a:latin typeface="Darker Grotesque Medium"/>
                <a:ea typeface="Darker Grotesque Medium"/>
                <a:cs typeface="Darker Grotesque Medium"/>
                <a:sym typeface="Darker Grotesque Medium"/>
              </a:rPr>
              <a:t>userId</a:t>
            </a:r>
            <a:r>
              <a:rPr lang="en-US" sz="3600" dirty="0">
                <a:solidFill>
                  <a:srgbClr val="FFFFFF"/>
                </a:solidFill>
                <a:latin typeface="Darker Grotesque Medium"/>
                <a:ea typeface="Darker Grotesque Medium"/>
                <a:cs typeface="Darker Grotesque Medium"/>
                <a:sym typeface="Darker Grotesque Medium"/>
              </a:rPr>
              <a:t>: 1</a:t>
            </a:r>
          </a:p>
          <a:p>
            <a:pPr lvl="0" algn="just"/>
            <a:r>
              <a:rPr lang="en-US" sz="3600" dirty="0">
                <a:solidFill>
                  <a:srgbClr val="FFFFFF"/>
                </a:solidFill>
                <a:latin typeface="Darker Grotesque Medium"/>
                <a:ea typeface="Darker Grotesque Medium"/>
                <a:cs typeface="Darker Grotesque Medium"/>
                <a:sym typeface="Darker Grotesque Medium"/>
              </a:rPr>
              <a:t>  };</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  try {</a:t>
            </a:r>
          </a:p>
          <a:p>
            <a:pPr lvl="0" algn="just"/>
            <a:r>
              <a:rPr lang="en-US" sz="3600" dirty="0">
                <a:solidFill>
                  <a:srgbClr val="FFFFFF"/>
                </a:solidFill>
                <a:latin typeface="Darker Grotesque Medium"/>
                <a:ea typeface="Darker Grotesque Medium"/>
                <a:cs typeface="Darker Grotesque Medium"/>
                <a:sym typeface="Darker Grotesque Medium"/>
              </a:rPr>
              <a:t>    const response = await </a:t>
            </a:r>
            <a:r>
              <a:rPr lang="en-US" sz="3600" dirty="0" err="1">
                <a:solidFill>
                  <a:srgbClr val="FFFFFF"/>
                </a:solidFill>
                <a:latin typeface="Darker Grotesque Medium"/>
                <a:ea typeface="Darker Grotesque Medium"/>
                <a:cs typeface="Darker Grotesque Medium"/>
                <a:sym typeface="Darker Grotesque Medium"/>
              </a:rPr>
              <a:t>axios.post</a:t>
            </a:r>
            <a:r>
              <a:rPr lang="en-US" sz="3600" dirty="0">
                <a:solidFill>
                  <a:srgbClr val="FFFFFF"/>
                </a:solidFill>
                <a:latin typeface="Darker Grotesque Medium"/>
                <a:ea typeface="Darker Grotesque Medium"/>
                <a:cs typeface="Darker Grotesque Medium"/>
                <a:sym typeface="Darker Grotesque Medium"/>
              </a:rPr>
              <a:t>(</a:t>
            </a:r>
          </a:p>
          <a:p>
            <a:pPr lvl="0" algn="just"/>
            <a:r>
              <a:rPr lang="en-US" sz="3600" dirty="0">
                <a:solidFill>
                  <a:srgbClr val="FFFFFF"/>
                </a:solidFill>
                <a:latin typeface="Darker Grotesque Medium"/>
                <a:ea typeface="Darker Grotesque Medium"/>
                <a:cs typeface="Darker Grotesque Medium"/>
                <a:sym typeface="Darker Grotesque Medium"/>
              </a:rPr>
              <a:t>      "https://jsonplaceholder.typicode.com/posts",</a:t>
            </a:r>
          </a:p>
          <a:p>
            <a:pPr lvl="0" algn="just"/>
            <a:r>
              <a:rPr lang="en-US" sz="3600" dirty="0">
                <a:solidFill>
                  <a:srgbClr val="FFFFFF"/>
                </a:solidFill>
                <a:latin typeface="Darker Grotesque Medium"/>
                <a:ea typeface="Darker Grotesque Medium"/>
                <a:cs typeface="Darker Grotesque Medium"/>
                <a:sym typeface="Darker Grotesque Medium"/>
              </a:rPr>
              <a:t>      </a:t>
            </a:r>
            <a:r>
              <a:rPr lang="en-US" sz="3600" dirty="0" err="1">
                <a:solidFill>
                  <a:srgbClr val="FFFFFF"/>
                </a:solidFill>
                <a:latin typeface="Darker Grotesque Medium"/>
                <a:ea typeface="Darker Grotesque Medium"/>
                <a:cs typeface="Darker Grotesque Medium"/>
                <a:sym typeface="Darker Grotesque Medium"/>
              </a:rPr>
              <a:t>postData</a:t>
            </a:r>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    );</a:t>
            </a:r>
          </a:p>
          <a:p>
            <a:pPr lvl="0" algn="just"/>
            <a:r>
              <a:rPr lang="en-US" sz="3600" dirty="0">
                <a:solidFill>
                  <a:srgbClr val="FFFFFF"/>
                </a:solidFill>
                <a:latin typeface="Darker Grotesque Medium"/>
                <a:ea typeface="Darker Grotesque Medium"/>
                <a:cs typeface="Darker Grotesque Medium"/>
                <a:sym typeface="Darker Grotesque Medium"/>
              </a:rPr>
              <a:t>    console.log("Created Post:", </a:t>
            </a:r>
            <a:r>
              <a:rPr lang="en-US" sz="3600" dirty="0" err="1">
                <a:solidFill>
                  <a:srgbClr val="FFFFFF"/>
                </a:solidFill>
                <a:latin typeface="Darker Grotesque Medium"/>
                <a:ea typeface="Darker Grotesque Medium"/>
                <a:cs typeface="Darker Grotesque Medium"/>
                <a:sym typeface="Darker Grotesque Medium"/>
              </a:rPr>
              <a:t>response.data</a:t>
            </a:r>
            <a:r>
              <a:rPr lang="en-US" sz="3600" dirty="0">
                <a:solidFill>
                  <a:srgbClr val="FFFFFF"/>
                </a:solidFill>
                <a:latin typeface="Darker Grotesque Medium"/>
                <a:ea typeface="Darker Grotesque Medium"/>
                <a:cs typeface="Darker Grotesque Medium"/>
                <a:sym typeface="Darker Grotesque Medium"/>
              </a:rPr>
              <a:t>);</a:t>
            </a:r>
          </a:p>
          <a:p>
            <a:pPr lvl="0" algn="just"/>
            <a:r>
              <a:rPr lang="en-US" sz="3600" dirty="0">
                <a:solidFill>
                  <a:srgbClr val="FFFFFF"/>
                </a:solidFill>
                <a:latin typeface="Darker Grotesque Medium"/>
                <a:ea typeface="Darker Grotesque Medium"/>
                <a:cs typeface="Darker Grotesque Medium"/>
                <a:sym typeface="Darker Grotesque Medium"/>
              </a:rPr>
              <a:t>  } catch (error) {</a:t>
            </a:r>
          </a:p>
          <a:p>
            <a:pPr lvl="0" algn="just"/>
            <a:r>
              <a:rPr lang="en-US" sz="3600" dirty="0">
                <a:solidFill>
                  <a:srgbClr val="FFFFFF"/>
                </a:solidFill>
                <a:latin typeface="Darker Grotesque Medium"/>
                <a:ea typeface="Darker Grotesque Medium"/>
                <a:cs typeface="Darker Grotesque Medium"/>
                <a:sym typeface="Darker Grotesque Medium"/>
              </a:rPr>
              <a:t>    </a:t>
            </a:r>
            <a:r>
              <a:rPr lang="en-US" sz="3600" dirty="0" err="1">
                <a:solidFill>
                  <a:srgbClr val="FFFFFF"/>
                </a:solidFill>
                <a:latin typeface="Darker Grotesque Medium"/>
                <a:ea typeface="Darker Grotesque Medium"/>
                <a:cs typeface="Darker Grotesque Medium"/>
                <a:sym typeface="Darker Grotesque Medium"/>
              </a:rPr>
              <a:t>console.error</a:t>
            </a:r>
            <a:r>
              <a:rPr lang="en-US" sz="3600" dirty="0">
                <a:solidFill>
                  <a:srgbClr val="FFFFFF"/>
                </a:solidFill>
                <a:latin typeface="Darker Grotesque Medium"/>
                <a:ea typeface="Darker Grotesque Medium"/>
                <a:cs typeface="Darker Grotesque Medium"/>
                <a:sym typeface="Darker Grotesque Medium"/>
              </a:rPr>
              <a:t>("Error creating post:", error);</a:t>
            </a:r>
          </a:p>
          <a:p>
            <a:pPr lvl="0" algn="just"/>
            <a:r>
              <a:rPr lang="en-US" sz="3600" dirty="0">
                <a:solidFill>
                  <a:srgbClr val="FFFFFF"/>
                </a:solidFill>
                <a:latin typeface="Darker Grotesque Medium"/>
                <a:ea typeface="Darker Grotesque Medium"/>
                <a:cs typeface="Darker Grotesque Medium"/>
                <a:sym typeface="Darker Grotesque Medium"/>
              </a:rPr>
              <a:t>  }</a:t>
            </a:r>
          </a:p>
          <a:p>
            <a:pPr lvl="0" algn="just"/>
            <a:r>
              <a:rPr lang="en-US" sz="3600" dirty="0">
                <a:solidFill>
                  <a:srgbClr val="FFFFFF"/>
                </a:solidFill>
                <a:latin typeface="Darker Grotesque Medium"/>
                <a:ea typeface="Darker Grotesque Medium"/>
                <a:cs typeface="Darker Grotesque Medium"/>
                <a:sym typeface="Darker Grotesque Medium"/>
              </a:rPr>
              <a:t>}</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32634933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D1C02FA8-028F-275F-8423-061B25D3957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405332EA-8D67-FC74-C218-582B2A0B6CB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A2D6E48-454A-9EC4-0098-FE2B48960764}"/>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3039B0D0-C8E4-23DD-627A-A9DA00FAF008}"/>
              </a:ext>
            </a:extLst>
          </p:cNvPr>
          <p:cNvSpPr txBox="1"/>
          <p:nvPr/>
        </p:nvSpPr>
        <p:spPr>
          <a:xfrm>
            <a:off x="1414181" y="315039"/>
            <a:ext cx="15987646" cy="7755969"/>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Medium"/>
                <a:ea typeface="Darker Grotesque Medium"/>
                <a:cs typeface="Darker Grotesque Medium"/>
                <a:sym typeface="Darker Grotesque Medium"/>
              </a:rPr>
              <a:t>CORS (Cross-Origin Resource Sharing) is a security feature implemented by web browsers to control how web pages make requests to a different domain (origin) than the one that served the web page.</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Why CORS exists:</a:t>
            </a:r>
          </a:p>
          <a:p>
            <a:pPr lvl="0" algn="just"/>
            <a:r>
              <a:rPr lang="en-US" sz="3600" dirty="0">
                <a:solidFill>
                  <a:srgbClr val="FFFFFF"/>
                </a:solidFill>
                <a:latin typeface="Darker Grotesque Medium"/>
                <a:ea typeface="Darker Grotesque Medium"/>
                <a:cs typeface="Darker Grotesque Medium"/>
                <a:sym typeface="Darker Grotesque Medium"/>
              </a:rPr>
              <a:t>Browsers restrict cross-origin HTTP requests for security reasons (to prevent malicious sites from reading sensitive data from another site).</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How it works:</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The server must explicitly allow cross-origin requests by sending specific HTTP headers (like Access-Control-Allow-Origin).</a:t>
            </a:r>
          </a:p>
          <a:p>
            <a:pPr lvl="0" algn="just"/>
            <a:endParaRPr lang="en-US" sz="3600" dirty="0">
              <a:solidFill>
                <a:srgbClr val="FFFFFF"/>
              </a:solidFill>
              <a:latin typeface="Darker Grotesque Medium"/>
              <a:ea typeface="Darker Grotesque Medium"/>
              <a:cs typeface="Darker Grotesque Medium"/>
              <a:sym typeface="Darker Grotesque Medium"/>
            </a:endParaRPr>
          </a:p>
          <a:p>
            <a:pPr lvl="0" algn="just"/>
            <a:r>
              <a:rPr lang="en-US" sz="3600" dirty="0">
                <a:solidFill>
                  <a:srgbClr val="FFFFFF"/>
                </a:solidFill>
                <a:latin typeface="Darker Grotesque Medium"/>
                <a:ea typeface="Darker Grotesque Medium"/>
                <a:cs typeface="Darker Grotesque Medium"/>
                <a:sym typeface="Darker Grotesque Medium"/>
              </a:rPr>
              <a:t>Without CORS headers, the browser will block requests from other origins.</a:t>
            </a:r>
            <a:endParaRPr lang="en-US" sz="3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88173904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0C1383C2-3406-B91E-DD20-D8B58BEB881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2232C7C-DDBE-7086-52F4-8B1D24F2796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A57B81E5-D84F-C76B-DBB1-B4C29F6B3468}"/>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7EFEEDAA-0DF2-4248-1540-864257139390}"/>
              </a:ext>
            </a:extLst>
          </p:cNvPr>
          <p:cNvSpPr txBox="1"/>
          <p:nvPr/>
        </p:nvSpPr>
        <p:spPr>
          <a:xfrm>
            <a:off x="1414181" y="315039"/>
            <a:ext cx="15987646" cy="9048631"/>
          </a:xfrm>
          <a:prstGeom prst="rect">
            <a:avLst/>
          </a:prstGeom>
          <a:noFill/>
          <a:ln>
            <a:noFill/>
          </a:ln>
        </p:spPr>
        <p:txBody>
          <a:bodyPr spcFirstLastPara="1" wrap="square" lIns="0" tIns="0" rIns="0" bIns="0" anchor="t" anchorCtr="0">
            <a:spAutoFit/>
          </a:bodyPr>
          <a:lstStyle/>
          <a:p>
            <a:pPr lvl="0" algn="just"/>
            <a:r>
              <a:rPr lang="en-US" sz="2800" dirty="0">
                <a:solidFill>
                  <a:srgbClr val="FFFFFF"/>
                </a:solidFill>
                <a:latin typeface="Darker Grotesque Medium"/>
                <a:ea typeface="Darker Grotesque Medium"/>
                <a:cs typeface="Darker Grotesque Medium"/>
                <a:sym typeface="Darker Grotesque Medium"/>
              </a:rPr>
              <a:t>from </a:t>
            </a:r>
            <a:r>
              <a:rPr lang="en-US" sz="2800" dirty="0" err="1">
                <a:solidFill>
                  <a:srgbClr val="FFFFFF"/>
                </a:solidFill>
                <a:latin typeface="Darker Grotesque Medium"/>
                <a:ea typeface="Darker Grotesque Medium"/>
                <a:cs typeface="Darker Grotesque Medium"/>
                <a:sym typeface="Darker Grotesque Medium"/>
              </a:rPr>
              <a:t>fastapi</a:t>
            </a:r>
            <a:r>
              <a:rPr lang="en-US" sz="2800" dirty="0">
                <a:solidFill>
                  <a:srgbClr val="FFFFFF"/>
                </a:solidFill>
                <a:latin typeface="Darker Grotesque Medium"/>
                <a:ea typeface="Darker Grotesque Medium"/>
                <a:cs typeface="Darker Grotesque Medium"/>
                <a:sym typeface="Darker Grotesque Medium"/>
              </a:rPr>
              <a:t> import </a:t>
            </a:r>
            <a:r>
              <a:rPr lang="en-US" sz="2800" dirty="0" err="1">
                <a:solidFill>
                  <a:srgbClr val="FFFFFF"/>
                </a:solidFill>
                <a:latin typeface="Darker Grotesque Medium"/>
                <a:ea typeface="Darker Grotesque Medium"/>
                <a:cs typeface="Darker Grotesque Medium"/>
                <a:sym typeface="Darker Grotesque Medium"/>
              </a:rPr>
              <a:t>FastAPI</a:t>
            </a:r>
            <a:endParaRPr lang="en-US" sz="2800" dirty="0">
              <a:solidFill>
                <a:srgbClr val="FFFFFF"/>
              </a:solidFill>
              <a:latin typeface="Darker Grotesque Medium"/>
              <a:ea typeface="Darker Grotesque Medium"/>
              <a:cs typeface="Darker Grotesque Medium"/>
              <a:sym typeface="Darker Grotesque Medium"/>
            </a:endParaRPr>
          </a:p>
          <a:p>
            <a:pPr lvl="0" algn="just"/>
            <a:r>
              <a:rPr lang="en-US" sz="2800" dirty="0">
                <a:solidFill>
                  <a:srgbClr val="FFFFFF"/>
                </a:solidFill>
                <a:latin typeface="Darker Grotesque Medium"/>
                <a:ea typeface="Darker Grotesque Medium"/>
                <a:cs typeface="Darker Grotesque Medium"/>
                <a:sym typeface="Darker Grotesque Medium"/>
              </a:rPr>
              <a:t>from </a:t>
            </a:r>
            <a:r>
              <a:rPr lang="en-US" sz="2800" dirty="0" err="1">
                <a:solidFill>
                  <a:srgbClr val="FFFFFF"/>
                </a:solidFill>
                <a:latin typeface="Darker Grotesque Medium"/>
                <a:ea typeface="Darker Grotesque Medium"/>
                <a:cs typeface="Darker Grotesque Medium"/>
                <a:sym typeface="Darker Grotesque Medium"/>
              </a:rPr>
              <a:t>fastapi.middleware.cors</a:t>
            </a:r>
            <a:r>
              <a:rPr lang="en-US" sz="2800" dirty="0">
                <a:solidFill>
                  <a:srgbClr val="FFFFFF"/>
                </a:solidFill>
                <a:latin typeface="Darker Grotesque Medium"/>
                <a:ea typeface="Darker Grotesque Medium"/>
                <a:cs typeface="Darker Grotesque Medium"/>
                <a:sym typeface="Darker Grotesque Medium"/>
              </a:rPr>
              <a:t> import </a:t>
            </a:r>
            <a:r>
              <a:rPr lang="en-US" sz="2800" dirty="0" err="1">
                <a:solidFill>
                  <a:srgbClr val="FFFFFF"/>
                </a:solidFill>
                <a:latin typeface="Darker Grotesque Medium"/>
                <a:ea typeface="Darker Grotesque Medium"/>
                <a:cs typeface="Darker Grotesque Medium"/>
                <a:sym typeface="Darker Grotesque Medium"/>
              </a:rPr>
              <a:t>CORSMiddleware</a:t>
            </a:r>
            <a:endParaRPr lang="en-US" sz="2800" dirty="0">
              <a:solidFill>
                <a:srgbClr val="FFFFFF"/>
              </a:solidFill>
              <a:latin typeface="Darker Grotesque Medium"/>
              <a:ea typeface="Darker Grotesque Medium"/>
              <a:cs typeface="Darker Grotesque Medium"/>
              <a:sym typeface="Darker Grotesque Medium"/>
            </a:endParaRPr>
          </a:p>
          <a:p>
            <a:pPr lvl="0" algn="just"/>
            <a:endParaRPr lang="en-US" sz="2800" dirty="0">
              <a:solidFill>
                <a:srgbClr val="FFFFFF"/>
              </a:solidFill>
              <a:latin typeface="Darker Grotesque Medium"/>
              <a:ea typeface="Darker Grotesque Medium"/>
              <a:cs typeface="Darker Grotesque Medium"/>
              <a:sym typeface="Darker Grotesque Medium"/>
            </a:endParaRPr>
          </a:p>
          <a:p>
            <a:pPr lvl="0" algn="just"/>
            <a:r>
              <a:rPr lang="en-US" sz="2800" dirty="0">
                <a:solidFill>
                  <a:srgbClr val="FFFFFF"/>
                </a:solidFill>
                <a:latin typeface="Darker Grotesque Medium"/>
                <a:ea typeface="Darker Grotesque Medium"/>
                <a:cs typeface="Darker Grotesque Medium"/>
                <a:sym typeface="Darker Grotesque Medium"/>
              </a:rPr>
              <a:t>app = </a:t>
            </a:r>
            <a:r>
              <a:rPr lang="en-US" sz="2800" dirty="0" err="1">
                <a:solidFill>
                  <a:srgbClr val="FFFFFF"/>
                </a:solidFill>
                <a:latin typeface="Darker Grotesque Medium"/>
                <a:ea typeface="Darker Grotesque Medium"/>
                <a:cs typeface="Darker Grotesque Medium"/>
                <a:sym typeface="Darker Grotesque Medium"/>
              </a:rPr>
              <a:t>FastAPI</a:t>
            </a:r>
            <a:r>
              <a:rPr lang="en-US" sz="2800" dirty="0">
                <a:solidFill>
                  <a:srgbClr val="FFFFFF"/>
                </a:solidFill>
                <a:latin typeface="Darker Grotesque Medium"/>
                <a:ea typeface="Darker Grotesque Medium"/>
                <a:cs typeface="Darker Grotesque Medium"/>
                <a:sym typeface="Darker Grotesque Medium"/>
              </a:rPr>
              <a:t>()</a:t>
            </a:r>
          </a:p>
          <a:p>
            <a:pPr lvl="0" algn="just"/>
            <a:endParaRPr lang="en-US" sz="2800" dirty="0">
              <a:solidFill>
                <a:srgbClr val="FFFFFF"/>
              </a:solidFill>
              <a:latin typeface="Darker Grotesque Medium"/>
              <a:ea typeface="Darker Grotesque Medium"/>
              <a:cs typeface="Darker Grotesque Medium"/>
              <a:sym typeface="Darker Grotesque Medium"/>
            </a:endParaRPr>
          </a:p>
          <a:p>
            <a:pPr lvl="0" algn="just"/>
            <a:r>
              <a:rPr lang="en-US" sz="2800" dirty="0">
                <a:solidFill>
                  <a:srgbClr val="FFFFFF"/>
                </a:solidFill>
                <a:latin typeface="Darker Grotesque Medium"/>
                <a:ea typeface="Darker Grotesque Medium"/>
                <a:cs typeface="Darker Grotesque Medium"/>
                <a:sym typeface="Darker Grotesque Medium"/>
              </a:rPr>
              <a:t>origins = [</a:t>
            </a:r>
          </a:p>
          <a:p>
            <a:pPr lvl="0" algn="just"/>
            <a:r>
              <a:rPr lang="en-US" sz="2800" dirty="0">
                <a:solidFill>
                  <a:srgbClr val="FFFFFF"/>
                </a:solidFill>
                <a:latin typeface="Darker Grotesque Medium"/>
                <a:ea typeface="Darker Grotesque Medium"/>
                <a:cs typeface="Darker Grotesque Medium"/>
                <a:sym typeface="Darker Grotesque Medium"/>
              </a:rPr>
              <a:t>    "http://localhost:3000",  # React development server</a:t>
            </a:r>
          </a:p>
          <a:p>
            <a:pPr lvl="0" algn="just"/>
            <a:r>
              <a:rPr lang="en-US" sz="2800" dirty="0">
                <a:solidFill>
                  <a:srgbClr val="FFFFFF"/>
                </a:solidFill>
                <a:latin typeface="Darker Grotesque Medium"/>
                <a:ea typeface="Darker Grotesque Medium"/>
                <a:cs typeface="Darker Grotesque Medium"/>
                <a:sym typeface="Darker Grotesque Medium"/>
              </a:rPr>
              <a:t>    "https://example.com",    # Production frontend</a:t>
            </a:r>
          </a:p>
          <a:p>
            <a:pPr algn="just"/>
            <a:r>
              <a:rPr lang="en-US" sz="2800" dirty="0">
                <a:solidFill>
                  <a:srgbClr val="FFFFFF"/>
                </a:solidFill>
                <a:latin typeface="Darker Grotesque Medium"/>
                <a:ea typeface="Darker Grotesque Medium"/>
                <a:cs typeface="Darker Grotesque Medium"/>
                <a:sym typeface="Darker Grotesque Medium"/>
              </a:rPr>
              <a:t>] # Define allowed origins (domains that can access your API)</a:t>
            </a:r>
          </a:p>
          <a:p>
            <a:pPr lvl="0" algn="just"/>
            <a:endParaRPr lang="en-US" sz="2800" dirty="0">
              <a:solidFill>
                <a:srgbClr val="FFFFFF"/>
              </a:solidFill>
              <a:latin typeface="Darker Grotesque Medium"/>
              <a:ea typeface="Darker Grotesque Medium"/>
              <a:cs typeface="Darker Grotesque Medium"/>
              <a:sym typeface="Darker Grotesque Medium"/>
            </a:endParaRPr>
          </a:p>
          <a:p>
            <a:pPr lvl="0" algn="just"/>
            <a:r>
              <a:rPr lang="en-US" sz="2800" dirty="0" err="1">
                <a:solidFill>
                  <a:srgbClr val="FFFFFF"/>
                </a:solidFill>
                <a:latin typeface="Darker Grotesque Medium"/>
                <a:ea typeface="Darker Grotesque Medium"/>
                <a:cs typeface="Darker Grotesque Medium"/>
                <a:sym typeface="Darker Grotesque Medium"/>
              </a:rPr>
              <a:t>app.add_middleware</a:t>
            </a:r>
            <a:r>
              <a:rPr lang="en-US" sz="2800" dirty="0">
                <a:solidFill>
                  <a:srgbClr val="FFFFFF"/>
                </a:solidFill>
                <a:latin typeface="Darker Grotesque Medium"/>
                <a:ea typeface="Darker Grotesque Medium"/>
                <a:cs typeface="Darker Grotesque Medium"/>
                <a:sym typeface="Darker Grotesque Medium"/>
              </a:rPr>
              <a:t>(</a:t>
            </a:r>
          </a:p>
          <a:p>
            <a:pPr lvl="0" algn="just"/>
            <a:r>
              <a:rPr lang="en-US" sz="2800" dirty="0">
                <a:solidFill>
                  <a:srgbClr val="FFFFFF"/>
                </a:solidFill>
                <a:latin typeface="Darker Grotesque Medium"/>
                <a:ea typeface="Darker Grotesque Medium"/>
                <a:cs typeface="Darker Grotesque Medium"/>
                <a:sym typeface="Darker Grotesque Medium"/>
              </a:rPr>
              <a:t>    </a:t>
            </a:r>
            <a:r>
              <a:rPr lang="en-US" sz="2800" dirty="0" err="1">
                <a:solidFill>
                  <a:srgbClr val="FFFFFF"/>
                </a:solidFill>
                <a:latin typeface="Darker Grotesque Medium"/>
                <a:ea typeface="Darker Grotesque Medium"/>
                <a:cs typeface="Darker Grotesque Medium"/>
                <a:sym typeface="Darker Grotesque Medium"/>
              </a:rPr>
              <a:t>CORSMiddleware</a:t>
            </a:r>
            <a:r>
              <a:rPr lang="en-US" sz="2800" dirty="0">
                <a:solidFill>
                  <a:srgbClr val="FFFFFF"/>
                </a:solidFill>
                <a:latin typeface="Darker Grotesque Medium"/>
                <a:ea typeface="Darker Grotesque Medium"/>
                <a:cs typeface="Darker Grotesque Medium"/>
                <a:sym typeface="Darker Grotesque Medium"/>
              </a:rPr>
              <a:t>,</a:t>
            </a:r>
          </a:p>
          <a:p>
            <a:pPr lvl="0" algn="just"/>
            <a:r>
              <a:rPr lang="en-US" sz="2800" dirty="0">
                <a:solidFill>
                  <a:srgbClr val="FFFFFF"/>
                </a:solidFill>
                <a:latin typeface="Darker Grotesque Medium"/>
                <a:ea typeface="Darker Grotesque Medium"/>
                <a:cs typeface="Darker Grotesque Medium"/>
                <a:sym typeface="Darker Grotesque Medium"/>
              </a:rPr>
              <a:t>    </a:t>
            </a:r>
            <a:r>
              <a:rPr lang="en-US" sz="2800" dirty="0" err="1">
                <a:solidFill>
                  <a:srgbClr val="FFFFFF"/>
                </a:solidFill>
                <a:latin typeface="Darker Grotesque Medium"/>
                <a:ea typeface="Darker Grotesque Medium"/>
                <a:cs typeface="Darker Grotesque Medium"/>
                <a:sym typeface="Darker Grotesque Medium"/>
              </a:rPr>
              <a:t>allow_origins</a:t>
            </a:r>
            <a:r>
              <a:rPr lang="en-US" sz="2800" dirty="0">
                <a:solidFill>
                  <a:srgbClr val="FFFFFF"/>
                </a:solidFill>
                <a:latin typeface="Darker Grotesque Medium"/>
                <a:ea typeface="Darker Grotesque Medium"/>
                <a:cs typeface="Darker Grotesque Medium"/>
                <a:sym typeface="Darker Grotesque Medium"/>
              </a:rPr>
              <a:t>=origins,        # Allow these origins</a:t>
            </a:r>
          </a:p>
          <a:p>
            <a:pPr lvl="0" algn="just"/>
            <a:r>
              <a:rPr lang="en-US" sz="2800" dirty="0">
                <a:solidFill>
                  <a:srgbClr val="FFFFFF"/>
                </a:solidFill>
                <a:latin typeface="Darker Grotesque Medium"/>
                <a:ea typeface="Darker Grotesque Medium"/>
                <a:cs typeface="Darker Grotesque Medium"/>
                <a:sym typeface="Darker Grotesque Medium"/>
              </a:rPr>
              <a:t>    </a:t>
            </a:r>
            <a:r>
              <a:rPr lang="en-US" sz="2800" dirty="0" err="1">
                <a:solidFill>
                  <a:srgbClr val="FFFFFF"/>
                </a:solidFill>
                <a:latin typeface="Darker Grotesque Medium"/>
                <a:ea typeface="Darker Grotesque Medium"/>
                <a:cs typeface="Darker Grotesque Medium"/>
                <a:sym typeface="Darker Grotesque Medium"/>
              </a:rPr>
              <a:t>allow_credentials</a:t>
            </a:r>
            <a:r>
              <a:rPr lang="en-US" sz="2800" dirty="0">
                <a:solidFill>
                  <a:srgbClr val="FFFFFF"/>
                </a:solidFill>
                <a:latin typeface="Darker Grotesque Medium"/>
                <a:ea typeface="Darker Grotesque Medium"/>
                <a:cs typeface="Darker Grotesque Medium"/>
                <a:sym typeface="Darker Grotesque Medium"/>
              </a:rPr>
              <a:t>=True,       # Allow cookies, authentication headers</a:t>
            </a:r>
          </a:p>
          <a:p>
            <a:pPr lvl="0" algn="just"/>
            <a:r>
              <a:rPr lang="en-US" sz="2800" dirty="0">
                <a:solidFill>
                  <a:srgbClr val="FFFFFF"/>
                </a:solidFill>
                <a:latin typeface="Darker Grotesque Medium"/>
                <a:ea typeface="Darker Grotesque Medium"/>
                <a:cs typeface="Darker Grotesque Medium"/>
                <a:sym typeface="Darker Grotesque Medium"/>
              </a:rPr>
              <a:t>    </a:t>
            </a:r>
            <a:r>
              <a:rPr lang="en-US" sz="2800" dirty="0" err="1">
                <a:solidFill>
                  <a:srgbClr val="FFFFFF"/>
                </a:solidFill>
                <a:latin typeface="Darker Grotesque Medium"/>
                <a:ea typeface="Darker Grotesque Medium"/>
                <a:cs typeface="Darker Grotesque Medium"/>
                <a:sym typeface="Darker Grotesque Medium"/>
              </a:rPr>
              <a:t>allow_methods</a:t>
            </a:r>
            <a:r>
              <a:rPr lang="en-US" sz="2800" dirty="0">
                <a:solidFill>
                  <a:srgbClr val="FFFFFF"/>
                </a:solidFill>
                <a:latin typeface="Darker Grotesque Medium"/>
                <a:ea typeface="Darker Grotesque Medium"/>
                <a:cs typeface="Darker Grotesque Medium"/>
                <a:sym typeface="Darker Grotesque Medium"/>
              </a:rPr>
              <a:t>=["*"],          # Allow all HTTP methods (GET, POST, etc.)</a:t>
            </a:r>
          </a:p>
          <a:p>
            <a:pPr lvl="0" algn="just"/>
            <a:r>
              <a:rPr lang="en-US" sz="2800" dirty="0">
                <a:solidFill>
                  <a:srgbClr val="FFFFFF"/>
                </a:solidFill>
                <a:latin typeface="Darker Grotesque Medium"/>
                <a:ea typeface="Darker Grotesque Medium"/>
                <a:cs typeface="Darker Grotesque Medium"/>
                <a:sym typeface="Darker Grotesque Medium"/>
              </a:rPr>
              <a:t>    </a:t>
            </a:r>
            <a:r>
              <a:rPr lang="en-US" sz="2800" dirty="0" err="1">
                <a:solidFill>
                  <a:srgbClr val="FFFFFF"/>
                </a:solidFill>
                <a:latin typeface="Darker Grotesque Medium"/>
                <a:ea typeface="Darker Grotesque Medium"/>
                <a:cs typeface="Darker Grotesque Medium"/>
                <a:sym typeface="Darker Grotesque Medium"/>
              </a:rPr>
              <a:t>allow_headers</a:t>
            </a:r>
            <a:r>
              <a:rPr lang="en-US" sz="2800" dirty="0">
                <a:solidFill>
                  <a:srgbClr val="FFFFFF"/>
                </a:solidFill>
                <a:latin typeface="Darker Grotesque Medium"/>
                <a:ea typeface="Darker Grotesque Medium"/>
                <a:cs typeface="Darker Grotesque Medium"/>
                <a:sym typeface="Darker Grotesque Medium"/>
              </a:rPr>
              <a:t>=["*"],          # Allow all headers</a:t>
            </a:r>
          </a:p>
          <a:p>
            <a:pPr lvl="0" algn="just"/>
            <a:r>
              <a:rPr lang="en-US" sz="2800" dirty="0">
                <a:solidFill>
                  <a:srgbClr val="FFFFFF"/>
                </a:solidFill>
                <a:latin typeface="Darker Grotesque Medium"/>
                <a:ea typeface="Darker Grotesque Medium"/>
                <a:cs typeface="Darker Grotesque Medium"/>
                <a:sym typeface="Darker Grotesque Medium"/>
              </a:rPr>
              <a:t>)</a:t>
            </a:r>
          </a:p>
          <a:p>
            <a:pPr lvl="0" algn="just"/>
            <a:endParaRPr lang="en-US" sz="2800" dirty="0">
              <a:solidFill>
                <a:srgbClr val="FFFFFF"/>
              </a:solidFill>
              <a:latin typeface="Darker Grotesque Medium"/>
              <a:ea typeface="Darker Grotesque Medium"/>
              <a:cs typeface="Darker Grotesque Medium"/>
              <a:sym typeface="Darker Grotesque Medium"/>
            </a:endParaRPr>
          </a:p>
          <a:p>
            <a:pPr lvl="0" algn="just"/>
            <a:r>
              <a:rPr lang="en-US" sz="2800" dirty="0">
                <a:solidFill>
                  <a:srgbClr val="FFFFFF"/>
                </a:solidFill>
                <a:latin typeface="Darker Grotesque Medium"/>
                <a:ea typeface="Darker Grotesque Medium"/>
                <a:cs typeface="Darker Grotesque Medium"/>
                <a:sym typeface="Darker Grotesque Medium"/>
              </a:rPr>
              <a:t>@app.get("/")</a:t>
            </a:r>
          </a:p>
          <a:p>
            <a:pPr lvl="0" algn="just"/>
            <a:r>
              <a:rPr lang="en-US" sz="2800" dirty="0">
                <a:solidFill>
                  <a:srgbClr val="FFFFFF"/>
                </a:solidFill>
                <a:latin typeface="Darker Grotesque Medium"/>
                <a:ea typeface="Darker Grotesque Medium"/>
                <a:cs typeface="Darker Grotesque Medium"/>
                <a:sym typeface="Darker Grotesque Medium"/>
              </a:rPr>
              <a:t>def </a:t>
            </a:r>
            <a:r>
              <a:rPr lang="en-US" sz="2800" dirty="0" err="1">
                <a:solidFill>
                  <a:srgbClr val="FFFFFF"/>
                </a:solidFill>
                <a:latin typeface="Darker Grotesque Medium"/>
                <a:ea typeface="Darker Grotesque Medium"/>
                <a:cs typeface="Darker Grotesque Medium"/>
                <a:sym typeface="Darker Grotesque Medium"/>
              </a:rPr>
              <a:t>read_root</a:t>
            </a:r>
            <a:r>
              <a:rPr lang="en-US" sz="2800" dirty="0">
                <a:solidFill>
                  <a:srgbClr val="FFFFFF"/>
                </a:solidFill>
                <a:latin typeface="Darker Grotesque Medium"/>
                <a:ea typeface="Darker Grotesque Medium"/>
                <a:cs typeface="Darker Grotesque Medium"/>
                <a:sym typeface="Darker Grotesque Medium"/>
              </a:rPr>
              <a:t>():</a:t>
            </a:r>
          </a:p>
          <a:p>
            <a:pPr lvl="0" algn="just"/>
            <a:r>
              <a:rPr lang="en-US" sz="2800" dirty="0">
                <a:solidFill>
                  <a:srgbClr val="FFFFFF"/>
                </a:solidFill>
                <a:latin typeface="Darker Grotesque Medium"/>
                <a:ea typeface="Darker Grotesque Medium"/>
                <a:cs typeface="Darker Grotesque Medium"/>
                <a:sym typeface="Darker Grotesque Medium"/>
              </a:rPr>
              <a:t>    return {"message": "Hello, CORS is configured!"}</a:t>
            </a:r>
            <a:endParaRPr lang="en-US" sz="28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376334181"/>
      </p:ext>
    </p:extLst>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2110</TotalTime>
  <Words>1134</Words>
  <Application>Microsoft Office PowerPoint</Application>
  <PresentationFormat>Custom</PresentationFormat>
  <Paragraphs>151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17</cp:revision>
  <dcterms:modified xsi:type="dcterms:W3CDTF">2025-12-03T09:01:22Z</dcterms:modified>
</cp:coreProperties>
</file>