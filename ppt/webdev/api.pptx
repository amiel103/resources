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1"/>
  </p:notesMasterIdLst>
  <p:sldIdLst>
    <p:sldId id="256" r:id="rId2"/>
    <p:sldId id="311" r:id="rId3"/>
    <p:sldId id="304" r:id="rId4"/>
    <p:sldId id="312" r:id="rId5"/>
    <p:sldId id="313" r:id="rId6"/>
    <p:sldId id="314" r:id="rId7"/>
    <p:sldId id="292" r:id="rId8"/>
    <p:sldId id="288" r:id="rId9"/>
    <p:sldId id="315" r:id="rId10"/>
    <p:sldId id="316" r:id="rId11"/>
    <p:sldId id="317" r:id="rId12"/>
    <p:sldId id="318" r:id="rId13"/>
    <p:sldId id="319" r:id="rId14"/>
    <p:sldId id="320" r:id="rId15"/>
    <p:sldId id="322" r:id="rId16"/>
    <p:sldId id="321" r:id="rId17"/>
    <p:sldId id="325" r:id="rId18"/>
    <p:sldId id="323" r:id="rId19"/>
    <p:sldId id="326" r:id="rId20"/>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4F77845-1C7F-3CF4-7F82-9CAC338A36F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35A4A30-A30C-8D0F-0E44-32CBC2F0E4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13340D0-3350-38B4-BCF5-DD7A068E49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996035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1B4D34C-AAFD-91E3-81FD-706C85D5590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86CC0FF-FF25-4FFF-E821-4CF63F7D4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07AD495-4D2B-497E-91CB-8B01AB1897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37984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A1BFAEF-9CF4-3149-CB52-02F11A01228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61F1833-0FBE-6966-1C8A-4B89A8BF9A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8BC01EE-B288-90E9-A934-58306B1E83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452666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53C9184-07C6-3969-4C37-C3FA15BAD1F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0F2FBC3-9227-6355-8814-54D484D2C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7C23927D-25BD-1814-090A-E48BF19163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816867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0460471-EC33-DBA0-4093-67379896BC99}"/>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C3A4A20A-4C9F-15EB-2FF5-FDB845B27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E7ED712-03AA-2CDE-CA98-46F87A87F2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097238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C643459-CB73-E395-2425-6BEF3BED5CB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EBA98BD-6D1A-ED53-A58E-2350F7E654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79EFFD1-69A2-54BD-0C22-0CA4B78D7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76601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428B108-B6BE-B9ED-6421-BE3C22C1242B}"/>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A715CFE-5A63-AB2A-2990-D88A96BB2E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893E495-C436-527F-F026-E7F33BC26E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959212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4FA83C7-0685-7EB0-0418-ECA35A42E378}"/>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31139EC9-A2C8-996E-FA38-E6152C6627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E1D3908-A664-611C-C3C3-B689222BE5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122182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77D99A7-D859-646B-A028-A073A6DDB4B3}"/>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DEE8EF8-F633-B60E-FFF6-612FBC0107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9F0EF3F-95DB-9A69-2EC7-13D7A46C9D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2390275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A1820C7-8DF0-65BF-0B07-CBEF3B161086}"/>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DA29B5FB-CE10-BB08-D40D-C585F5B56F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BD6DC042-C697-B00B-31CF-E63549278B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860158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E678B2D3-2268-1191-C3C4-CF87427A7CE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7ADED52A-65AD-7239-0091-7BFDD19745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6A553244-E146-DBF9-0579-0EFB8E69FE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5669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E1044FA4-3CF6-30FC-EC2F-D751956D262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D4BB76CE-BC69-23E3-56C6-40FE7CCA9D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B23479AF-193C-E75D-B63B-5B4338022D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491588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352FBE3-20BE-E182-B181-85F881E3457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9B40B34B-EC45-A214-D233-8917E7A41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869296A7-F5E8-6B77-9F71-180E1DDD96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2323397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69E3FAB-F58C-92C2-B66A-1728CC3FBD5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0EF8C85-E6D9-B59F-DE9C-F11F2FF98C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093CB8E1-6B51-5B4C-7DD1-ACE7BC2700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91207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A1FB3-8585-65F3-51B5-7E45D2E5495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1E3433C-8805-887C-46CB-7354437CB9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FC9D042-D69C-7861-242A-68CE79D406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41224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9351923D-7E7B-4BAA-774E-5C899DCBFC79}"/>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12D296E-9C5E-F16E-C0B4-83A72AA2DC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F13E40EA-C9A1-54F5-E855-EF3281A6BD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600255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07E9FEB-125B-AB0A-72ED-9773AA514068}"/>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1D4ADB2-3D44-1179-DBD6-9CED51EE75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4F4AFB60-9F9D-9C3A-CF8A-91E1CDF328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328583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8F99840-E0EE-6BA9-B8F8-57C2AAD1CE93}"/>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B5B3436F-1ACD-DAD0-21E9-8EA2304A40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0529341-0146-385F-9885-14A43C59B6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79200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7"/>
          <p:cNvSpPr txBox="1"/>
          <p:nvPr/>
        </p:nvSpPr>
        <p:spPr>
          <a:xfrm>
            <a:off x="1802795" y="3486106"/>
            <a:ext cx="15475556" cy="2462213"/>
          </a:xfrm>
          <a:prstGeom prst="rect">
            <a:avLst/>
          </a:prstGeom>
          <a:noFill/>
          <a:ln>
            <a:noFill/>
          </a:ln>
        </p:spPr>
        <p:txBody>
          <a:bodyPr spcFirstLastPara="1" wrap="square" lIns="0" tIns="0" rIns="0" bIns="0" anchor="t" anchorCtr="0">
            <a:spAutoFit/>
          </a:bodyPr>
          <a:lstStyle/>
          <a:p>
            <a:pPr lvl="0">
              <a:lnSpc>
                <a:spcPct val="80000"/>
              </a:lnSpc>
            </a:pPr>
            <a:r>
              <a:rPr lang="en-US" sz="10000" dirty="0">
                <a:solidFill>
                  <a:srgbClr val="C2F970"/>
                </a:solidFill>
                <a:latin typeface="Darker Grotesque"/>
                <a:ea typeface="Darker Grotesque"/>
                <a:cs typeface="Darker Grotesque"/>
                <a:sym typeface="Darker Grotesque"/>
              </a:rPr>
              <a:t>Application Programming Interface (API)</a:t>
            </a:r>
            <a:endParaRPr sz="1100" dirty="0"/>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DA973A42-F278-8915-9695-E52621784F0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104C4E23-5165-9369-7178-E9928CD34F22}"/>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6386307-CEFF-7EA4-74D2-A84F52BD350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2C9B631C-1948-2770-71B2-0343D68F962C}"/>
              </a:ext>
            </a:extLst>
          </p:cNvPr>
          <p:cNvSpPr txBox="1"/>
          <p:nvPr/>
        </p:nvSpPr>
        <p:spPr>
          <a:xfrm>
            <a:off x="1548653" y="3571103"/>
            <a:ext cx="15987646" cy="3231654"/>
          </a:xfrm>
          <a:prstGeom prst="rect">
            <a:avLst/>
          </a:prstGeom>
          <a:noFill/>
          <a:ln>
            <a:noFill/>
          </a:ln>
        </p:spPr>
        <p:txBody>
          <a:bodyPr spcFirstLastPara="1" wrap="square" lIns="0" tIns="0" rIns="0" bIns="0" anchor="t" anchorCtr="0">
            <a:spAutoFit/>
          </a:bodyPr>
          <a:lstStyle/>
          <a:p>
            <a:pPr lvl="0" algn="just"/>
            <a:r>
              <a:rPr lang="en-US" sz="4200" dirty="0">
                <a:solidFill>
                  <a:srgbClr val="FFFFFF"/>
                </a:solidFill>
                <a:latin typeface="Darker Grotesque Medium"/>
                <a:ea typeface="Darker Grotesque Medium"/>
                <a:cs typeface="Darker Grotesque Medium"/>
                <a:sym typeface="Darker Grotesque Medium"/>
              </a:rPr>
              <a:t>APIs are mechanisms that enable two software components to communicate with each other using a set of definitions and protocols. For example, the weather bureau’s software system contains daily weather data. The weather app on your phone “talks” to this system via APIs and shows you daily weather updates on your phone.</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DB43AB24-5E15-46D9-8834-1D44582D8935}"/>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94;p11">
            <a:extLst>
              <a:ext uri="{FF2B5EF4-FFF2-40B4-BE49-F238E27FC236}">
                <a16:creationId xmlns:a16="http://schemas.microsoft.com/office/drawing/2014/main" id="{E2969F57-0033-7A9F-22C0-77A783BAC248}"/>
              </a:ext>
            </a:extLst>
          </p:cNvPr>
          <p:cNvSpPr txBox="1"/>
          <p:nvPr/>
        </p:nvSpPr>
        <p:spPr>
          <a:xfrm>
            <a:off x="1409764" y="2219238"/>
            <a:ext cx="3700114"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What is an API?</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394699955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1145260-8242-2C97-71CC-E0F7632F317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B6881DC-93D9-EEC6-2BEB-D792FF2BAF5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0D8275A-A0EB-EB61-55BE-12E64915E97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72A06E8-18B2-D824-3A38-3458DC101784}"/>
              </a:ext>
            </a:extLst>
          </p:cNvPr>
          <p:cNvSpPr txBox="1"/>
          <p:nvPr/>
        </p:nvSpPr>
        <p:spPr>
          <a:xfrm>
            <a:off x="1817595" y="3336489"/>
            <a:ext cx="15987646" cy="2585323"/>
          </a:xfrm>
          <a:prstGeom prst="rect">
            <a:avLst/>
          </a:prstGeom>
          <a:noFill/>
          <a:ln>
            <a:noFill/>
          </a:ln>
        </p:spPr>
        <p:txBody>
          <a:bodyPr spcFirstLastPara="1" wrap="square" lIns="0" tIns="0" rIns="0" bIns="0" anchor="t" anchorCtr="0">
            <a:spAutoFit/>
          </a:bodyPr>
          <a:lstStyle/>
          <a:p>
            <a:pPr lvl="0" algn="just"/>
            <a:r>
              <a:rPr lang="en-US" sz="4200" dirty="0">
                <a:solidFill>
                  <a:srgbClr val="FFFFFF"/>
                </a:solidFill>
                <a:latin typeface="Darker Grotesque Medium"/>
                <a:ea typeface="Darker Grotesque Medium"/>
                <a:cs typeface="Darker Grotesque Medium"/>
                <a:sym typeface="Darker Grotesque Medium"/>
              </a:rPr>
              <a:t>API architecture is usually explained in terms of client and server. The application sending the request is called the client, and the application sending the response is called the server. So in the weather example, the bureau’s weather database is the server, and the mobile app is the client. </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5E0FFD7A-DE6D-85CD-FC2A-EFF009607B6B}"/>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94;p11">
            <a:extLst>
              <a:ext uri="{FF2B5EF4-FFF2-40B4-BE49-F238E27FC236}">
                <a16:creationId xmlns:a16="http://schemas.microsoft.com/office/drawing/2014/main" id="{78217D28-6BE2-1483-5AFF-FC3B3E203FB8}"/>
              </a:ext>
            </a:extLst>
          </p:cNvPr>
          <p:cNvSpPr txBox="1"/>
          <p:nvPr/>
        </p:nvSpPr>
        <p:spPr>
          <a:xfrm>
            <a:off x="1409763" y="2219238"/>
            <a:ext cx="6550895" cy="646331"/>
          </a:xfrm>
          <a:prstGeom prst="rect">
            <a:avLst/>
          </a:prstGeom>
          <a:noFill/>
          <a:ln>
            <a:noFill/>
          </a:ln>
        </p:spPr>
        <p:txBody>
          <a:bodyPr spcFirstLastPara="1" wrap="square" lIns="0" tIns="0" rIns="0" bIns="0" anchor="t" anchorCtr="0">
            <a:spAutoFit/>
          </a:bodyPr>
          <a:lstStyle/>
          <a:p>
            <a:pPr lvl="0" algn="just"/>
            <a:r>
              <a:rPr lang="en-US" sz="4200" b="1" dirty="0">
                <a:solidFill>
                  <a:srgbClr val="FFFFFF"/>
                </a:solidFill>
                <a:latin typeface="Darker Grotesque Medium"/>
                <a:ea typeface="Darker Grotesque Medium"/>
                <a:cs typeface="Darker Grotesque Medium"/>
                <a:sym typeface="Darker Grotesque Medium"/>
              </a:rPr>
              <a:t>How do APIs work?</a:t>
            </a:r>
          </a:p>
        </p:txBody>
      </p:sp>
    </p:spTree>
    <p:extLst>
      <p:ext uri="{BB962C8B-B14F-4D97-AF65-F5344CB8AC3E}">
        <p14:creationId xmlns:p14="http://schemas.microsoft.com/office/powerpoint/2010/main" val="50936664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CA9C70D9-0864-D8BB-41E3-5C2E9B300C6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EA90797-F614-BAAC-FA95-A0C68FAE96C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6E8E378-D41D-19C1-EB3B-6725403B53F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A9ED1DE-5D2B-6199-CB7D-3F1D5C54AA38}"/>
              </a:ext>
            </a:extLst>
          </p:cNvPr>
          <p:cNvSpPr txBox="1"/>
          <p:nvPr/>
        </p:nvSpPr>
        <p:spPr>
          <a:xfrm>
            <a:off x="1521759" y="578086"/>
            <a:ext cx="15987646" cy="8433078"/>
          </a:xfrm>
          <a:prstGeom prst="rect">
            <a:avLst/>
          </a:prstGeom>
          <a:noFill/>
          <a:ln>
            <a:noFill/>
          </a:ln>
        </p:spPr>
        <p:txBody>
          <a:bodyPr spcFirstLastPara="1" wrap="square" lIns="0" tIns="0" rIns="0" bIns="0" anchor="t" anchorCtr="0">
            <a:spAutoFit/>
          </a:bodyPr>
          <a:lstStyle/>
          <a:p>
            <a:pPr lvl="0" algn="just"/>
            <a:r>
              <a:rPr lang="en-US" sz="3600" spc="-150" dirty="0">
                <a:solidFill>
                  <a:srgbClr val="FFFFFF"/>
                </a:solidFill>
                <a:latin typeface="Darker Grotesque Medium"/>
                <a:ea typeface="Darker Grotesque Medium"/>
                <a:cs typeface="Darker Grotesque Medium"/>
                <a:sym typeface="Darker Grotesque Medium"/>
              </a:rPr>
              <a:t>There are four different ways that APIs can work depending on when and why they were created.</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a:solidFill>
                  <a:srgbClr val="FFFFFF"/>
                </a:solidFill>
                <a:latin typeface="Darker Grotesque Medium"/>
                <a:ea typeface="Darker Grotesque Medium"/>
                <a:cs typeface="Darker Grotesque Medium"/>
                <a:sym typeface="Darker Grotesque Medium"/>
              </a:rPr>
              <a:t>SOAP APIs </a:t>
            </a:r>
          </a:p>
          <a:p>
            <a:pPr lvl="0" algn="just"/>
            <a:r>
              <a:rPr lang="en-US" sz="2800" spc="-150" dirty="0">
                <a:solidFill>
                  <a:srgbClr val="FFFFFF"/>
                </a:solidFill>
                <a:latin typeface="Darker Grotesque Medium"/>
                <a:ea typeface="Darker Grotesque Medium"/>
                <a:cs typeface="Darker Grotesque Medium"/>
                <a:sym typeface="Darker Grotesque Medium"/>
              </a:rPr>
              <a:t>	These APIs use Simple Object Access Protocol. Client and server exchange messages using XML. This is a less flexible API that was more popular in the past.</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a:solidFill>
                  <a:srgbClr val="FFFFFF"/>
                </a:solidFill>
                <a:latin typeface="Darker Grotesque Medium"/>
                <a:ea typeface="Darker Grotesque Medium"/>
                <a:cs typeface="Darker Grotesque Medium"/>
                <a:sym typeface="Darker Grotesque Medium"/>
              </a:rPr>
              <a:t>RPC APIs</a:t>
            </a:r>
          </a:p>
          <a:p>
            <a:pPr lvl="0" algn="just"/>
            <a:r>
              <a:rPr lang="en-US" sz="2800" spc="-150" dirty="0">
                <a:solidFill>
                  <a:srgbClr val="FFFFFF"/>
                </a:solidFill>
                <a:latin typeface="Darker Grotesque Medium"/>
                <a:ea typeface="Darker Grotesque Medium"/>
                <a:cs typeface="Darker Grotesque Medium"/>
                <a:sym typeface="Darker Grotesque Medium"/>
              </a:rPr>
              <a:t>	These APIs are called Remote Procedure Calls. The client completes a function (or procedure) on the server, and the server sends the output back to the client.</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err="1">
                <a:solidFill>
                  <a:srgbClr val="FFFFFF"/>
                </a:solidFill>
                <a:latin typeface="Darker Grotesque Medium"/>
                <a:ea typeface="Darker Grotesque Medium"/>
                <a:cs typeface="Darker Grotesque Medium"/>
                <a:sym typeface="Darker Grotesque Medium"/>
              </a:rPr>
              <a:t>Websocket</a:t>
            </a:r>
            <a:r>
              <a:rPr lang="en-US" sz="2800" b="1" spc="-150" dirty="0">
                <a:solidFill>
                  <a:srgbClr val="FFFFFF"/>
                </a:solidFill>
                <a:latin typeface="Darker Grotesque Medium"/>
                <a:ea typeface="Darker Grotesque Medium"/>
                <a:cs typeface="Darker Grotesque Medium"/>
                <a:sym typeface="Darker Grotesque Medium"/>
              </a:rPr>
              <a:t> APIs</a:t>
            </a:r>
          </a:p>
          <a:p>
            <a:pPr lvl="0" algn="just"/>
            <a:r>
              <a:rPr lang="en-US" sz="2800" spc="-150" dirty="0">
                <a:solidFill>
                  <a:srgbClr val="FFFFFF"/>
                </a:solidFill>
                <a:latin typeface="Darker Grotesque Medium"/>
                <a:ea typeface="Darker Grotesque Medium"/>
                <a:cs typeface="Darker Grotesque Medium"/>
                <a:sym typeface="Darker Grotesque Medium"/>
              </a:rPr>
              <a:t>	</a:t>
            </a:r>
            <a:r>
              <a:rPr lang="en-US" sz="2800" spc="-150" dirty="0" err="1">
                <a:solidFill>
                  <a:srgbClr val="FFFFFF"/>
                </a:solidFill>
                <a:latin typeface="Darker Grotesque Medium"/>
                <a:ea typeface="Darker Grotesque Medium"/>
                <a:cs typeface="Darker Grotesque Medium"/>
                <a:sym typeface="Darker Grotesque Medium"/>
              </a:rPr>
              <a:t>Websocket</a:t>
            </a:r>
            <a:r>
              <a:rPr lang="en-US" sz="2800" spc="-150" dirty="0">
                <a:solidFill>
                  <a:srgbClr val="FFFFFF"/>
                </a:solidFill>
                <a:latin typeface="Darker Grotesque Medium"/>
                <a:ea typeface="Darker Grotesque Medium"/>
                <a:cs typeface="Darker Grotesque Medium"/>
                <a:sym typeface="Darker Grotesque Medium"/>
              </a:rPr>
              <a:t> API is another modern web API development that uses JSON objects to pass data. A WebSocket API supports two-way communication between client apps and the server. The server can send callback messages to connected clients, making it more efficient than REST API.</a:t>
            </a:r>
          </a:p>
          <a:p>
            <a:pPr lvl="0" algn="just"/>
            <a:endParaRPr lang="en-US" sz="2800" spc="-150" dirty="0">
              <a:solidFill>
                <a:srgbClr val="FFFFFF"/>
              </a:solidFill>
              <a:latin typeface="Darker Grotesque Medium"/>
              <a:ea typeface="Darker Grotesque Medium"/>
              <a:cs typeface="Darker Grotesque Medium"/>
              <a:sym typeface="Darker Grotesque Medium"/>
            </a:endParaRPr>
          </a:p>
          <a:p>
            <a:pPr lvl="0" algn="just"/>
            <a:r>
              <a:rPr lang="en-US" sz="2800" b="1" spc="-150" dirty="0">
                <a:solidFill>
                  <a:srgbClr val="FFFFFF"/>
                </a:solidFill>
                <a:latin typeface="Darker Grotesque Medium"/>
                <a:ea typeface="Darker Grotesque Medium"/>
                <a:cs typeface="Darker Grotesque Medium"/>
                <a:sym typeface="Darker Grotesque Medium"/>
              </a:rPr>
              <a:t>REST APIs</a:t>
            </a:r>
          </a:p>
          <a:p>
            <a:pPr lvl="0" algn="just"/>
            <a:r>
              <a:rPr lang="en-US" sz="2800" spc="-150" dirty="0">
                <a:solidFill>
                  <a:srgbClr val="FFFFFF"/>
                </a:solidFill>
                <a:latin typeface="Darker Grotesque Medium"/>
                <a:ea typeface="Darker Grotesque Medium"/>
                <a:cs typeface="Darker Grotesque Medium"/>
                <a:sym typeface="Darker Grotesque Medium"/>
              </a:rPr>
              <a:t>	These are the most popular and flexible APIs found on the web today. The client sends requests to the server as data. The server uses this client input to start internal functions and returns output data back to the client. </a:t>
            </a:r>
            <a:endParaRPr lang="en-US" sz="2800" i="0" u="none" strike="noStrike" cap="none" spc="-150"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13C3A203-D005-A778-C21C-DF9963822559}"/>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413764098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E6E6A19-3E76-D19B-BAA3-392733266FB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161004BB-0DCA-5125-AA5D-043C0255F80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230943E6-FB37-4B17-FA22-492F255815B8}"/>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0CA7758-AC86-6E25-DA9F-15FEECB32801}"/>
              </a:ext>
            </a:extLst>
          </p:cNvPr>
          <p:cNvSpPr txBox="1"/>
          <p:nvPr/>
        </p:nvSpPr>
        <p:spPr>
          <a:xfrm>
            <a:off x="1454523" y="1119962"/>
            <a:ext cx="15987646" cy="7109639"/>
          </a:xfrm>
          <a:prstGeom prst="rect">
            <a:avLst/>
          </a:prstGeom>
          <a:noFill/>
          <a:ln>
            <a:noFill/>
          </a:ln>
        </p:spPr>
        <p:txBody>
          <a:bodyPr spcFirstLastPara="1" wrap="square" lIns="0" tIns="0" rIns="0" bIns="0" anchor="t" anchorCtr="0">
            <a:spAutoFit/>
          </a:bodyPr>
          <a:lstStyle/>
          <a:p>
            <a:pPr lvl="0" algn="just"/>
            <a:r>
              <a:rPr lang="en-US" sz="4200" b="1" dirty="0">
                <a:solidFill>
                  <a:srgbClr val="FFFFFF"/>
                </a:solidFill>
                <a:latin typeface="Darker Grotesque Medium"/>
                <a:ea typeface="Darker Grotesque Medium"/>
                <a:cs typeface="Darker Grotesque Medium"/>
                <a:sym typeface="Darker Grotesque Medium"/>
              </a:rPr>
              <a:t>What are REST APIs?</a:t>
            </a:r>
          </a:p>
          <a:p>
            <a:pPr lvl="0" algn="just"/>
            <a:endParaRPr lang="en-US" sz="4200" b="1"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REST stands for Representational State Transfer. REST defines a set of functions like GET, PUT, DELETE, etc. that clients can use to access server data. Clients and servers exchange data using HTTP.</a:t>
            </a:r>
          </a:p>
          <a:p>
            <a:pPr lvl="0" algn="just"/>
            <a:endParaRPr lang="en-US" sz="4200" dirty="0">
              <a:solidFill>
                <a:srgbClr val="FFFFFF"/>
              </a:solidFill>
              <a:latin typeface="Darker Grotesque Medium"/>
              <a:ea typeface="Darker Grotesque Medium"/>
              <a:cs typeface="Darker Grotesque Medium"/>
              <a:sym typeface="Darker Grotesque Medium"/>
            </a:endParaRPr>
          </a:p>
          <a:p>
            <a:pPr lvl="0" algn="just"/>
            <a:r>
              <a:rPr lang="en-US" sz="4200" dirty="0">
                <a:solidFill>
                  <a:srgbClr val="FFFFFF"/>
                </a:solidFill>
                <a:latin typeface="Darker Grotesque Medium"/>
                <a:ea typeface="Darker Grotesque Medium"/>
                <a:cs typeface="Darker Grotesque Medium"/>
                <a:sym typeface="Darker Grotesque Medium"/>
              </a:rPr>
              <a:t>The main feature of REST API is statelessness. Statelessness means that servers do not save client data between requests. Client requests to the server are similar to URLs you type in your browser to visit a website. The response from the server is plain data, without the typical graphical rendering of a web page.</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8" name="Google Shape;94;p11">
            <a:extLst>
              <a:ext uri="{FF2B5EF4-FFF2-40B4-BE49-F238E27FC236}">
                <a16:creationId xmlns:a16="http://schemas.microsoft.com/office/drawing/2014/main" id="{7EBE7D94-EDA4-C216-EBB6-6C81F928D869}"/>
              </a:ext>
            </a:extLst>
          </p:cNvPr>
          <p:cNvSpPr txBox="1"/>
          <p:nvPr/>
        </p:nvSpPr>
        <p:spPr>
          <a:xfrm>
            <a:off x="14818666" y="8888511"/>
            <a:ext cx="337520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https://aws.amazon.com/what-is/api/</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27866043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7749483-079D-8DEE-FFCC-8871CA06BB2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9B8109F5-AE3A-7E28-33D2-353127ECD6E2}"/>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CE9720C-6A3E-AB4D-144D-E11F9F55A47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 name="Google Shape;94;p11">
            <a:extLst>
              <a:ext uri="{FF2B5EF4-FFF2-40B4-BE49-F238E27FC236}">
                <a16:creationId xmlns:a16="http://schemas.microsoft.com/office/drawing/2014/main" id="{9582C4E0-4600-2866-34F4-FB692D43C000}"/>
              </a:ext>
            </a:extLst>
          </p:cNvPr>
          <p:cNvSpPr txBox="1"/>
          <p:nvPr/>
        </p:nvSpPr>
        <p:spPr>
          <a:xfrm>
            <a:off x="13487400" y="8888511"/>
            <a:ext cx="4706467"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https://www.postman.com/product/what-is-postman/</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pic>
        <p:nvPicPr>
          <p:cNvPr id="1026" name="Picture 2" descr="The Pros and Cons of Different API Test Tools - Postman">
            <a:extLst>
              <a:ext uri="{FF2B5EF4-FFF2-40B4-BE49-F238E27FC236}">
                <a16:creationId xmlns:a16="http://schemas.microsoft.com/office/drawing/2014/main" id="{80630FC0-E85C-94D7-3EA4-BB27AABBC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0564" y="413132"/>
            <a:ext cx="7050739" cy="355291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94;p11">
            <a:extLst>
              <a:ext uri="{FF2B5EF4-FFF2-40B4-BE49-F238E27FC236}">
                <a16:creationId xmlns:a16="http://schemas.microsoft.com/office/drawing/2014/main" id="{6A9E8B89-4ECD-1C61-AC59-53EE66B18562}"/>
              </a:ext>
            </a:extLst>
          </p:cNvPr>
          <p:cNvSpPr txBox="1"/>
          <p:nvPr/>
        </p:nvSpPr>
        <p:spPr>
          <a:xfrm>
            <a:off x="1380564" y="4303390"/>
            <a:ext cx="15987646" cy="3231654"/>
          </a:xfrm>
          <a:prstGeom prst="rect">
            <a:avLst/>
          </a:prstGeom>
          <a:noFill/>
          <a:ln>
            <a:noFill/>
          </a:ln>
        </p:spPr>
        <p:txBody>
          <a:bodyPr spcFirstLastPara="1" wrap="square" lIns="0" tIns="0" rIns="0" bIns="0" anchor="t" anchorCtr="0">
            <a:spAutoFit/>
          </a:bodyPr>
          <a:lstStyle/>
          <a:p>
            <a:pPr lvl="0" algn="just"/>
            <a:r>
              <a:rPr lang="en-US" sz="4200" b="1" dirty="0">
                <a:solidFill>
                  <a:srgbClr val="FFFFFF"/>
                </a:solidFill>
                <a:latin typeface="Darker Grotesque Medium"/>
                <a:ea typeface="Darker Grotesque Medium"/>
                <a:cs typeface="Darker Grotesque Medium"/>
                <a:sym typeface="Darker Grotesque Medium"/>
              </a:rPr>
              <a:t>What is Postman?</a:t>
            </a:r>
          </a:p>
          <a:p>
            <a:pPr lvl="0" algn="just"/>
            <a:r>
              <a:rPr lang="en-US" sz="4200" dirty="0">
                <a:solidFill>
                  <a:srgbClr val="FFFFFF"/>
                </a:solidFill>
                <a:latin typeface="Darker Grotesque Medium"/>
                <a:ea typeface="Darker Grotesque Medium"/>
                <a:cs typeface="Darker Grotesque Medium"/>
                <a:sym typeface="Darker Grotesque Medium"/>
              </a:rPr>
              <a:t>Postman is an all-in-one API platform for building and working with APIs. It takes the pain out of every stage of the API lifecycle—from designing and testing to delivery and monitoring. Built for teams, Postman makes it easy to collaborate, stay organized, and build secure, reliable APIs faster.</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53454848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114D5AF-E247-F8F5-1707-0CD8B0B68A6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5C88F4E-6473-2FBD-2424-9A384E38C07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3918F133-3589-17D5-742D-3BDB4EB18BB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A059557-6DD6-DA25-7BF5-CB08D00A4487}"/>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https://pokeapi.co/</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pic>
        <p:nvPicPr>
          <p:cNvPr id="8" name="Picture 7">
            <a:extLst>
              <a:ext uri="{FF2B5EF4-FFF2-40B4-BE49-F238E27FC236}">
                <a16:creationId xmlns:a16="http://schemas.microsoft.com/office/drawing/2014/main" id="{ACA2582F-669B-75B1-A4D3-99BED6A11EBA}"/>
              </a:ext>
            </a:extLst>
          </p:cNvPr>
          <p:cNvPicPr>
            <a:picLocks noChangeAspect="1"/>
          </p:cNvPicPr>
          <p:nvPr/>
        </p:nvPicPr>
        <p:blipFill>
          <a:blip r:embed="rId3"/>
          <a:stretch>
            <a:fillRect/>
          </a:stretch>
        </p:blipFill>
        <p:spPr>
          <a:xfrm>
            <a:off x="2261092" y="1998581"/>
            <a:ext cx="14318073" cy="7849695"/>
          </a:xfrm>
          <a:prstGeom prst="rect">
            <a:avLst/>
          </a:prstGeom>
        </p:spPr>
      </p:pic>
    </p:spTree>
    <p:extLst>
      <p:ext uri="{BB962C8B-B14F-4D97-AF65-F5344CB8AC3E}">
        <p14:creationId xmlns:p14="http://schemas.microsoft.com/office/powerpoint/2010/main" val="110730206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DD0CEA1-6F7D-DE23-6D4D-33A4B0CECFA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F14819C-BFE7-173A-4EFC-5A6762F49CF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840645D2-94CF-64B5-5E93-8DEF7FBD509B}"/>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1917366-350F-9834-F357-071B2685B25B}"/>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Parts of API</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4" name="Google Shape;102;p11">
            <a:extLst>
              <a:ext uri="{FF2B5EF4-FFF2-40B4-BE49-F238E27FC236}">
                <a16:creationId xmlns:a16="http://schemas.microsoft.com/office/drawing/2014/main" id="{C0FC3BB7-8D84-E8AF-58C5-6D511CD04822}"/>
              </a:ext>
            </a:extLst>
          </p:cNvPr>
          <p:cNvSpPr txBox="1"/>
          <p:nvPr/>
        </p:nvSpPr>
        <p:spPr>
          <a:xfrm>
            <a:off x="2321470" y="2001477"/>
            <a:ext cx="15092482" cy="6771084"/>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1. Resources (Endpoints / URIs)</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The main entities the API exposes, identified by URLs (Uniform Resource Locators). Each resource represents an object or data type (e.g., /users, /orders, /products).</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Example:</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GET /</a:t>
            </a:r>
            <a:r>
              <a:rPr lang="en-US" sz="4000" dirty="0" err="1">
                <a:solidFill>
                  <a:srgbClr val="FFFFFF"/>
                </a:solidFill>
                <a:latin typeface="Darker Grotesque Light"/>
                <a:ea typeface="Darker Grotesque Light"/>
                <a:cs typeface="Darker Grotesque Light"/>
                <a:sym typeface="Darker Grotesque Light"/>
              </a:rPr>
              <a:t>api</a:t>
            </a:r>
            <a:r>
              <a:rPr lang="en-US" sz="4000" dirty="0">
                <a:solidFill>
                  <a:srgbClr val="FFFFFF"/>
                </a:solidFill>
                <a:latin typeface="Darker Grotesque Light"/>
                <a:ea typeface="Darker Grotesque Light"/>
                <a:cs typeface="Darker Grotesque Light"/>
                <a:sym typeface="Darker Grotesque Light"/>
              </a:rPr>
              <a:t>/users/123</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This might return the user with ID 123.</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8981545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00243118-49E6-D258-A4E3-00707CEAFDB7}"/>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9EFAC49-4DC5-AD34-F881-053CAFB063D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2862AE0A-C317-53C8-EF92-D7E694A8092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A88BCFD5-51CD-4364-4270-EDA71828D4AB}"/>
              </a:ext>
            </a:extLst>
          </p:cNvPr>
          <p:cNvSpPr txBox="1"/>
          <p:nvPr/>
        </p:nvSpPr>
        <p:spPr>
          <a:xfrm>
            <a:off x="1426306" y="1164079"/>
            <a:ext cx="15987646" cy="1938992"/>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2. HTTP Methods (Verbs)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These specify the type of operation to perform on the resource.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graphicFrame>
        <p:nvGraphicFramePr>
          <p:cNvPr id="2" name="Table 1">
            <a:extLst>
              <a:ext uri="{FF2B5EF4-FFF2-40B4-BE49-F238E27FC236}">
                <a16:creationId xmlns:a16="http://schemas.microsoft.com/office/drawing/2014/main" id="{CEB743B2-01CF-39AB-1DAE-3C99A1146221}"/>
              </a:ext>
            </a:extLst>
          </p:cNvPr>
          <p:cNvGraphicFramePr>
            <a:graphicFrameLocks noGrp="1"/>
          </p:cNvGraphicFramePr>
          <p:nvPr>
            <p:extLst>
              <p:ext uri="{D42A27DB-BD31-4B8C-83A1-F6EECF244321}">
                <p14:modId xmlns:p14="http://schemas.microsoft.com/office/powerpoint/2010/main" val="1073041386"/>
              </p:ext>
            </p:extLst>
          </p:nvPr>
        </p:nvGraphicFramePr>
        <p:xfrm>
          <a:off x="2294965" y="3728570"/>
          <a:ext cx="12192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13869866"/>
                    </a:ext>
                  </a:extLst>
                </a:gridCol>
                <a:gridCol w="4064000">
                  <a:extLst>
                    <a:ext uri="{9D8B030D-6E8A-4147-A177-3AD203B41FA5}">
                      <a16:colId xmlns:a16="http://schemas.microsoft.com/office/drawing/2014/main" val="4279214699"/>
                    </a:ext>
                  </a:extLst>
                </a:gridCol>
                <a:gridCol w="4064000">
                  <a:extLst>
                    <a:ext uri="{9D8B030D-6E8A-4147-A177-3AD203B41FA5}">
                      <a16:colId xmlns:a16="http://schemas.microsoft.com/office/drawing/2014/main" val="277187722"/>
                    </a:ext>
                  </a:extLst>
                </a:gridCol>
              </a:tblGrid>
              <a:tr h="370840">
                <a:tc>
                  <a:txBody>
                    <a:bodyPr/>
                    <a:lstStyle/>
                    <a:p>
                      <a:pPr>
                        <a:buNone/>
                      </a:pPr>
                      <a:r>
                        <a:rPr lang="en-US" dirty="0"/>
                        <a:t>Method</a:t>
                      </a:r>
                    </a:p>
                  </a:txBody>
                  <a:tcPr anchor="ctr"/>
                </a:tc>
                <a:tc>
                  <a:txBody>
                    <a:bodyPr/>
                    <a:lstStyle/>
                    <a:p>
                      <a:pPr>
                        <a:buNone/>
                      </a:pPr>
                      <a:r>
                        <a:rPr lang="en-US"/>
                        <a:t>Meaning</a:t>
                      </a:r>
                    </a:p>
                  </a:txBody>
                  <a:tcPr anchor="ctr"/>
                </a:tc>
                <a:tc>
                  <a:txBody>
                    <a:bodyPr/>
                    <a:lstStyle/>
                    <a:p>
                      <a:pPr>
                        <a:buNone/>
                      </a:pPr>
                      <a:r>
                        <a:rPr lang="en-US"/>
                        <a:t>Example</a:t>
                      </a:r>
                    </a:p>
                  </a:txBody>
                  <a:tcPr anchor="ctr"/>
                </a:tc>
                <a:extLst>
                  <a:ext uri="{0D108BD9-81ED-4DB2-BD59-A6C34878D82A}">
                    <a16:rowId xmlns:a16="http://schemas.microsoft.com/office/drawing/2014/main" val="672278371"/>
                  </a:ext>
                </a:extLst>
              </a:tr>
              <a:tr h="370840">
                <a:tc>
                  <a:txBody>
                    <a:bodyPr/>
                    <a:lstStyle/>
                    <a:p>
                      <a:pPr>
                        <a:buNone/>
                      </a:pPr>
                      <a:r>
                        <a:rPr lang="en-US" b="1"/>
                        <a:t>GET</a:t>
                      </a:r>
                      <a:endParaRPr lang="en-US"/>
                    </a:p>
                  </a:txBody>
                  <a:tcPr anchor="ctr"/>
                </a:tc>
                <a:tc>
                  <a:txBody>
                    <a:bodyPr/>
                    <a:lstStyle/>
                    <a:p>
                      <a:pPr>
                        <a:buNone/>
                      </a:pPr>
                      <a:r>
                        <a:rPr lang="en-US"/>
                        <a:t>Retrieve data</a:t>
                      </a:r>
                    </a:p>
                  </a:txBody>
                  <a:tcPr anchor="ctr"/>
                </a:tc>
                <a:tc>
                  <a:txBody>
                    <a:bodyPr/>
                    <a:lstStyle/>
                    <a:p>
                      <a:pPr>
                        <a:buNone/>
                      </a:pPr>
                      <a:r>
                        <a:rPr lang="en-US" dirty="0">
                          <a:latin typeface="Courier New" panose="02070309020205020404" pitchFamily="49" charset="0"/>
                        </a:rPr>
                        <a:t>GET /users</a:t>
                      </a:r>
                      <a:endParaRPr lang="en-US" dirty="0"/>
                    </a:p>
                  </a:txBody>
                  <a:tcPr anchor="ctr"/>
                </a:tc>
                <a:extLst>
                  <a:ext uri="{0D108BD9-81ED-4DB2-BD59-A6C34878D82A}">
                    <a16:rowId xmlns:a16="http://schemas.microsoft.com/office/drawing/2014/main" val="3558162603"/>
                  </a:ext>
                </a:extLst>
              </a:tr>
              <a:tr h="370840">
                <a:tc>
                  <a:txBody>
                    <a:bodyPr/>
                    <a:lstStyle/>
                    <a:p>
                      <a:pPr>
                        <a:buNone/>
                      </a:pPr>
                      <a:r>
                        <a:rPr lang="en-US" b="1" dirty="0"/>
                        <a:t>POST</a:t>
                      </a:r>
                      <a:endParaRPr lang="en-US" dirty="0"/>
                    </a:p>
                  </a:txBody>
                  <a:tcPr anchor="ctr"/>
                </a:tc>
                <a:tc>
                  <a:txBody>
                    <a:bodyPr/>
                    <a:lstStyle/>
                    <a:p>
                      <a:pPr>
                        <a:buNone/>
                      </a:pPr>
                      <a:r>
                        <a:rPr lang="en-US"/>
                        <a:t>Create a new resource</a:t>
                      </a:r>
                    </a:p>
                  </a:txBody>
                  <a:tcPr anchor="ctr"/>
                </a:tc>
                <a:tc>
                  <a:txBody>
                    <a:bodyPr/>
                    <a:lstStyle/>
                    <a:p>
                      <a:pPr>
                        <a:buNone/>
                      </a:pPr>
                      <a:r>
                        <a:rPr lang="en-US" dirty="0">
                          <a:latin typeface="Courier New" panose="02070309020205020404" pitchFamily="49" charset="0"/>
                        </a:rPr>
                        <a:t>POST /users</a:t>
                      </a:r>
                      <a:endParaRPr lang="en-US" dirty="0"/>
                    </a:p>
                  </a:txBody>
                  <a:tcPr anchor="ctr"/>
                </a:tc>
                <a:extLst>
                  <a:ext uri="{0D108BD9-81ED-4DB2-BD59-A6C34878D82A}">
                    <a16:rowId xmlns:a16="http://schemas.microsoft.com/office/drawing/2014/main" val="2073266181"/>
                  </a:ext>
                </a:extLst>
              </a:tr>
              <a:tr h="370840">
                <a:tc>
                  <a:txBody>
                    <a:bodyPr/>
                    <a:lstStyle/>
                    <a:p>
                      <a:pPr>
                        <a:buNone/>
                      </a:pPr>
                      <a:r>
                        <a:rPr lang="en-US" b="1" dirty="0"/>
                        <a:t>PUT</a:t>
                      </a:r>
                      <a:endParaRPr lang="en-US" dirty="0"/>
                    </a:p>
                  </a:txBody>
                  <a:tcPr anchor="ctr"/>
                </a:tc>
                <a:tc>
                  <a:txBody>
                    <a:bodyPr/>
                    <a:lstStyle/>
                    <a:p>
                      <a:pPr>
                        <a:buNone/>
                      </a:pPr>
                      <a:r>
                        <a:rPr lang="en-US" dirty="0"/>
                        <a:t>Update/replace an existing resource</a:t>
                      </a:r>
                    </a:p>
                  </a:txBody>
                  <a:tcPr anchor="ctr"/>
                </a:tc>
                <a:tc>
                  <a:txBody>
                    <a:bodyPr/>
                    <a:lstStyle/>
                    <a:p>
                      <a:pPr>
                        <a:buNone/>
                      </a:pPr>
                      <a:r>
                        <a:rPr lang="en-US" dirty="0">
                          <a:latin typeface="Courier New" panose="02070309020205020404" pitchFamily="49" charset="0"/>
                        </a:rPr>
                        <a:t>PUT /users/123</a:t>
                      </a:r>
                      <a:endParaRPr lang="en-US" dirty="0"/>
                    </a:p>
                  </a:txBody>
                  <a:tcPr anchor="ctr"/>
                </a:tc>
                <a:extLst>
                  <a:ext uri="{0D108BD9-81ED-4DB2-BD59-A6C34878D82A}">
                    <a16:rowId xmlns:a16="http://schemas.microsoft.com/office/drawing/2014/main" val="2571618347"/>
                  </a:ext>
                </a:extLst>
              </a:tr>
              <a:tr h="370840">
                <a:tc>
                  <a:txBody>
                    <a:bodyPr/>
                    <a:lstStyle/>
                    <a:p>
                      <a:pPr>
                        <a:buNone/>
                      </a:pPr>
                      <a:r>
                        <a:rPr lang="en-US" b="1" dirty="0"/>
                        <a:t>DELETE</a:t>
                      </a:r>
                      <a:endParaRPr lang="en-US" dirty="0"/>
                    </a:p>
                  </a:txBody>
                  <a:tcPr anchor="ctr"/>
                </a:tc>
                <a:tc>
                  <a:txBody>
                    <a:bodyPr/>
                    <a:lstStyle/>
                    <a:p>
                      <a:pPr>
                        <a:buNone/>
                      </a:pPr>
                      <a:r>
                        <a:rPr lang="en-US"/>
                        <a:t>Remove a resource</a:t>
                      </a:r>
                    </a:p>
                  </a:txBody>
                  <a:tcPr anchor="ctr"/>
                </a:tc>
                <a:tc>
                  <a:txBody>
                    <a:bodyPr/>
                    <a:lstStyle/>
                    <a:p>
                      <a:pPr>
                        <a:buNone/>
                      </a:pPr>
                      <a:r>
                        <a:rPr lang="en-US" dirty="0">
                          <a:latin typeface="Courier New" panose="02070309020205020404" pitchFamily="49" charset="0"/>
                        </a:rPr>
                        <a:t>DELETE /users/123</a:t>
                      </a:r>
                      <a:endParaRPr lang="en-US" dirty="0"/>
                    </a:p>
                  </a:txBody>
                  <a:tcPr anchor="ctr"/>
                </a:tc>
                <a:extLst>
                  <a:ext uri="{0D108BD9-81ED-4DB2-BD59-A6C34878D82A}">
                    <a16:rowId xmlns:a16="http://schemas.microsoft.com/office/drawing/2014/main" val="145703704"/>
                  </a:ext>
                </a:extLst>
              </a:tr>
            </a:tbl>
          </a:graphicData>
        </a:graphic>
      </p:graphicFrame>
    </p:spTree>
    <p:extLst>
      <p:ext uri="{BB962C8B-B14F-4D97-AF65-F5344CB8AC3E}">
        <p14:creationId xmlns:p14="http://schemas.microsoft.com/office/powerpoint/2010/main" val="375745211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2325B5A-65DD-1BC1-A61D-82F929D93A46}"/>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CDE50680-A953-F334-DF5D-ABA3E9CED9AC}"/>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4E3E6CA-E73E-6AD9-6E8D-0C4393B6ED6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11B2B4F-6366-B288-F845-7DB8D46B6A81}"/>
              </a:ext>
            </a:extLst>
          </p:cNvPr>
          <p:cNvSpPr txBox="1"/>
          <p:nvPr/>
        </p:nvSpPr>
        <p:spPr>
          <a:xfrm>
            <a:off x="1426306" y="1164079"/>
            <a:ext cx="15987646" cy="5816977"/>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3. Headers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Used to send metadata about the request or response.</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Common headers: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Content-Type: specifies the data format (e.g., application/</a:t>
            </a:r>
            <a:r>
              <a:rPr lang="en-US" sz="4200" b="1" dirty="0" err="1">
                <a:solidFill>
                  <a:srgbClr val="FFFFFF"/>
                </a:solidFill>
                <a:latin typeface="Darker Grotesque Medium"/>
                <a:ea typeface="Darker Grotesque Medium"/>
                <a:cs typeface="Darker Grotesque Medium"/>
                <a:sym typeface="Darker Grotesque Medium"/>
              </a:rPr>
              <a:t>json</a:t>
            </a:r>
            <a:r>
              <a:rPr lang="en-US" sz="4200" b="1"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Authorization: carries credentials (e.g., API key or token)</a:t>
            </a:r>
          </a:p>
          <a:p>
            <a:pPr lvl="0"/>
            <a:r>
              <a:rPr lang="en-US" sz="4200" b="1" dirty="0">
                <a:solidFill>
                  <a:srgbClr val="FFFFFF"/>
                </a:solidFill>
                <a:latin typeface="Darker Grotesque Medium"/>
                <a:ea typeface="Darker Grotesque Medium"/>
                <a:cs typeface="Darker Grotesque Medium"/>
                <a:sym typeface="Darker Grotesque Medium"/>
              </a:rPr>
              <a:t>Accept: tells the server what format the client expects in response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5216262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72DE07A0-8679-5533-6687-8610D8573EE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A9BA06E-3147-4E4A-152F-D1852F8FA14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D748E0A-BE47-0F2F-40FF-2FF15F39BD0B}"/>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1E932B1-584B-7818-9C15-014F4E8F08A0}"/>
              </a:ext>
            </a:extLst>
          </p:cNvPr>
          <p:cNvSpPr txBox="1"/>
          <p:nvPr/>
        </p:nvSpPr>
        <p:spPr>
          <a:xfrm>
            <a:off x="1426306" y="1164079"/>
            <a:ext cx="15987646" cy="7109639"/>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4. Body (Payload)</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Carries data sent with POST, PUT, or PATCH requests.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Typically formatted as JSON.</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Example:</a:t>
            </a:r>
          </a:p>
          <a:p>
            <a:pPr lvl="0"/>
            <a:r>
              <a:rPr lang="en-US" sz="4200" b="1"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  "name": "Alice",</a:t>
            </a:r>
          </a:p>
          <a:p>
            <a:pPr lvl="0"/>
            <a:r>
              <a:rPr lang="en-US" sz="4200" b="1" dirty="0">
                <a:solidFill>
                  <a:srgbClr val="FFFFFF"/>
                </a:solidFill>
                <a:latin typeface="Darker Grotesque Medium"/>
                <a:ea typeface="Darker Grotesque Medium"/>
                <a:cs typeface="Darker Grotesque Medium"/>
                <a:sym typeface="Darker Grotesque Medium"/>
              </a:rPr>
              <a:t>  "email": "alice@example.com"</a:t>
            </a:r>
          </a:p>
          <a:p>
            <a:pPr lvl="0"/>
            <a:r>
              <a:rPr lang="en-US" sz="4200" b="1" dirty="0">
                <a:solidFill>
                  <a:srgbClr val="FFFFFF"/>
                </a:solidFill>
                <a:latin typeface="Darker Grotesque Medium"/>
                <a:ea typeface="Darker Grotesque Medium"/>
                <a:cs typeface="Darker Grotesque Medium"/>
                <a:sym typeface="Darker Grotesque Medium"/>
              </a:rPr>
              <a:t>}</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399031937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D7DC55A-E774-4D04-601E-E0EF2C434E7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05E79CF-2AB5-8766-9758-44BDA124B87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B29458B-C106-6A36-5C5B-AD9F9B55089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7F406F23-3A45-AA20-BF62-EA5BC30E289C}"/>
              </a:ext>
            </a:extLst>
          </p:cNvPr>
          <p:cNvSpPr txBox="1"/>
          <p:nvPr/>
        </p:nvSpPr>
        <p:spPr>
          <a:xfrm>
            <a:off x="1426306" y="1164079"/>
            <a:ext cx="15987646" cy="8402300"/>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5. Response</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The data the server sends back.</a:t>
            </a:r>
          </a:p>
          <a:p>
            <a:pPr lvl="0"/>
            <a:r>
              <a:rPr lang="en-US" sz="4200" b="1" dirty="0">
                <a:solidFill>
                  <a:srgbClr val="FFFFFF"/>
                </a:solidFill>
                <a:latin typeface="Darker Grotesque Medium"/>
                <a:ea typeface="Darker Grotesque Medium"/>
                <a:cs typeface="Darker Grotesque Medium"/>
                <a:sym typeface="Darker Grotesque Medium"/>
              </a:rPr>
              <a:t>Contains:</a:t>
            </a:r>
          </a:p>
          <a:p>
            <a:pPr lvl="0"/>
            <a:r>
              <a:rPr lang="en-US" sz="4200" b="1" dirty="0">
                <a:solidFill>
                  <a:srgbClr val="FFFFFF"/>
                </a:solidFill>
                <a:latin typeface="Darker Grotesque Medium"/>
                <a:ea typeface="Darker Grotesque Medium"/>
                <a:cs typeface="Darker Grotesque Medium"/>
                <a:sym typeface="Darker Grotesque Medium"/>
              </a:rPr>
              <a:t>Status code (e.g., 200 OK, 404 Not Found, 500 Internal Server Error)</a:t>
            </a:r>
          </a:p>
          <a:p>
            <a:pPr lvl="0"/>
            <a:r>
              <a:rPr lang="en-US" sz="4200" b="1" dirty="0">
                <a:solidFill>
                  <a:srgbClr val="FFFFFF"/>
                </a:solidFill>
                <a:latin typeface="Darker Grotesque Medium"/>
                <a:ea typeface="Darker Grotesque Medium"/>
                <a:cs typeface="Darker Grotesque Medium"/>
                <a:sym typeface="Darker Grotesque Medium"/>
              </a:rPr>
              <a:t>Headers (metadata)</a:t>
            </a:r>
          </a:p>
          <a:p>
            <a:pPr lvl="0"/>
            <a:r>
              <a:rPr lang="en-US" sz="4200" b="1" dirty="0">
                <a:solidFill>
                  <a:srgbClr val="FFFFFF"/>
                </a:solidFill>
                <a:latin typeface="Darker Grotesque Medium"/>
                <a:ea typeface="Darker Grotesque Medium"/>
                <a:cs typeface="Darker Grotesque Medium"/>
                <a:sym typeface="Darker Grotesque Medium"/>
              </a:rPr>
              <a:t>Body (the actual data, often JSON)</a:t>
            </a:r>
          </a:p>
          <a:p>
            <a:pPr lvl="0"/>
            <a:r>
              <a:rPr lang="en-US" sz="4200" b="1" dirty="0">
                <a:solidFill>
                  <a:srgbClr val="FFFFFF"/>
                </a:solidFill>
                <a:latin typeface="Darker Grotesque Medium"/>
                <a:ea typeface="Darker Grotesque Medium"/>
                <a:cs typeface="Darker Grotesque Medium"/>
                <a:sym typeface="Darker Grotesque Medium"/>
              </a:rPr>
              <a:t>Example response:</a:t>
            </a:r>
          </a:p>
          <a:p>
            <a:pPr lvl="0"/>
            <a:r>
              <a:rPr lang="en-US" sz="4200" b="1"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  "id": 123,</a:t>
            </a:r>
          </a:p>
          <a:p>
            <a:pPr lvl="0"/>
            <a:r>
              <a:rPr lang="en-US" sz="4200" b="1" dirty="0">
                <a:solidFill>
                  <a:srgbClr val="FFFFFF"/>
                </a:solidFill>
                <a:latin typeface="Darker Grotesque Medium"/>
                <a:ea typeface="Darker Grotesque Medium"/>
                <a:cs typeface="Darker Grotesque Medium"/>
                <a:sym typeface="Darker Grotesque Medium"/>
              </a:rPr>
              <a:t>  "name": "Alice",</a:t>
            </a:r>
          </a:p>
          <a:p>
            <a:pPr lvl="0"/>
            <a:r>
              <a:rPr lang="en-US" sz="4200" b="1" dirty="0">
                <a:solidFill>
                  <a:srgbClr val="FFFFFF"/>
                </a:solidFill>
                <a:latin typeface="Darker Grotesque Medium"/>
                <a:ea typeface="Darker Grotesque Medium"/>
                <a:cs typeface="Darker Grotesque Medium"/>
                <a:sym typeface="Darker Grotesque Medium"/>
              </a:rPr>
              <a:t>  "email": "alice@example.com"</a:t>
            </a:r>
          </a:p>
          <a:p>
            <a:pPr lvl="0"/>
            <a:r>
              <a:rPr lang="en-US" sz="4200" b="1" dirty="0">
                <a:solidFill>
                  <a:srgbClr val="FFFFFF"/>
                </a:solidFill>
                <a:latin typeface="Darker Grotesque Medium"/>
                <a:ea typeface="Darker Grotesque Medium"/>
                <a:cs typeface="Darker Grotesque Medium"/>
                <a:sym typeface="Darker Grotesque Medium"/>
              </a:rPr>
              <a:t>}</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46199444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1FAA34D8-2E40-935F-40B0-C9B089A4891E}"/>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8823E34-EE1C-2FB8-2458-F727CE82EABE}"/>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7BBD083-9F57-0E87-7E79-579826A8F87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ED029C0-38F5-5A5D-A574-3984C2BD31B1}"/>
              </a:ext>
            </a:extLst>
          </p:cNvPr>
          <p:cNvSpPr txBox="1"/>
          <p:nvPr/>
        </p:nvSpPr>
        <p:spPr>
          <a:xfrm>
            <a:off x="1426306" y="1164079"/>
            <a:ext cx="15987646" cy="2585323"/>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 6. Status Codes</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These indicate the result of the request.</a:t>
            </a:r>
          </a:p>
          <a:p>
            <a:pPr lvl="0"/>
            <a:endParaRPr lang="en-US" sz="4200" b="1" dirty="0">
              <a:solidFill>
                <a:srgbClr val="FFFFFF"/>
              </a:solidFill>
              <a:latin typeface="Darker Grotesque Medium"/>
              <a:ea typeface="Darker Grotesque Medium"/>
              <a:cs typeface="Darker Grotesque Medium"/>
              <a:sym typeface="Darker Grotesque Medium"/>
            </a:endParaRPr>
          </a:p>
        </p:txBody>
      </p:sp>
      <p:graphicFrame>
        <p:nvGraphicFramePr>
          <p:cNvPr id="2" name="Table 1">
            <a:extLst>
              <a:ext uri="{FF2B5EF4-FFF2-40B4-BE49-F238E27FC236}">
                <a16:creationId xmlns:a16="http://schemas.microsoft.com/office/drawing/2014/main" id="{FEC74416-29F2-B29A-0703-1A7BB325C578}"/>
              </a:ext>
            </a:extLst>
          </p:cNvPr>
          <p:cNvGraphicFramePr>
            <a:graphicFrameLocks noGrp="1"/>
          </p:cNvGraphicFramePr>
          <p:nvPr>
            <p:extLst>
              <p:ext uri="{D42A27DB-BD31-4B8C-83A1-F6EECF244321}">
                <p14:modId xmlns:p14="http://schemas.microsoft.com/office/powerpoint/2010/main" val="4225228133"/>
              </p:ext>
            </p:extLst>
          </p:nvPr>
        </p:nvGraphicFramePr>
        <p:xfrm>
          <a:off x="3142130" y="3795806"/>
          <a:ext cx="12192000" cy="29667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688016014"/>
                    </a:ext>
                  </a:extLst>
                </a:gridCol>
                <a:gridCol w="6096000">
                  <a:extLst>
                    <a:ext uri="{9D8B030D-6E8A-4147-A177-3AD203B41FA5}">
                      <a16:colId xmlns:a16="http://schemas.microsoft.com/office/drawing/2014/main" val="1278272183"/>
                    </a:ext>
                  </a:extLst>
                </a:gridCol>
              </a:tblGrid>
              <a:tr h="370840">
                <a:tc>
                  <a:txBody>
                    <a:bodyPr/>
                    <a:lstStyle/>
                    <a:p>
                      <a:pPr>
                        <a:buNone/>
                      </a:pPr>
                      <a:r>
                        <a:rPr lang="en-US" dirty="0"/>
                        <a:t>Code</a:t>
                      </a:r>
                    </a:p>
                  </a:txBody>
                  <a:tcPr anchor="ctr"/>
                </a:tc>
                <a:tc>
                  <a:txBody>
                    <a:bodyPr/>
                    <a:lstStyle/>
                    <a:p>
                      <a:pPr>
                        <a:buNone/>
                      </a:pPr>
                      <a:r>
                        <a:rPr lang="en-US"/>
                        <a:t>Meaning</a:t>
                      </a:r>
                    </a:p>
                  </a:txBody>
                  <a:tcPr anchor="ctr"/>
                </a:tc>
                <a:extLst>
                  <a:ext uri="{0D108BD9-81ED-4DB2-BD59-A6C34878D82A}">
                    <a16:rowId xmlns:a16="http://schemas.microsoft.com/office/drawing/2014/main" val="3732206389"/>
                  </a:ext>
                </a:extLst>
              </a:tr>
              <a:tr h="370840">
                <a:tc>
                  <a:txBody>
                    <a:bodyPr/>
                    <a:lstStyle/>
                    <a:p>
                      <a:pPr>
                        <a:buNone/>
                      </a:pPr>
                      <a:r>
                        <a:rPr lang="en-US" b="1"/>
                        <a:t>200</a:t>
                      </a:r>
                      <a:endParaRPr lang="en-US"/>
                    </a:p>
                  </a:txBody>
                  <a:tcPr anchor="ctr"/>
                </a:tc>
                <a:tc>
                  <a:txBody>
                    <a:bodyPr/>
                    <a:lstStyle/>
                    <a:p>
                      <a:pPr>
                        <a:buNone/>
                      </a:pPr>
                      <a:r>
                        <a:rPr lang="en-US"/>
                        <a:t>OK (Successful request)</a:t>
                      </a:r>
                    </a:p>
                  </a:txBody>
                  <a:tcPr anchor="ctr"/>
                </a:tc>
                <a:extLst>
                  <a:ext uri="{0D108BD9-81ED-4DB2-BD59-A6C34878D82A}">
                    <a16:rowId xmlns:a16="http://schemas.microsoft.com/office/drawing/2014/main" val="3611102601"/>
                  </a:ext>
                </a:extLst>
              </a:tr>
              <a:tr h="370840">
                <a:tc>
                  <a:txBody>
                    <a:bodyPr/>
                    <a:lstStyle/>
                    <a:p>
                      <a:pPr>
                        <a:buNone/>
                      </a:pPr>
                      <a:r>
                        <a:rPr lang="en-US" b="1"/>
                        <a:t>201</a:t>
                      </a:r>
                      <a:endParaRPr lang="en-US"/>
                    </a:p>
                  </a:txBody>
                  <a:tcPr anchor="ctr"/>
                </a:tc>
                <a:tc>
                  <a:txBody>
                    <a:bodyPr/>
                    <a:lstStyle/>
                    <a:p>
                      <a:pPr>
                        <a:buNone/>
                      </a:pPr>
                      <a:r>
                        <a:rPr lang="en-US"/>
                        <a:t>Created</a:t>
                      </a:r>
                    </a:p>
                  </a:txBody>
                  <a:tcPr anchor="ctr"/>
                </a:tc>
                <a:extLst>
                  <a:ext uri="{0D108BD9-81ED-4DB2-BD59-A6C34878D82A}">
                    <a16:rowId xmlns:a16="http://schemas.microsoft.com/office/drawing/2014/main" val="3173171746"/>
                  </a:ext>
                </a:extLst>
              </a:tr>
              <a:tr h="370840">
                <a:tc>
                  <a:txBody>
                    <a:bodyPr/>
                    <a:lstStyle/>
                    <a:p>
                      <a:pPr>
                        <a:buNone/>
                      </a:pPr>
                      <a:r>
                        <a:rPr lang="en-US" b="1"/>
                        <a:t>204</a:t>
                      </a:r>
                      <a:endParaRPr lang="en-US"/>
                    </a:p>
                  </a:txBody>
                  <a:tcPr anchor="ctr"/>
                </a:tc>
                <a:tc>
                  <a:txBody>
                    <a:bodyPr/>
                    <a:lstStyle/>
                    <a:p>
                      <a:pPr>
                        <a:buNone/>
                      </a:pPr>
                      <a:r>
                        <a:rPr lang="en-US"/>
                        <a:t>No Content</a:t>
                      </a:r>
                    </a:p>
                  </a:txBody>
                  <a:tcPr anchor="ctr"/>
                </a:tc>
                <a:extLst>
                  <a:ext uri="{0D108BD9-81ED-4DB2-BD59-A6C34878D82A}">
                    <a16:rowId xmlns:a16="http://schemas.microsoft.com/office/drawing/2014/main" val="4013405896"/>
                  </a:ext>
                </a:extLst>
              </a:tr>
              <a:tr h="370840">
                <a:tc>
                  <a:txBody>
                    <a:bodyPr/>
                    <a:lstStyle/>
                    <a:p>
                      <a:pPr>
                        <a:buNone/>
                      </a:pPr>
                      <a:r>
                        <a:rPr lang="en-US" b="1"/>
                        <a:t>400</a:t>
                      </a:r>
                      <a:endParaRPr lang="en-US"/>
                    </a:p>
                  </a:txBody>
                  <a:tcPr anchor="ctr"/>
                </a:tc>
                <a:tc>
                  <a:txBody>
                    <a:bodyPr/>
                    <a:lstStyle/>
                    <a:p>
                      <a:pPr>
                        <a:buNone/>
                      </a:pPr>
                      <a:r>
                        <a:rPr lang="en-US"/>
                        <a:t>Bad Request</a:t>
                      </a:r>
                    </a:p>
                  </a:txBody>
                  <a:tcPr anchor="ctr"/>
                </a:tc>
                <a:extLst>
                  <a:ext uri="{0D108BD9-81ED-4DB2-BD59-A6C34878D82A}">
                    <a16:rowId xmlns:a16="http://schemas.microsoft.com/office/drawing/2014/main" val="2890314109"/>
                  </a:ext>
                </a:extLst>
              </a:tr>
              <a:tr h="370840">
                <a:tc>
                  <a:txBody>
                    <a:bodyPr/>
                    <a:lstStyle/>
                    <a:p>
                      <a:pPr>
                        <a:buNone/>
                      </a:pPr>
                      <a:r>
                        <a:rPr lang="en-US" b="1"/>
                        <a:t>401</a:t>
                      </a:r>
                      <a:endParaRPr lang="en-US"/>
                    </a:p>
                  </a:txBody>
                  <a:tcPr anchor="ctr"/>
                </a:tc>
                <a:tc>
                  <a:txBody>
                    <a:bodyPr/>
                    <a:lstStyle/>
                    <a:p>
                      <a:pPr>
                        <a:buNone/>
                      </a:pPr>
                      <a:r>
                        <a:rPr lang="en-US"/>
                        <a:t>Unauthorized</a:t>
                      </a:r>
                    </a:p>
                  </a:txBody>
                  <a:tcPr anchor="ctr"/>
                </a:tc>
                <a:extLst>
                  <a:ext uri="{0D108BD9-81ED-4DB2-BD59-A6C34878D82A}">
                    <a16:rowId xmlns:a16="http://schemas.microsoft.com/office/drawing/2014/main" val="1624739559"/>
                  </a:ext>
                </a:extLst>
              </a:tr>
              <a:tr h="370840">
                <a:tc>
                  <a:txBody>
                    <a:bodyPr/>
                    <a:lstStyle/>
                    <a:p>
                      <a:pPr>
                        <a:buNone/>
                      </a:pPr>
                      <a:r>
                        <a:rPr lang="en-US" b="1"/>
                        <a:t>404</a:t>
                      </a:r>
                      <a:endParaRPr lang="en-US"/>
                    </a:p>
                  </a:txBody>
                  <a:tcPr anchor="ctr"/>
                </a:tc>
                <a:tc>
                  <a:txBody>
                    <a:bodyPr/>
                    <a:lstStyle/>
                    <a:p>
                      <a:pPr>
                        <a:buNone/>
                      </a:pPr>
                      <a:r>
                        <a:rPr lang="en-US"/>
                        <a:t>Not Found</a:t>
                      </a:r>
                    </a:p>
                  </a:txBody>
                  <a:tcPr anchor="ctr"/>
                </a:tc>
                <a:extLst>
                  <a:ext uri="{0D108BD9-81ED-4DB2-BD59-A6C34878D82A}">
                    <a16:rowId xmlns:a16="http://schemas.microsoft.com/office/drawing/2014/main" val="1814811258"/>
                  </a:ext>
                </a:extLst>
              </a:tr>
              <a:tr h="370840">
                <a:tc>
                  <a:txBody>
                    <a:bodyPr/>
                    <a:lstStyle/>
                    <a:p>
                      <a:pPr>
                        <a:buNone/>
                      </a:pPr>
                      <a:r>
                        <a:rPr lang="en-US" b="1"/>
                        <a:t>500</a:t>
                      </a:r>
                      <a:endParaRPr lang="en-US"/>
                    </a:p>
                  </a:txBody>
                  <a:tcPr anchor="ctr"/>
                </a:tc>
                <a:tc>
                  <a:txBody>
                    <a:bodyPr/>
                    <a:lstStyle/>
                    <a:p>
                      <a:pPr>
                        <a:buNone/>
                      </a:pPr>
                      <a:r>
                        <a:rPr lang="en-US" dirty="0"/>
                        <a:t>Internal Server Error</a:t>
                      </a:r>
                    </a:p>
                  </a:txBody>
                  <a:tcPr anchor="ctr"/>
                </a:tc>
                <a:extLst>
                  <a:ext uri="{0D108BD9-81ED-4DB2-BD59-A6C34878D82A}">
                    <a16:rowId xmlns:a16="http://schemas.microsoft.com/office/drawing/2014/main" val="3282213923"/>
                  </a:ext>
                </a:extLst>
              </a:tr>
            </a:tbl>
          </a:graphicData>
        </a:graphic>
      </p:graphicFrame>
    </p:spTree>
    <p:extLst>
      <p:ext uri="{BB962C8B-B14F-4D97-AF65-F5344CB8AC3E}">
        <p14:creationId xmlns:p14="http://schemas.microsoft.com/office/powerpoint/2010/main" val="57136358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1CE6BF4-87CE-8519-B689-DE2980DAEB0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8AB864D-DF8E-E2E1-B407-77A2A5F471E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6360274-4934-275B-74A5-7063DA527EF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2052" name="Picture 4" descr="FastAPI">
            <a:extLst>
              <a:ext uri="{FF2B5EF4-FFF2-40B4-BE49-F238E27FC236}">
                <a16:creationId xmlns:a16="http://schemas.microsoft.com/office/drawing/2014/main" id="{F1FAB816-19B6-ADA5-BA48-4447C6F60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202" y="666247"/>
            <a:ext cx="6181163" cy="2227392"/>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4;p11">
            <a:extLst>
              <a:ext uri="{FF2B5EF4-FFF2-40B4-BE49-F238E27FC236}">
                <a16:creationId xmlns:a16="http://schemas.microsoft.com/office/drawing/2014/main" id="{A9C3841E-0F9D-FA57-0BFB-E35E2793BFF5}"/>
              </a:ext>
            </a:extLst>
          </p:cNvPr>
          <p:cNvSpPr txBox="1"/>
          <p:nvPr/>
        </p:nvSpPr>
        <p:spPr>
          <a:xfrm>
            <a:off x="1520435" y="2761658"/>
            <a:ext cx="15987646" cy="3231654"/>
          </a:xfrm>
          <a:prstGeom prst="rect">
            <a:avLst/>
          </a:prstGeom>
          <a:noFill/>
          <a:ln>
            <a:noFill/>
          </a:ln>
        </p:spPr>
        <p:txBody>
          <a:bodyPr spcFirstLastPara="1" wrap="square" lIns="0" tIns="0" rIns="0" bIns="0" anchor="t" anchorCtr="0">
            <a:spAutoFit/>
          </a:bodyPr>
          <a:lstStyle/>
          <a:p>
            <a:pPr lvl="0"/>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framework, high performance, easy to learn, fast to code, ready for production</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is a modern, fast (high-performance), web framework for building APIs with Python based on standard Python type hints</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12B646E2-3193-5E4B-1428-186F446D2FCE}"/>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92324921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EF6B80A-58A6-F1A6-F5CC-D730B2B50861}"/>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316D1F5-41AB-C856-C628-A5EA31E411B3}"/>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406293B6-6F9D-7BB6-A02D-EE41B13C1AC5}"/>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50A8F5AA-3789-CB94-072D-389F7D8978F6}"/>
              </a:ext>
            </a:extLst>
          </p:cNvPr>
          <p:cNvSpPr txBox="1"/>
          <p:nvPr/>
        </p:nvSpPr>
        <p:spPr>
          <a:xfrm>
            <a:off x="1506988" y="486669"/>
            <a:ext cx="15987646" cy="7109639"/>
          </a:xfrm>
          <a:prstGeom prst="rect">
            <a:avLst/>
          </a:prstGeom>
          <a:noFill/>
          <a:ln>
            <a:noFill/>
          </a:ln>
        </p:spPr>
        <p:txBody>
          <a:bodyPr spcFirstLastPara="1" wrap="square" lIns="0" tIns="0" rIns="0" bIns="0" anchor="t" anchorCtr="0">
            <a:spAutoFit/>
          </a:bodyPr>
          <a:lstStyle/>
          <a:p>
            <a:pPr lvl="0"/>
            <a:r>
              <a:rPr lang="en-US" sz="4200" dirty="0">
                <a:solidFill>
                  <a:srgbClr val="FFFFFF"/>
                </a:solidFill>
                <a:latin typeface="Darker Grotesque Medium"/>
                <a:ea typeface="Darker Grotesque Medium"/>
                <a:cs typeface="Darker Grotesque Medium"/>
                <a:sym typeface="Darker Grotesque Medium"/>
              </a:rPr>
              <a:t>Installation and Setup of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To get started with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1. Install Python 3: Make sure Python 3.7 or above is installed.</a:t>
            </a:r>
          </a:p>
          <a:p>
            <a:pPr lvl="0"/>
            <a:r>
              <a:rPr lang="en-US" sz="4200" dirty="0">
                <a:solidFill>
                  <a:srgbClr val="FFFFFF"/>
                </a:solidFill>
                <a:latin typeface="Darker Grotesque Medium"/>
                <a:ea typeface="Darker Grotesque Medium"/>
                <a:cs typeface="Darker Grotesque Medium"/>
                <a:sym typeface="Darker Grotesque Medium"/>
              </a:rPr>
              <a:t>2. Install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Use pip to install the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library</a:t>
            </a:r>
          </a:p>
          <a:p>
            <a:pPr lvl="0"/>
            <a:r>
              <a:rPr lang="en-US" sz="4200" dirty="0">
                <a:solidFill>
                  <a:srgbClr val="FFFFFF"/>
                </a:solidFill>
                <a:latin typeface="Darker Grotesque Medium"/>
                <a:ea typeface="Darker Grotesque Medium"/>
                <a:cs typeface="Darker Grotesque Medium"/>
                <a:sym typeface="Darker Grotesque Medium"/>
              </a:rPr>
              <a:t>		pip install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3. Install </a:t>
            </a:r>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(ASGI server): </a:t>
            </a:r>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is a lightweight server used to run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apps</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		pip install </a:t>
            </a:r>
            <a:r>
              <a:rPr lang="en-US" sz="4200" dirty="0" err="1">
                <a:solidFill>
                  <a:srgbClr val="FFFFFF"/>
                </a:solidFill>
                <a:latin typeface="Darker Grotesque Medium"/>
                <a:ea typeface="Darker Grotesque Medium"/>
                <a:cs typeface="Darker Grotesque Medium"/>
                <a:sym typeface="Darker Grotesque Medium"/>
              </a:rPr>
              <a:t>uvicorn</a:t>
            </a:r>
            <a:endParaRPr lang="en-US" sz="4200"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6ED059C7-32A6-650F-EE31-F7F9B86247DE}"/>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98573058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FD53B2E3-79C5-0D61-6931-74556EFB338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E49D2DF4-A9CD-16D2-484D-82A010664D2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DBB3FC3-F1F8-A679-0E9A-8071F7382E5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69E7D792-F65C-30F6-2EFD-F773D9C41BC2}"/>
              </a:ext>
            </a:extLst>
          </p:cNvPr>
          <p:cNvSpPr txBox="1"/>
          <p:nvPr/>
        </p:nvSpPr>
        <p:spPr>
          <a:xfrm>
            <a:off x="1439752" y="296019"/>
            <a:ext cx="15987646" cy="9694962"/>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First Steps</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@app.get("/")</a:t>
            </a:r>
          </a:p>
          <a:p>
            <a:pPr lvl="0"/>
            <a:r>
              <a:rPr lang="en-US" sz="4200" dirty="0">
                <a:solidFill>
                  <a:srgbClr val="FFFFFF"/>
                </a:solidFill>
                <a:latin typeface="Darker Grotesque Medium"/>
                <a:ea typeface="Darker Grotesque Medium"/>
                <a:cs typeface="Darker Grotesque Medium"/>
                <a:sym typeface="Darker Grotesque Medium"/>
              </a:rPr>
              <a:t>async def root():</a:t>
            </a:r>
          </a:p>
          <a:p>
            <a:pPr lvl="0"/>
            <a:r>
              <a:rPr lang="en-US" sz="4200" dirty="0">
                <a:solidFill>
                  <a:srgbClr val="FFFFFF"/>
                </a:solidFill>
                <a:latin typeface="Darker Grotesque Medium"/>
                <a:ea typeface="Darker Grotesque Medium"/>
                <a:cs typeface="Darker Grotesque Medium"/>
                <a:sym typeface="Darker Grotesque Medium"/>
              </a:rPr>
              <a:t>    return {"message": "Hello World"}</a:t>
            </a: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a:p>
            <a:pPr lvl="0"/>
            <a:r>
              <a:rPr lang="en-US" sz="4200" i="0" u="none" strike="noStrike" cap="none" dirty="0">
                <a:solidFill>
                  <a:srgbClr val="FFFFFF"/>
                </a:solidFill>
                <a:latin typeface="Darker Grotesque Medium"/>
                <a:ea typeface="Darker Grotesque Medium"/>
                <a:cs typeface="Darker Grotesque Medium"/>
                <a:sym typeface="Darker Grotesque Medium"/>
              </a:rPr>
              <a:t>#saved as test.py</a:t>
            </a:r>
          </a:p>
          <a:p>
            <a:pPr lvl="0"/>
            <a:r>
              <a:rPr lang="en-US" sz="4200" dirty="0">
                <a:solidFill>
                  <a:srgbClr val="FFFFFF"/>
                </a:solidFill>
                <a:latin typeface="Darker Grotesque Medium"/>
                <a:ea typeface="Darker Grotesque Medium"/>
                <a:cs typeface="Darker Grotesque Medium"/>
                <a:sym typeface="Darker Grotesque Medium"/>
              </a:rPr>
              <a:t>------------------------------------------------------------------------------------------------</a:t>
            </a:r>
          </a:p>
          <a:p>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filename:fastapi</a:t>
            </a:r>
            <a:r>
              <a:rPr lang="en-US" sz="4200" dirty="0">
                <a:solidFill>
                  <a:srgbClr val="FFFFFF"/>
                </a:solidFill>
                <a:latin typeface="Darker Grotesque Medium"/>
                <a:ea typeface="Darker Grotesque Medium"/>
                <a:cs typeface="Darker Grotesque Medium"/>
                <a:sym typeface="Darker Grotesque Medium"/>
              </a:rPr>
              <a:t> variable --reload</a:t>
            </a:r>
          </a:p>
          <a:p>
            <a:pPr lvl="0"/>
            <a:r>
              <a:rPr lang="en-US" sz="4200" dirty="0" err="1">
                <a:solidFill>
                  <a:srgbClr val="FFFFFF"/>
                </a:solidFill>
                <a:latin typeface="Darker Grotesque Medium"/>
                <a:ea typeface="Darker Grotesque Medium"/>
                <a:cs typeface="Darker Grotesque Medium"/>
                <a:sym typeface="Darker Grotesque Medium"/>
              </a:rPr>
              <a:t>uvicorn</a:t>
            </a:r>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test:app</a:t>
            </a:r>
            <a:r>
              <a:rPr lang="en-US" sz="4200" dirty="0">
                <a:solidFill>
                  <a:srgbClr val="FFFFFF"/>
                </a:solidFill>
                <a:latin typeface="Darker Grotesque Medium"/>
                <a:ea typeface="Darker Grotesque Medium"/>
                <a:cs typeface="Darker Grotesque Medium"/>
                <a:sym typeface="Darker Grotesque Medium"/>
              </a:rPr>
              <a:t> --reload</a:t>
            </a: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12BF918E-A165-4CD4-8C48-D4BEBC7A2EE5}"/>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17647623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87495879-ABCB-4623-EEDE-388709D7E55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61FF29B-9121-4488-2EF7-61509CA6183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B5680CC-5E98-DE6E-4349-695710685E3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C026A24F-C5B9-2E0B-0F95-AA66A1E39B8C}"/>
              </a:ext>
            </a:extLst>
          </p:cNvPr>
          <p:cNvSpPr txBox="1"/>
          <p:nvPr/>
        </p:nvSpPr>
        <p:spPr>
          <a:xfrm>
            <a:off x="1439752" y="296019"/>
            <a:ext cx="15987646" cy="10987623"/>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On start up</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BEFORE</a:t>
            </a:r>
          </a:p>
          <a:p>
            <a:pPr lvl="0"/>
            <a:r>
              <a:rPr lang="en-US" sz="4200" dirty="0">
                <a:solidFill>
                  <a:srgbClr val="FFFFFF"/>
                </a:solidFill>
                <a:latin typeface="Darker Grotesque Medium"/>
                <a:ea typeface="Darker Grotesque Medium"/>
                <a:cs typeface="Darker Grotesque Medium"/>
                <a:sym typeface="Darker Grotesque Medium"/>
              </a:rPr>
              <a:t>	@app.on_event("startup")</a:t>
            </a:r>
          </a:p>
          <a:p>
            <a:pPr lvl="0"/>
            <a:r>
              <a:rPr lang="en-US" sz="4200" dirty="0">
                <a:solidFill>
                  <a:srgbClr val="FFFFFF"/>
                </a:solidFill>
                <a:latin typeface="Darker Grotesque Medium"/>
                <a:ea typeface="Darker Grotesque Medium"/>
                <a:cs typeface="Darker Grotesque Medium"/>
                <a:sym typeface="Darker Grotesque Medium"/>
              </a:rPr>
              <a:t>	def </a:t>
            </a:r>
            <a:r>
              <a:rPr lang="en-US" sz="4200" dirty="0" err="1">
                <a:solidFill>
                  <a:srgbClr val="FFFFFF"/>
                </a:solidFill>
                <a:latin typeface="Darker Grotesque Medium"/>
                <a:ea typeface="Darker Grotesque Medium"/>
                <a:cs typeface="Darker Grotesque Medium"/>
                <a:sym typeface="Darker Grotesque Medium"/>
              </a:rPr>
              <a:t>on_startup</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create_db_and_tables</a:t>
            </a:r>
            <a:r>
              <a:rPr lang="en-US" sz="4200" dirty="0">
                <a:solidFill>
                  <a:srgbClr val="FFFFFF"/>
                </a:solidFill>
                <a:latin typeface="Darker Grotesque Medium"/>
                <a:ea typeface="Darker Grotesque Medium"/>
                <a:cs typeface="Darker Grotesque Medium"/>
                <a:sym typeface="Darker Grotesque Medium"/>
              </a:rPr>
              <a:t>()</a:t>
            </a:r>
          </a:p>
          <a:p>
            <a:pPr lvl="0"/>
            <a:r>
              <a:rPr lang="en-US" sz="4200" b="1" dirty="0">
                <a:solidFill>
                  <a:srgbClr val="FFFFFF"/>
                </a:solidFill>
                <a:latin typeface="Darker Grotesque Medium"/>
                <a:ea typeface="Darker Grotesque Medium"/>
                <a:cs typeface="Darker Grotesque Medium"/>
                <a:sym typeface="Darker Grotesque Medium"/>
              </a:rPr>
              <a:t>NEW</a:t>
            </a:r>
          </a:p>
          <a:p>
            <a:pPr lvl="0"/>
            <a:r>
              <a:rPr lang="en-US" sz="4200" dirty="0">
                <a:solidFill>
                  <a:srgbClr val="FFFFFF"/>
                </a:solidFill>
                <a:latin typeface="Darker Grotesque Medium"/>
                <a:ea typeface="Darker Grotesque Medium"/>
                <a:cs typeface="Darker Grotesque Medium"/>
                <a:sym typeface="Darker Grotesque Medium"/>
              </a:rPr>
              <a:t>	from </a:t>
            </a:r>
            <a:r>
              <a:rPr lang="en-US" sz="4200" dirty="0" err="1">
                <a:solidFill>
                  <a:srgbClr val="FFFFFF"/>
                </a:solidFill>
                <a:latin typeface="Darker Grotesque Medium"/>
                <a:ea typeface="Darker Grotesque Medium"/>
                <a:cs typeface="Darker Grotesque Medium"/>
                <a:sym typeface="Darker Grotesque Medium"/>
              </a:rPr>
              <a:t>contextlib</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asynccontextmanager</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	@asynccontextmanager</a:t>
            </a:r>
          </a:p>
          <a:p>
            <a:pPr lvl="0"/>
            <a:r>
              <a:rPr lang="en-US" sz="4200" dirty="0">
                <a:solidFill>
                  <a:srgbClr val="FFFFFF"/>
                </a:solidFill>
                <a:latin typeface="Darker Grotesque Medium"/>
                <a:ea typeface="Darker Grotesque Medium"/>
                <a:cs typeface="Darker Grotesque Medium"/>
                <a:sym typeface="Darker Grotesque Medium"/>
              </a:rPr>
              <a:t>	async def lifespan(app: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create_db_and_tables</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yield</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	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(lifespan=lifespan)</a:t>
            </a: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a:p>
            <a:pPr lvl="0"/>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2A74A0D8-2A05-3149-9CAE-7197D9FFEED0}"/>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417952511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5BDE001-260F-DEF3-CFE3-26E9E4A6045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3F41F0E-6465-52FB-78FC-A9204233F7BC}"/>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B78C0D5-6878-4378-C80F-C9571FB0237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33253B11-39B0-146F-D65B-144F326E85BF}"/>
              </a:ext>
            </a:extLst>
          </p:cNvPr>
          <p:cNvSpPr txBox="1"/>
          <p:nvPr/>
        </p:nvSpPr>
        <p:spPr>
          <a:xfrm>
            <a:off x="1480093" y="596681"/>
            <a:ext cx="15987646" cy="7755969"/>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Path Parameters</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models import Employee</a:t>
            </a:r>
          </a:p>
          <a:p>
            <a:pPr lvl="0"/>
            <a:r>
              <a:rPr lang="en-US" sz="4200" dirty="0">
                <a:solidFill>
                  <a:srgbClr val="FFFFFF"/>
                </a:solidFill>
                <a:latin typeface="Darker Grotesque Medium"/>
                <a:ea typeface="Darker Grotesque Medium"/>
                <a:cs typeface="Darker Grotesque Medium"/>
                <a:sym typeface="Darker Grotesque Medium"/>
              </a:rPr>
              <a:t>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@app.get("/employee/{id}")</a:t>
            </a:r>
          </a:p>
          <a:p>
            <a:pPr lvl="0"/>
            <a:r>
              <a:rPr lang="en-US" sz="4200" dirty="0">
                <a:solidFill>
                  <a:srgbClr val="FFFFFF"/>
                </a:solidFill>
                <a:latin typeface="Darker Grotesque Medium"/>
                <a:ea typeface="Darker Grotesque Medium"/>
                <a:cs typeface="Darker Grotesque Medium"/>
                <a:sym typeface="Darker Grotesque Medium"/>
              </a:rPr>
              <a:t>async def </a:t>
            </a:r>
            <a:r>
              <a:rPr lang="en-US" sz="4200" dirty="0" err="1">
                <a:solidFill>
                  <a:srgbClr val="FFFFFF"/>
                </a:solidFill>
                <a:latin typeface="Darker Grotesque Medium"/>
                <a:ea typeface="Darker Grotesque Medium"/>
                <a:cs typeface="Darker Grotesque Medium"/>
                <a:sym typeface="Darker Grotesque Medium"/>
              </a:rPr>
              <a:t>read_employee</a:t>
            </a:r>
            <a:r>
              <a:rPr lang="en-US" sz="4200" dirty="0">
                <a:solidFill>
                  <a:srgbClr val="FFFFFF"/>
                </a:solidFill>
                <a:latin typeface="Darker Grotesque Medium"/>
                <a:ea typeface="Darker Grotesque Medium"/>
                <a:cs typeface="Darker Grotesque Medium"/>
                <a:sym typeface="Darker Grotesque Medium"/>
              </a:rPr>
              <a:t>(id):</a:t>
            </a:r>
          </a:p>
          <a:p>
            <a:pPr lvl="0"/>
            <a:r>
              <a:rPr lang="en-US" sz="4200" dirty="0">
                <a:solidFill>
                  <a:srgbClr val="FFFFFF"/>
                </a:solidFill>
                <a:latin typeface="Darker Grotesque Medium"/>
                <a:ea typeface="Darker Grotesque Medium"/>
                <a:cs typeface="Darker Grotesque Medium"/>
                <a:sym typeface="Darker Grotesque Medium"/>
              </a:rPr>
              <a:t>	with Session(engine) as session:</a:t>
            </a:r>
          </a:p>
          <a:p>
            <a:pPr lvl="0"/>
            <a:r>
              <a:rPr lang="en-US" sz="4200" dirty="0">
                <a:solidFill>
                  <a:srgbClr val="FFFFFF"/>
                </a:solidFill>
                <a:latin typeface="Darker Grotesque Medium"/>
                <a:ea typeface="Darker Grotesque Medium"/>
                <a:cs typeface="Darker Grotesque Medium"/>
                <a:sym typeface="Darker Grotesque Medium"/>
              </a:rPr>
              <a:t>        	emp = </a:t>
            </a:r>
            <a:r>
              <a:rPr lang="en-US" sz="4200" dirty="0" err="1">
                <a:solidFill>
                  <a:srgbClr val="FFFFFF"/>
                </a:solidFill>
                <a:latin typeface="Darker Grotesque Medium"/>
                <a:ea typeface="Darker Grotesque Medium"/>
                <a:cs typeface="Darker Grotesque Medium"/>
                <a:sym typeface="Darker Grotesque Medium"/>
              </a:rPr>
              <a:t>session.get</a:t>
            </a:r>
            <a:r>
              <a:rPr lang="en-US" sz="4200" dirty="0">
                <a:solidFill>
                  <a:srgbClr val="FFFFFF"/>
                </a:solidFill>
                <a:latin typeface="Darker Grotesque Medium"/>
                <a:ea typeface="Darker Grotesque Medium"/>
                <a:cs typeface="Darker Grotesque Medium"/>
                <a:sym typeface="Darker Grotesque Medium"/>
              </a:rPr>
              <a:t>(Employee, id)</a:t>
            </a:r>
          </a:p>
          <a:p>
            <a:pPr lvl="0"/>
            <a:r>
              <a:rPr lang="en-US" sz="4200" dirty="0">
                <a:solidFill>
                  <a:srgbClr val="FFFFFF"/>
                </a:solidFill>
                <a:latin typeface="Darker Grotesque Medium"/>
                <a:ea typeface="Darker Grotesque Medium"/>
                <a:cs typeface="Darker Grotesque Medium"/>
                <a:sym typeface="Darker Grotesque Medium"/>
              </a:rPr>
              <a:t>        	return {"message": emp}</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33F60AD9-8992-7B0A-8E9E-8C5F5AC08BDF}"/>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12232302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153E1C3-09FC-D171-9B91-E5FCB148D3E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A86FFDF-3CDB-BA9B-0CFD-FBED2A8EEAF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BF77F1B-D561-FFEA-87F2-3276EE80D295}"/>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4" name="Google Shape;94;p11">
            <a:extLst>
              <a:ext uri="{FF2B5EF4-FFF2-40B4-BE49-F238E27FC236}">
                <a16:creationId xmlns:a16="http://schemas.microsoft.com/office/drawing/2014/main" id="{08C9A0F9-703A-99DA-6E3F-E01C0B5D8663}"/>
              </a:ext>
            </a:extLst>
          </p:cNvPr>
          <p:cNvSpPr txBox="1"/>
          <p:nvPr/>
        </p:nvSpPr>
        <p:spPr>
          <a:xfrm>
            <a:off x="1480093" y="596681"/>
            <a:ext cx="15987646" cy="8402300"/>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Request Body</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 import </a:t>
            </a:r>
            <a:r>
              <a:rPr lang="en-US" sz="4200" dirty="0" err="1">
                <a:solidFill>
                  <a:srgbClr val="FFFFFF"/>
                </a:solidFill>
                <a:latin typeface="Darker Grotesque Medium"/>
                <a:ea typeface="Darker Grotesque Medium"/>
                <a:cs typeface="Darker Grotesque Medium"/>
                <a:sym typeface="Darker Grotesque Medium"/>
              </a:rPr>
              <a:t>FastAPI</a:t>
            </a:r>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from models import Employee</a:t>
            </a:r>
          </a:p>
          <a:p>
            <a:pPr lvl="0"/>
            <a:r>
              <a:rPr lang="en-US" sz="4200" dirty="0">
                <a:solidFill>
                  <a:srgbClr val="FFFFFF"/>
                </a:solidFill>
                <a:latin typeface="Darker Grotesque Medium"/>
                <a:ea typeface="Darker Grotesque Medium"/>
                <a:cs typeface="Darker Grotesque Medium"/>
                <a:sym typeface="Darker Grotesque Medium"/>
              </a:rPr>
              <a:t>app = </a:t>
            </a:r>
            <a:r>
              <a:rPr lang="en-US" sz="4200" dirty="0" err="1">
                <a:solidFill>
                  <a:srgbClr val="FFFFFF"/>
                </a:solidFill>
                <a:latin typeface="Darker Grotesque Medium"/>
                <a:ea typeface="Darker Grotesque Medium"/>
                <a:cs typeface="Darker Grotesque Medium"/>
                <a:sym typeface="Darker Grotesque Medium"/>
              </a:rPr>
              <a:t>FastAPI</a:t>
            </a:r>
            <a:r>
              <a:rPr lang="en-US" sz="4200" dirty="0">
                <a:solidFill>
                  <a:srgbClr val="FFFFFF"/>
                </a:solidFill>
                <a:latin typeface="Darker Grotesque Medium"/>
                <a:ea typeface="Darker Grotesque Medium"/>
                <a:cs typeface="Darker Grotesque Medium"/>
                <a:sym typeface="Darker Grotesque Medium"/>
              </a:rPr>
              <a:t>()</a:t>
            </a:r>
          </a:p>
          <a:p>
            <a:pPr lvl="0"/>
            <a:endParaRPr lang="en-US" sz="4200" dirty="0">
              <a:solidFill>
                <a:srgbClr val="FFFFFF"/>
              </a:solidFill>
              <a:latin typeface="Darker Grotesque Medium"/>
              <a:ea typeface="Darker Grotesque Medium"/>
              <a:cs typeface="Darker Grotesque Medium"/>
              <a:sym typeface="Darker Grotesque Medium"/>
            </a:endParaRPr>
          </a:p>
          <a:p>
            <a:pPr lvl="0"/>
            <a:r>
              <a:rPr lang="en-US" sz="4200" dirty="0">
                <a:solidFill>
                  <a:srgbClr val="FFFFFF"/>
                </a:solidFill>
                <a:latin typeface="Darker Grotesque Medium"/>
                <a:ea typeface="Darker Grotesque Medium"/>
                <a:cs typeface="Darker Grotesque Medium"/>
                <a:sym typeface="Darker Grotesque Medium"/>
              </a:rPr>
              <a:t>@app.post("/ employee")</a:t>
            </a:r>
          </a:p>
          <a:p>
            <a:pPr lvl="0"/>
            <a:r>
              <a:rPr lang="en-US" sz="4200" dirty="0">
                <a:solidFill>
                  <a:srgbClr val="FFFFFF"/>
                </a:solidFill>
                <a:latin typeface="Darker Grotesque Medium"/>
                <a:ea typeface="Darker Grotesque Medium"/>
                <a:cs typeface="Darker Grotesque Medium"/>
                <a:sym typeface="Darker Grotesque Medium"/>
              </a:rPr>
              <a:t>async def root(employee  : Employee):</a:t>
            </a:r>
          </a:p>
          <a:p>
            <a:pPr lvl="0"/>
            <a:r>
              <a:rPr lang="en-US" sz="4200" dirty="0">
                <a:solidFill>
                  <a:srgbClr val="FFFFFF"/>
                </a:solidFill>
                <a:latin typeface="Darker Grotesque Medium"/>
                <a:ea typeface="Darker Grotesque Medium"/>
                <a:cs typeface="Darker Grotesque Medium"/>
                <a:sym typeface="Darker Grotesque Medium"/>
              </a:rPr>
              <a:t>    with Session(engine) as session:</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session.add</a:t>
            </a:r>
            <a:r>
              <a:rPr lang="en-US" sz="4200" dirty="0">
                <a:solidFill>
                  <a:srgbClr val="FFFFFF"/>
                </a:solidFill>
                <a:latin typeface="Darker Grotesque Medium"/>
                <a:ea typeface="Darker Grotesque Medium"/>
                <a:cs typeface="Darker Grotesque Medium"/>
                <a:sym typeface="Darker Grotesque Medium"/>
              </a:rPr>
              <a:t>(employee)</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session.commit</a:t>
            </a:r>
            <a:r>
              <a:rPr lang="en-US" sz="4200" dirty="0">
                <a:solidFill>
                  <a:srgbClr val="FFFFFF"/>
                </a:solidFill>
                <a:latin typeface="Darker Grotesque Medium"/>
                <a:ea typeface="Darker Grotesque Medium"/>
                <a:cs typeface="Darker Grotesque Medium"/>
                <a:sym typeface="Darker Grotesque Medium"/>
              </a:rPr>
              <a:t>()</a:t>
            </a:r>
          </a:p>
          <a:p>
            <a:pPr lvl="0"/>
            <a:r>
              <a:rPr lang="en-US" sz="4200" dirty="0">
                <a:solidFill>
                  <a:srgbClr val="FFFFFF"/>
                </a:solidFill>
                <a:latin typeface="Darker Grotesque Medium"/>
                <a:ea typeface="Darker Grotesque Medium"/>
                <a:cs typeface="Darker Grotesque Medium"/>
                <a:sym typeface="Darker Grotesque Medium"/>
              </a:rPr>
              <a:t>        </a:t>
            </a:r>
            <a:r>
              <a:rPr lang="en-US" sz="4200" dirty="0" err="1">
                <a:solidFill>
                  <a:srgbClr val="FFFFFF"/>
                </a:solidFill>
                <a:latin typeface="Darker Grotesque Medium"/>
                <a:ea typeface="Darker Grotesque Medium"/>
                <a:cs typeface="Darker Grotesque Medium"/>
                <a:sym typeface="Darker Grotesque Medium"/>
              </a:rPr>
              <a:t>session.refresh</a:t>
            </a:r>
            <a:r>
              <a:rPr lang="en-US" sz="4200" dirty="0">
                <a:solidFill>
                  <a:srgbClr val="FFFFFF"/>
                </a:solidFill>
                <a:latin typeface="Darker Grotesque Medium"/>
                <a:ea typeface="Darker Grotesque Medium"/>
                <a:cs typeface="Darker Grotesque Medium"/>
                <a:sym typeface="Darker Grotesque Medium"/>
              </a:rPr>
              <a:t>(employee)</a:t>
            </a:r>
          </a:p>
          <a:p>
            <a:pPr lvl="0"/>
            <a:r>
              <a:rPr lang="en-US" sz="4200" dirty="0">
                <a:solidFill>
                  <a:srgbClr val="FFFFFF"/>
                </a:solidFill>
                <a:latin typeface="Darker Grotesque Medium"/>
                <a:ea typeface="Darker Grotesque Medium"/>
                <a:cs typeface="Darker Grotesque Medium"/>
                <a:sym typeface="Darker Grotesque Medium"/>
              </a:rPr>
              <a:t>        </a:t>
            </a:r>
            <a:endParaRPr lang="en-US" sz="4200" i="0" u="none" strike="noStrike" cap="none" dirty="0">
              <a:solidFill>
                <a:srgbClr val="FFFFFF"/>
              </a:solidFill>
              <a:latin typeface="Darker Grotesque Medium"/>
              <a:ea typeface="Darker Grotesque Medium"/>
              <a:cs typeface="Darker Grotesque Medium"/>
              <a:sym typeface="Darker Grotesque Medium"/>
            </a:endParaRPr>
          </a:p>
        </p:txBody>
      </p:sp>
      <p:sp>
        <p:nvSpPr>
          <p:cNvPr id="5" name="Google Shape;94;p11">
            <a:extLst>
              <a:ext uri="{FF2B5EF4-FFF2-40B4-BE49-F238E27FC236}">
                <a16:creationId xmlns:a16="http://schemas.microsoft.com/office/drawing/2014/main" id="{EB230BD1-49FF-BB8A-AE0F-6FA8C186CF7D}"/>
              </a:ext>
            </a:extLst>
          </p:cNvPr>
          <p:cNvSpPr txBox="1"/>
          <p:nvPr/>
        </p:nvSpPr>
        <p:spPr>
          <a:xfrm>
            <a:off x="15828319" y="9012079"/>
            <a:ext cx="2459681"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https://fastapi.tiangolo.com/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214600007"/>
      </p:ext>
    </p:extLst>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1903</TotalTime>
  <Words>1269</Words>
  <Application>Microsoft Office PowerPoint</Application>
  <PresentationFormat>Custom</PresentationFormat>
  <Paragraphs>184</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Courier New</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14</cp:revision>
  <dcterms:modified xsi:type="dcterms:W3CDTF">2025-11-19T13:35:01Z</dcterms:modified>
</cp:coreProperties>
</file>