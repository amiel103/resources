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24"/>
  </p:notesMasterIdLst>
  <p:sldIdLst>
    <p:sldId id="256" r:id="rId2"/>
    <p:sldId id="276" r:id="rId3"/>
    <p:sldId id="304" r:id="rId4"/>
    <p:sldId id="292" r:id="rId5"/>
    <p:sldId id="288" r:id="rId6"/>
    <p:sldId id="293" r:id="rId7"/>
    <p:sldId id="294" r:id="rId8"/>
    <p:sldId id="295" r:id="rId9"/>
    <p:sldId id="296" r:id="rId10"/>
    <p:sldId id="297" r:id="rId11"/>
    <p:sldId id="298" r:id="rId12"/>
    <p:sldId id="299" r:id="rId13"/>
    <p:sldId id="300" r:id="rId14"/>
    <p:sldId id="301" r:id="rId15"/>
    <p:sldId id="302" r:id="rId16"/>
    <p:sldId id="308" r:id="rId17"/>
    <p:sldId id="309" r:id="rId18"/>
    <p:sldId id="310" r:id="rId19"/>
    <p:sldId id="303" r:id="rId20"/>
    <p:sldId id="305" r:id="rId21"/>
    <p:sldId id="306" r:id="rId22"/>
    <p:sldId id="307" r:id="rId23"/>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94660"/>
  </p:normalViewPr>
  <p:slideViewPr>
    <p:cSldViewPr snapToGrid="0">
      <p:cViewPr>
        <p:scale>
          <a:sx n="75" d="100"/>
          <a:sy n="75" d="100"/>
        </p:scale>
        <p:origin x="468" y="-18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dirty="0"/>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7CB5BD23-C392-7AF8-E981-D02CB7B762F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6102FF02-505B-01E1-202D-3461F2D834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0D03AE8B-52FA-8C85-B099-907DBEF105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0706631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21B4D34C-AAFD-91E3-81FD-706C85D55905}"/>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86CC0FF-FF25-4FFF-E821-4CF63F7D49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907AD495-4D2B-497E-91CB-8B01AB1897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379840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BC643459-CB73-E395-2425-6BEF3BED5CB1}"/>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0EBA98BD-6D1A-ED53-A58E-2350F7E654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379EFFD1-69A2-54BD-0C22-0CA4B78D728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676601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4428B108-B6BE-B9ED-6421-BE3C22C1242B}"/>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A715CFE-5A63-AB2A-2990-D88A96BB2E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A893E495-C436-527F-F026-E7F33BC26E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959212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3B6C9171-5A0F-FB63-47DF-2890C5F5216E}"/>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63967273-E642-5DC2-A6FF-89E08240A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AEA738F2-12C0-0DA3-22C0-D2D32D264A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492405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B0635965-88D6-738C-2F5C-481279E63B34}"/>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36739F07-163E-F012-AF73-351235CBA2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06BF3302-D2C2-C946-79F4-EF3D0102E2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431029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87D0FF3B-63BC-E37A-FA5E-501C87487D1B}"/>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73533493-C38A-C443-22C5-E87104A68B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1EA987E5-153F-B9C0-EE40-EE2560AC87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6179791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BF358444-A261-2DA7-066D-906E6871A8C1}"/>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B9034C03-DEBF-F760-AD95-99D4B4E643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67F37EBB-5F1D-90CA-715B-051B0C472AE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2933177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FB98BC4B-F593-BDD6-7E2A-323B59B9BFE9}"/>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DAC9A8BD-BFB4-82B5-0C86-08E373D461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4369FBE0-BFD5-5C46-3B58-FFF48F07EBF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8002295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49D1F28B-70FD-3C27-2008-B085B232632D}"/>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7C8744E5-EB9B-14D4-29FB-7DD8A64736A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73891DA1-7F6A-F6FA-3822-4FE59E0B8C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4175717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EF369CE0-B4AD-35B3-A06E-C824FF0EC5A2}"/>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4AA19BCE-46E6-1872-A7E9-E9E5CD06F3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2C751D41-05C4-98AD-90E2-02ADEEA807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144536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A96AF732-ED36-2195-793F-3600543FA192}"/>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8862F946-2C81-B2A9-772A-9BE8A3E8243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188C38E3-74E9-0AEA-B4EA-DFD327EA17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23646547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7E4FB6C7-5889-431F-6716-C8BA5A91FF9C}"/>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9BD688DB-7A3D-2631-BEC0-997BBF93E0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2FDB87BB-D531-A6B8-5BD8-3E88A87564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40973506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DC47D33F-1B8F-9849-5299-199B9ACA16B3}"/>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719FD0F1-08AC-BB78-4304-9E67F42756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47AC47E0-E18E-E8CE-DF5C-D556870B4F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9173958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463128A6-BCBF-BB5A-CE02-F05C3971A9E0}"/>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B6C5695-45B7-3A6F-3D7E-7EBD96FFF3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4267923D-1A05-11E7-9B33-9D40A59A19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28547896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F6B5EC73-5050-DCF4-FEF8-E3C60BC6BE7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EC927B05-2D4B-DED0-A3F1-10EA3071B0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4641CCC9-420F-B619-7E2F-D889022EA2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5681287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F1B07382-0395-5D62-EF23-E7BB974820AA}"/>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0EBC8688-E366-55AD-2176-6A7651B026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E6904BA1-7EA6-D0CB-7813-9C8C697D6C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6479472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D7648B13-FB6E-B7F5-CEBA-90C73040795D}"/>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4CA9A25A-BAD1-300E-6617-BE6BFB09C9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D612780B-3FEA-E2C8-C4F6-05E0303454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10023712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3CB69225-638C-82B3-A0A8-B752498366F4}"/>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02B05036-74EE-44E7-499A-B7AE683759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AF97AD30-6083-D55E-F940-B25219BA6C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5455651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9D6CFFF1-51B5-8326-9311-8A893966C429}"/>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F0C67079-B81F-2C61-7645-F047EF1CAD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7CDB1C13-76B9-2A28-F970-54B5998FA6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8503263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5CB9A02C-D820-524A-8CF1-EC279F6DB6A2}"/>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B9F718CF-65EE-BA8F-5733-9F06465DD0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73" name="Google Shape;73;p4:notes">
            <a:extLst>
              <a:ext uri="{FF2B5EF4-FFF2-40B4-BE49-F238E27FC236}">
                <a16:creationId xmlns:a16="http://schemas.microsoft.com/office/drawing/2014/main" id="{2BD68494-F9A1-CA80-6168-BFD675F124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dirty="0"/>
          </a:p>
        </p:txBody>
      </p:sp>
    </p:spTree>
    <p:extLst>
      <p:ext uri="{BB962C8B-B14F-4D97-AF65-F5344CB8AC3E}">
        <p14:creationId xmlns:p14="http://schemas.microsoft.com/office/powerpoint/2010/main" val="38032179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ype="obj">
  <p:cSld name="OBJECT">
    <p:bg>
      <p:bgPr>
        <a:solidFill>
          <a:srgbClr val="C2F970"/>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815350" y="6970050"/>
            <a:ext cx="15471000" cy="1815300"/>
          </a:xfrm>
          <a:prstGeom prst="rect">
            <a:avLst/>
          </a:prstGeom>
        </p:spPr>
        <p:txBody>
          <a:bodyPr spcFirstLastPara="1" wrap="square" lIns="0" tIns="0" rIns="0" bIns="0" anchor="t" anchorCtr="0">
            <a:noAutofit/>
          </a:bodyPr>
          <a:lstStyle>
            <a:lvl1pPr lvl="0" algn="r">
              <a:spcBef>
                <a:spcPts val="0"/>
              </a:spcBef>
              <a:spcAft>
                <a:spcPts val="0"/>
              </a:spcAft>
              <a:buClr>
                <a:srgbClr val="44344F"/>
              </a:buClr>
              <a:buSzPts val="14400"/>
              <a:buNone/>
              <a:defRPr>
                <a:solidFill>
                  <a:srgbClr val="4434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3" name="Google Shape;23;p4"/>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24" name="Google Shape;24;p4"/>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allery" type="secHead">
  <p:cSld name="SECTION_HEADER">
    <p:spTree>
      <p:nvGrpSpPr>
        <p:cNvPr id="1" name="Shape 25"/>
        <p:cNvGrpSpPr/>
        <p:nvPr/>
      </p:nvGrpSpPr>
      <p:grpSpPr>
        <a:xfrm>
          <a:off x="0" y="0"/>
          <a:ext cx="0" cy="0"/>
          <a:chOff x="0" y="0"/>
          <a:chExt cx="0" cy="0"/>
        </a:xfrm>
      </p:grpSpPr>
      <p:sp>
        <p:nvSpPr>
          <p:cNvPr id="26" name="Google Shape;26;p5"/>
          <p:cNvSpPr>
            <a:spLocks noGrp="1"/>
          </p:cNvSpPr>
          <p:nvPr>
            <p:ph type="pic" idx="2"/>
          </p:nvPr>
        </p:nvSpPr>
        <p:spPr>
          <a:xfrm>
            <a:off x="1512800" y="3065925"/>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27" name="Google Shape;27;p5"/>
          <p:cNvSpPr>
            <a:spLocks noGrp="1"/>
          </p:cNvSpPr>
          <p:nvPr>
            <p:ph type="pic" idx="3"/>
          </p:nvPr>
        </p:nvSpPr>
        <p:spPr>
          <a:xfrm>
            <a:off x="5602888" y="3076200"/>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28" name="Google Shape;28;p5"/>
          <p:cNvSpPr>
            <a:spLocks noGrp="1"/>
          </p:cNvSpPr>
          <p:nvPr>
            <p:ph type="pic" idx="4"/>
          </p:nvPr>
        </p:nvSpPr>
        <p:spPr>
          <a:xfrm>
            <a:off x="9717500" y="3071063"/>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29" name="Google Shape;29;p5"/>
          <p:cNvSpPr>
            <a:spLocks noGrp="1"/>
          </p:cNvSpPr>
          <p:nvPr>
            <p:ph type="pic" idx="5"/>
          </p:nvPr>
        </p:nvSpPr>
        <p:spPr>
          <a:xfrm>
            <a:off x="13807588" y="3081338"/>
            <a:ext cx="3735000" cy="55959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cxnSp>
        <p:nvCxnSpPr>
          <p:cNvPr id="30" name="Google Shape;30;p5"/>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1" name="Google Shape;31;p5"/>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type="twoObj">
  <p:cSld name="TWO_OBJECTS">
    <p:spTree>
      <p:nvGrpSpPr>
        <p:cNvPr id="1" name="Shape 32"/>
        <p:cNvGrpSpPr/>
        <p:nvPr/>
      </p:nvGrpSpPr>
      <p:grpSpPr>
        <a:xfrm>
          <a:off x="0" y="0"/>
          <a:ext cx="0" cy="0"/>
          <a:chOff x="0" y="0"/>
          <a:chExt cx="0" cy="0"/>
        </a:xfrm>
      </p:grpSpPr>
      <p:sp>
        <p:nvSpPr>
          <p:cNvPr id="33" name="Google Shape;33;p6"/>
          <p:cNvSpPr>
            <a:spLocks noGrp="1"/>
          </p:cNvSpPr>
          <p:nvPr>
            <p:ph type="pic" idx="2"/>
          </p:nvPr>
        </p:nvSpPr>
        <p:spPr>
          <a:xfrm>
            <a:off x="1756050" y="1082375"/>
            <a:ext cx="6483000" cy="50172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34" name="Google Shape;34;p6"/>
          <p:cNvSpPr>
            <a:spLocks noGrp="1"/>
          </p:cNvSpPr>
          <p:nvPr>
            <p:ph type="pic" idx="3"/>
          </p:nvPr>
        </p:nvSpPr>
        <p:spPr>
          <a:xfrm>
            <a:off x="1756050" y="6297875"/>
            <a:ext cx="3077700" cy="25545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sp>
        <p:nvSpPr>
          <p:cNvPr id="35" name="Google Shape;35;p6"/>
          <p:cNvSpPr>
            <a:spLocks noGrp="1"/>
          </p:cNvSpPr>
          <p:nvPr>
            <p:ph type="pic" idx="4"/>
          </p:nvPr>
        </p:nvSpPr>
        <p:spPr>
          <a:xfrm>
            <a:off x="5138888" y="6288525"/>
            <a:ext cx="3077700" cy="2554500"/>
          </a:xfrm>
          <a:prstGeom prst="rect">
            <a:avLst/>
          </a:prstGeom>
          <a:noFill/>
          <a:ln w="19050" cap="flat" cmpd="sng">
            <a:solidFill>
              <a:srgbClr val="C2F970"/>
            </a:solidFill>
            <a:prstDash val="solid"/>
            <a:round/>
            <a:headEnd type="none" w="sm" len="sm"/>
            <a:tailEnd type="none" w="sm" len="sm"/>
          </a:ln>
        </p:spPr>
        <p:txBody>
          <a:bodyPr/>
          <a:lstStyle/>
          <a:p>
            <a:endParaRPr lang="en-US" dirty="0"/>
          </a:p>
        </p:txBody>
      </p:sp>
      <p:cxnSp>
        <p:nvCxnSpPr>
          <p:cNvPr id="36" name="Google Shape;36;p6"/>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7" name="Google Shape;37;p6"/>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0" tIns="0" rIns="0" bIns="0" anchor="ctr" anchorCtr="0">
            <a:noAutofit/>
          </a:bodyPr>
          <a:lstStyle>
            <a:lvl1pPr marR="0" lvl="0" algn="ctr" rtl="0">
              <a:lnSpc>
                <a:spcPct val="70000"/>
              </a:lnSpc>
              <a:spcBef>
                <a:spcPts val="0"/>
              </a:spcBef>
              <a:spcAft>
                <a:spcPts val="0"/>
              </a:spcAft>
              <a:buClr>
                <a:srgbClr val="C2F970"/>
              </a:buClr>
              <a:buSzPts val="14400"/>
              <a:buFont typeface="Darker Grotesque"/>
              <a:buNone/>
              <a:defRPr sz="14400" i="0" u="none" strike="noStrike" cap="none">
                <a:solidFill>
                  <a:srgbClr val="C2F970"/>
                </a:solidFill>
                <a:latin typeface="Darker Grotesque"/>
                <a:ea typeface="Darker Grotesque"/>
                <a:cs typeface="Darker Grotesque"/>
                <a:sym typeface="Darker Grotesq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marR="0" lvl="0" indent="-431800" algn="l" rtl="0">
              <a:spcBef>
                <a:spcPts val="640"/>
              </a:spcBef>
              <a:spcAft>
                <a:spcPts val="0"/>
              </a:spcAft>
              <a:buClr>
                <a:schemeClr val="lt1"/>
              </a:buClr>
              <a:buSzPts val="3200"/>
              <a:buFont typeface="Darker Grotesque Light"/>
              <a:buChar char="•"/>
              <a:defRPr sz="3200" i="0" u="none" strike="noStrike" cap="none">
                <a:solidFill>
                  <a:schemeClr val="lt1"/>
                </a:solidFill>
                <a:latin typeface="Darker Grotesque Light"/>
                <a:ea typeface="Darker Grotesque Light"/>
                <a:cs typeface="Darker Grotesque Light"/>
                <a:sym typeface="Darker Grotesque Light"/>
              </a:defRPr>
            </a:lvl1pPr>
            <a:lvl2pPr marL="914400" marR="0" lvl="1" indent="-406400" algn="l" rtl="0">
              <a:spcBef>
                <a:spcPts val="560"/>
              </a:spcBef>
              <a:spcAft>
                <a:spcPts val="0"/>
              </a:spcAft>
              <a:buClr>
                <a:schemeClr val="lt1"/>
              </a:buClr>
              <a:buSzPts val="2800"/>
              <a:buFont typeface="Darker Grotesque Light"/>
              <a:buChar char="–"/>
              <a:defRPr sz="2800" i="0" u="none" strike="noStrike" cap="none">
                <a:solidFill>
                  <a:schemeClr val="lt1"/>
                </a:solidFill>
                <a:latin typeface="Darker Grotesque Light"/>
                <a:ea typeface="Darker Grotesque Light"/>
                <a:cs typeface="Darker Grotesque Light"/>
                <a:sym typeface="Darker Grotesque Light"/>
              </a:defRPr>
            </a:lvl2pPr>
            <a:lvl3pPr marL="1371600" marR="0" lvl="2" indent="-381000" algn="l" rtl="0">
              <a:spcBef>
                <a:spcPts val="480"/>
              </a:spcBef>
              <a:spcAft>
                <a:spcPts val="0"/>
              </a:spcAft>
              <a:buClr>
                <a:schemeClr val="lt1"/>
              </a:buClr>
              <a:buSzPts val="2400"/>
              <a:buFont typeface="Darker Grotesque Light"/>
              <a:buChar char="•"/>
              <a:defRPr sz="2400" i="0" u="none" strike="noStrike" cap="none">
                <a:solidFill>
                  <a:schemeClr val="lt1"/>
                </a:solidFill>
                <a:latin typeface="Darker Grotesque Light"/>
                <a:ea typeface="Darker Grotesque Light"/>
                <a:cs typeface="Darker Grotesque Light"/>
                <a:sym typeface="Darker Grotesque Light"/>
              </a:defRPr>
            </a:lvl3pPr>
            <a:lvl4pPr marL="1828800" marR="0" lvl="3"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4pPr>
            <a:lvl5pPr marL="2286000" marR="0" lvl="4"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5pPr>
            <a:lvl6pPr marL="2743200" marR="0" lvl="5"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6pPr>
            <a:lvl7pPr marL="3200400" marR="0" lvl="6"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7pPr>
            <a:lvl8pPr marL="3657600" marR="0" lvl="7"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8pPr>
            <a:lvl9pPr marL="4114800" marR="0" lvl="8"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1"/>
        <p:cNvGrpSpPr/>
        <p:nvPr/>
      </p:nvGrpSpPr>
      <p:grpSpPr>
        <a:xfrm>
          <a:off x="0" y="0"/>
          <a:ext cx="0" cy="0"/>
          <a:chOff x="0" y="0"/>
          <a:chExt cx="0" cy="0"/>
        </a:xfrm>
      </p:grpSpPr>
      <p:sp>
        <p:nvSpPr>
          <p:cNvPr id="42" name="Google Shape;42;p7"/>
          <p:cNvSpPr txBox="1"/>
          <p:nvPr/>
        </p:nvSpPr>
        <p:spPr>
          <a:xfrm>
            <a:off x="1802795" y="3486106"/>
            <a:ext cx="15475556" cy="3545586"/>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Backend Development</a:t>
            </a:r>
            <a:endParaRPr dirty="0"/>
          </a:p>
        </p:txBody>
      </p:sp>
      <p:cxnSp>
        <p:nvCxnSpPr>
          <p:cNvPr id="44" name="Google Shape;44;p7"/>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5AE7BF04-D91C-C315-6AA4-056449C8CC09}"/>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76E34125-91C5-1CA4-5CEB-4B92C06AF13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E66B82B4-BA34-1F9B-1BB2-AFEF5B98EF1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98ECA56E-25BF-6D21-90E1-D908266D502D}"/>
              </a:ext>
            </a:extLst>
          </p:cNvPr>
          <p:cNvSpPr txBox="1"/>
          <p:nvPr/>
        </p:nvSpPr>
        <p:spPr>
          <a:xfrm>
            <a:off x="1548653" y="3571103"/>
            <a:ext cx="15987646" cy="1292662"/>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Backend development refers to everything that happens behind the scenes of a website or app, it’s the part users don’t see.</a:t>
            </a:r>
          </a:p>
        </p:txBody>
      </p:sp>
    </p:spTree>
    <p:extLst>
      <p:ext uri="{BB962C8B-B14F-4D97-AF65-F5344CB8AC3E}">
        <p14:creationId xmlns:p14="http://schemas.microsoft.com/office/powerpoint/2010/main" val="343512698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E1145260-8242-2C97-71CC-E0F7632F317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5B6881DC-93D9-EEC6-2BEB-D792FF2BAF5A}"/>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D0D8275A-A0EB-EB61-55BE-12E64915E973}"/>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572A06E8-18B2-D824-3A38-3458DC101784}"/>
              </a:ext>
            </a:extLst>
          </p:cNvPr>
          <p:cNvSpPr txBox="1"/>
          <p:nvPr/>
        </p:nvSpPr>
        <p:spPr>
          <a:xfrm>
            <a:off x="1548653" y="3571103"/>
            <a:ext cx="15987646" cy="3877985"/>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SQLModel is a library for interacting with SQL databases from Python code, with Python objects. It is designed to be intuitive, easy to use, highly compatible, and robust.</a:t>
            </a:r>
          </a:p>
          <a:p>
            <a:pPr lvl="0"/>
            <a:endParaRPr lang="en-US" sz="4200" b="1" dirty="0">
              <a:solidFill>
                <a:srgbClr val="FFFFFF"/>
              </a:solidFill>
              <a:latin typeface="Darker Grotesque Medium"/>
              <a:ea typeface="Darker Grotesque Medium"/>
              <a:cs typeface="Darker Grotesque Medium"/>
              <a:sym typeface="Darker Grotesque Medium"/>
            </a:endParaRPr>
          </a:p>
          <a:p>
            <a:pPr lvl="0"/>
            <a:r>
              <a:rPr lang="en-US" sz="4200" b="1" dirty="0">
                <a:solidFill>
                  <a:srgbClr val="FFFFFF"/>
                </a:solidFill>
                <a:latin typeface="Darker Grotesque Medium"/>
                <a:ea typeface="Darker Grotesque Medium"/>
                <a:cs typeface="Darker Grotesque Medium"/>
                <a:sym typeface="Darker Grotesque Medium"/>
              </a:rPr>
              <a:t>SQLModel is based on Python type annotations, and powered by Pydantic and SQLAlchemy.</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pic>
        <p:nvPicPr>
          <p:cNvPr id="6" name="Picture 5">
            <a:extLst>
              <a:ext uri="{FF2B5EF4-FFF2-40B4-BE49-F238E27FC236}">
                <a16:creationId xmlns:a16="http://schemas.microsoft.com/office/drawing/2014/main" id="{3F030DC3-6BCB-9796-591F-191ED315228E}"/>
              </a:ext>
            </a:extLst>
          </p:cNvPr>
          <p:cNvPicPr>
            <a:picLocks noChangeAspect="1"/>
          </p:cNvPicPr>
          <p:nvPr/>
        </p:nvPicPr>
        <p:blipFill>
          <a:blip r:embed="rId3"/>
          <a:stretch>
            <a:fillRect/>
          </a:stretch>
        </p:blipFill>
        <p:spPr>
          <a:xfrm>
            <a:off x="1548653" y="1441510"/>
            <a:ext cx="6811326" cy="1810003"/>
          </a:xfrm>
          <a:prstGeom prst="rect">
            <a:avLst/>
          </a:prstGeom>
        </p:spPr>
      </p:pic>
      <p:sp>
        <p:nvSpPr>
          <p:cNvPr id="8" name="Google Shape;94;p11">
            <a:extLst>
              <a:ext uri="{FF2B5EF4-FFF2-40B4-BE49-F238E27FC236}">
                <a16:creationId xmlns:a16="http://schemas.microsoft.com/office/drawing/2014/main" id="{5E0FFD7A-DE6D-85CD-FC2A-EFF009607B6B}"/>
              </a:ext>
            </a:extLst>
          </p:cNvPr>
          <p:cNvSpPr txBox="1"/>
          <p:nvPr/>
        </p:nvSpPr>
        <p:spPr>
          <a:xfrm>
            <a:off x="15452912" y="8888511"/>
            <a:ext cx="2740955" cy="246221"/>
          </a:xfrm>
          <a:prstGeom prst="rect">
            <a:avLst/>
          </a:prstGeom>
          <a:noFill/>
          <a:ln>
            <a:noFill/>
          </a:ln>
        </p:spPr>
        <p:txBody>
          <a:bodyPr spcFirstLastPara="1" wrap="square" lIns="0" tIns="0" rIns="0" bIns="0" anchor="t" anchorCtr="0">
            <a:spAutoFit/>
          </a:bodyPr>
          <a:lstStyle/>
          <a:p>
            <a:pPr lvl="1"/>
            <a:r>
              <a:rPr lang="en-US" sz="1600" dirty="0">
                <a:solidFill>
                  <a:srgbClr val="FFFFFF"/>
                </a:solidFill>
                <a:latin typeface="Darker Grotesque Medium"/>
                <a:ea typeface="Darker Grotesque Medium"/>
                <a:cs typeface="Darker Grotesque Medium"/>
                <a:sym typeface="Darker Grotesque Medium"/>
              </a:rPr>
              <a:t>https://sqlmodel.tiangolo.com/</a:t>
            </a:r>
            <a:endParaRPr lang="en-US" sz="1600"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50936664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2114D5AF-E247-F8F5-1707-0CD8B0B68A6F}"/>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55C88F4E-6473-2FBD-2424-9A384E38C075}"/>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3918F133-3589-17D5-742D-3BDB4EB18BB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A059557-6DD6-DA25-7BF5-CB08D00A4487}"/>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i="0" u="none" strike="noStrike" cap="none" dirty="0">
                <a:solidFill>
                  <a:srgbClr val="FFFFFF"/>
                </a:solidFill>
                <a:latin typeface="Darker Grotesque Medium"/>
                <a:ea typeface="Darker Grotesque Medium"/>
                <a:cs typeface="Darker Grotesque Medium"/>
                <a:sym typeface="Darker Grotesque Medium"/>
              </a:rPr>
              <a:t>Installation</a:t>
            </a:r>
          </a:p>
        </p:txBody>
      </p:sp>
      <p:sp>
        <p:nvSpPr>
          <p:cNvPr id="4" name="Google Shape;102;p11">
            <a:extLst>
              <a:ext uri="{FF2B5EF4-FFF2-40B4-BE49-F238E27FC236}">
                <a16:creationId xmlns:a16="http://schemas.microsoft.com/office/drawing/2014/main" id="{A6C5A661-719D-4CD2-C255-7520CBF6D055}"/>
              </a:ext>
            </a:extLst>
          </p:cNvPr>
          <p:cNvSpPr txBox="1"/>
          <p:nvPr/>
        </p:nvSpPr>
        <p:spPr>
          <a:xfrm>
            <a:off x="2321455" y="2239570"/>
            <a:ext cx="12664382" cy="615553"/>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pip install sqlmodel</a:t>
            </a:r>
            <a:endParaRPr lang="en-US" sz="2400" dirty="0">
              <a:latin typeface="Darker Grotesque Light"/>
              <a:ea typeface="Darker Grotesque Light"/>
              <a:cs typeface="Darker Grotesque Light"/>
              <a:sym typeface="Darker Grotesque Light"/>
            </a:endParaRPr>
          </a:p>
        </p:txBody>
      </p:sp>
      <p:pic>
        <p:nvPicPr>
          <p:cNvPr id="6" name="Picture 5">
            <a:extLst>
              <a:ext uri="{FF2B5EF4-FFF2-40B4-BE49-F238E27FC236}">
                <a16:creationId xmlns:a16="http://schemas.microsoft.com/office/drawing/2014/main" id="{1491A95E-4A37-453B-018F-501696441C0D}"/>
              </a:ext>
            </a:extLst>
          </p:cNvPr>
          <p:cNvPicPr>
            <a:picLocks noChangeAspect="1"/>
          </p:cNvPicPr>
          <p:nvPr/>
        </p:nvPicPr>
        <p:blipFill>
          <a:blip r:embed="rId3"/>
          <a:stretch>
            <a:fillRect/>
          </a:stretch>
        </p:blipFill>
        <p:spPr>
          <a:xfrm>
            <a:off x="2321455" y="3284283"/>
            <a:ext cx="11304815" cy="3662760"/>
          </a:xfrm>
          <a:prstGeom prst="rect">
            <a:avLst/>
          </a:prstGeom>
        </p:spPr>
      </p:pic>
    </p:spTree>
    <p:extLst>
      <p:ext uri="{BB962C8B-B14F-4D97-AF65-F5344CB8AC3E}">
        <p14:creationId xmlns:p14="http://schemas.microsoft.com/office/powerpoint/2010/main" val="1107302060"/>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9DD0CEA1-6F7D-DE23-6D4D-33A4B0CECFA3}"/>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AF14819C-BFE7-173A-4EFC-5A6762F49CFD}"/>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840645D2-94CF-64B5-5E93-8DEF7FBD509B}"/>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91917366-350F-9834-F357-071B2685B25B}"/>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Creating a connection to a database.</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4" name="Google Shape;102;p11">
            <a:extLst>
              <a:ext uri="{FF2B5EF4-FFF2-40B4-BE49-F238E27FC236}">
                <a16:creationId xmlns:a16="http://schemas.microsoft.com/office/drawing/2014/main" id="{C0FC3BB7-8D84-E8AF-58C5-6D511CD04822}"/>
              </a:ext>
            </a:extLst>
          </p:cNvPr>
          <p:cNvSpPr txBox="1"/>
          <p:nvPr/>
        </p:nvSpPr>
        <p:spPr>
          <a:xfrm>
            <a:off x="2362900" y="2579700"/>
            <a:ext cx="15092482" cy="5909310"/>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from sqlmodel import SQLModel, create_engine </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connection_string = "sqlite:///database.db"</a:t>
            </a:r>
          </a:p>
          <a:p>
            <a:pPr lvl="0"/>
            <a:r>
              <a:rPr lang="en-US" sz="4000" dirty="0">
                <a:solidFill>
                  <a:srgbClr val="FFFFFF"/>
                </a:solidFill>
                <a:latin typeface="Darker Grotesque Light"/>
                <a:ea typeface="Darker Grotesque Light"/>
                <a:cs typeface="Darker Grotesque Light"/>
                <a:sym typeface="Darker Grotesque Light"/>
              </a:rPr>
              <a:t>engine = create_engine( connection_string )</a:t>
            </a:r>
          </a:p>
          <a:p>
            <a:pPr lvl="0"/>
            <a:r>
              <a:rPr lang="en-US" sz="4000" dirty="0">
                <a:solidFill>
                  <a:srgbClr val="FFFFFF"/>
                </a:solidFill>
                <a:latin typeface="Darker Grotesque Light"/>
                <a:ea typeface="Darker Grotesque Light"/>
                <a:cs typeface="Darker Grotesque Light"/>
                <a:sym typeface="Darker Grotesque Light"/>
              </a:rPr>
              <a:t>SQLModel.metadata.create_all(engine)</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A connection string is a string that specifies information about a data source and the means of connecting to it.</a:t>
            </a:r>
          </a:p>
          <a:p>
            <a:pPr lvl="0"/>
            <a:endParaRPr lang="en-US" sz="4000" dirty="0">
              <a:solidFill>
                <a:srgbClr val="FFFFFF"/>
              </a:solidFill>
              <a:latin typeface="Darker Grotesque Light"/>
              <a:ea typeface="Darker Grotesque Light"/>
              <a:cs typeface="Darker Grotesque Light"/>
              <a:sym typeface="Darker Grotesque Light"/>
            </a:endParaRPr>
          </a:p>
          <a:p>
            <a:pPr lvl="0"/>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189815459"/>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282406C5-739A-1AAD-9C0D-45BFD4131B40}"/>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EFCBF113-BC30-A568-C920-116567A478F9}"/>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DB5422AF-962E-1A12-8C92-EF56F6596C87}"/>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AAC0DDD1-A031-1DF1-D94F-841116804C31}"/>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Creating a connection to a database.</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4" name="Google Shape;102;p11">
            <a:extLst>
              <a:ext uri="{FF2B5EF4-FFF2-40B4-BE49-F238E27FC236}">
                <a16:creationId xmlns:a16="http://schemas.microsoft.com/office/drawing/2014/main" id="{259703C1-F661-28BE-05D3-A7F8277792DA}"/>
              </a:ext>
            </a:extLst>
          </p:cNvPr>
          <p:cNvSpPr txBox="1"/>
          <p:nvPr/>
        </p:nvSpPr>
        <p:spPr>
          <a:xfrm>
            <a:off x="2213878" y="2689623"/>
            <a:ext cx="15200068" cy="4924425"/>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username = 'postgres'</a:t>
            </a:r>
          </a:p>
          <a:p>
            <a:pPr lvl="0"/>
            <a:r>
              <a:rPr lang="en-US" sz="4000" dirty="0">
                <a:solidFill>
                  <a:srgbClr val="FFFFFF"/>
                </a:solidFill>
                <a:latin typeface="Darker Grotesque Light"/>
                <a:ea typeface="Darker Grotesque Light"/>
                <a:cs typeface="Darker Grotesque Light"/>
                <a:sym typeface="Darker Grotesque Light"/>
              </a:rPr>
              <a:t>password = 'root'</a:t>
            </a:r>
          </a:p>
          <a:p>
            <a:pPr lvl="0"/>
            <a:r>
              <a:rPr lang="en-US" sz="4000" dirty="0">
                <a:solidFill>
                  <a:srgbClr val="FFFFFF"/>
                </a:solidFill>
                <a:latin typeface="Darker Grotesque Light"/>
                <a:ea typeface="Darker Grotesque Light"/>
                <a:cs typeface="Darker Grotesque Light"/>
                <a:sym typeface="Darker Grotesque Light"/>
              </a:rPr>
              <a:t>host = 'localhost'</a:t>
            </a:r>
          </a:p>
          <a:p>
            <a:pPr lvl="0"/>
            <a:r>
              <a:rPr lang="en-US" sz="4000" dirty="0">
                <a:solidFill>
                  <a:srgbClr val="FFFFFF"/>
                </a:solidFill>
                <a:latin typeface="Darker Grotesque Light"/>
                <a:ea typeface="Darker Grotesque Light"/>
                <a:cs typeface="Darker Grotesque Light"/>
                <a:sym typeface="Darker Grotesque Light"/>
              </a:rPr>
              <a:t>port = '5432'</a:t>
            </a:r>
          </a:p>
          <a:p>
            <a:pPr lvl="0"/>
            <a:r>
              <a:rPr lang="en-US" sz="4000" dirty="0">
                <a:solidFill>
                  <a:srgbClr val="FFFFFF"/>
                </a:solidFill>
                <a:latin typeface="Darker Grotesque Light"/>
                <a:ea typeface="Darker Grotesque Light"/>
                <a:cs typeface="Darker Grotesque Light"/>
                <a:sym typeface="Darker Grotesque Light"/>
              </a:rPr>
              <a:t>database_name = 'postgres'</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connection_string = f'postgresql://{username}:{password}@{host}:{port}/{database_name}'</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155974799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2F3EBE46-787D-455A-6A8C-7FB7930675F2}"/>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3F5CE2D9-AFF1-61D1-CF63-3521AEA63CE6}"/>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B7C2A9A8-8192-004B-CD22-A6E2B6089BB6}"/>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C167839D-7BEF-4AFA-B6EC-7774DDB1CBBB}"/>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Raw query</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pic>
        <p:nvPicPr>
          <p:cNvPr id="5" name="Picture 4">
            <a:extLst>
              <a:ext uri="{FF2B5EF4-FFF2-40B4-BE49-F238E27FC236}">
                <a16:creationId xmlns:a16="http://schemas.microsoft.com/office/drawing/2014/main" id="{0FCDC785-B884-F8E8-0B73-C2AF0BB8BD58}"/>
              </a:ext>
            </a:extLst>
          </p:cNvPr>
          <p:cNvPicPr>
            <a:picLocks noChangeAspect="1"/>
          </p:cNvPicPr>
          <p:nvPr/>
        </p:nvPicPr>
        <p:blipFill>
          <a:blip r:embed="rId3"/>
          <a:stretch>
            <a:fillRect/>
          </a:stretch>
        </p:blipFill>
        <p:spPr>
          <a:xfrm>
            <a:off x="1646672" y="2112925"/>
            <a:ext cx="7497328" cy="5341648"/>
          </a:xfrm>
          <a:prstGeom prst="rect">
            <a:avLst/>
          </a:prstGeom>
        </p:spPr>
      </p:pic>
      <p:pic>
        <p:nvPicPr>
          <p:cNvPr id="9" name="Picture 8">
            <a:extLst>
              <a:ext uri="{FF2B5EF4-FFF2-40B4-BE49-F238E27FC236}">
                <a16:creationId xmlns:a16="http://schemas.microsoft.com/office/drawing/2014/main" id="{53E7D94E-ACAD-328C-F312-591AB4843291}"/>
              </a:ext>
            </a:extLst>
          </p:cNvPr>
          <p:cNvPicPr>
            <a:picLocks noChangeAspect="1"/>
          </p:cNvPicPr>
          <p:nvPr/>
        </p:nvPicPr>
        <p:blipFill>
          <a:blip r:embed="rId4"/>
          <a:stretch>
            <a:fillRect/>
          </a:stretch>
        </p:blipFill>
        <p:spPr>
          <a:xfrm>
            <a:off x="9316711" y="2112925"/>
            <a:ext cx="8547697" cy="1709540"/>
          </a:xfrm>
          <a:prstGeom prst="rect">
            <a:avLst/>
          </a:prstGeom>
        </p:spPr>
      </p:pic>
    </p:spTree>
    <p:extLst>
      <p:ext uri="{BB962C8B-B14F-4D97-AF65-F5344CB8AC3E}">
        <p14:creationId xmlns:p14="http://schemas.microsoft.com/office/powerpoint/2010/main" val="417395155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783841B9-A91E-4AC9-426C-87ED7275BBE6}"/>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265C29F-B146-F5AA-C684-54B223E589A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C7F7D013-B4A1-92B5-DC1B-ACF4D53890B2}"/>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ADA8FFE1-1630-1E95-F6DF-0D850FB1C3DC}"/>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What is Object-Relational Mapping (ORM)?</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88AB21D2-AE0C-BC25-C316-CBC03041FE06}"/>
              </a:ext>
            </a:extLst>
          </p:cNvPr>
          <p:cNvSpPr txBox="1"/>
          <p:nvPr/>
        </p:nvSpPr>
        <p:spPr>
          <a:xfrm>
            <a:off x="2213884" y="2456589"/>
            <a:ext cx="15200068" cy="6155531"/>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Object-relational mapping (ORM) is the process of abstracting the connection between programming language entities (objects) and their corresponding database elements.</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Object-relational mapping is a software layer that translates object data to the underlying database, abstracting database details from the programmer. That way, the code remains unchanged even if the underlying databases are swapped out with new or different designs. Object-relational mapping allows for the creation of modular applications that are easy to manage and maintain.</a:t>
            </a:r>
            <a:endParaRPr lang="en-US" sz="2400" dirty="0">
              <a:latin typeface="Darker Grotesque Light"/>
              <a:ea typeface="Darker Grotesque Light"/>
              <a:cs typeface="Darker Grotesque Light"/>
              <a:sym typeface="Darker Grotesque Light"/>
            </a:endParaRPr>
          </a:p>
        </p:txBody>
      </p:sp>
      <p:sp>
        <p:nvSpPr>
          <p:cNvPr id="4" name="Google Shape;94;p11">
            <a:extLst>
              <a:ext uri="{FF2B5EF4-FFF2-40B4-BE49-F238E27FC236}">
                <a16:creationId xmlns:a16="http://schemas.microsoft.com/office/drawing/2014/main" id="{4C10CF40-7EA9-6F63-D92A-B0548F79A3AD}"/>
              </a:ext>
            </a:extLst>
          </p:cNvPr>
          <p:cNvSpPr txBox="1"/>
          <p:nvPr/>
        </p:nvSpPr>
        <p:spPr>
          <a:xfrm>
            <a:off x="13684019" y="8927078"/>
            <a:ext cx="4603981" cy="215292"/>
          </a:xfrm>
          <a:prstGeom prst="rect">
            <a:avLst/>
          </a:prstGeom>
          <a:noFill/>
          <a:ln>
            <a:noFill/>
          </a:ln>
        </p:spPr>
        <p:txBody>
          <a:bodyPr spcFirstLastPara="1" wrap="square" lIns="0" tIns="0" rIns="0" bIns="0" anchor="t" anchorCtr="0">
            <a:spAutoFit/>
          </a:bodyPr>
          <a:lstStyle/>
          <a:p>
            <a:pPr lvl="0"/>
            <a:r>
              <a:rPr lang="en-US" dirty="0">
                <a:solidFill>
                  <a:srgbClr val="FFFFFF"/>
                </a:solidFill>
                <a:latin typeface="Darker Grotesque Medium"/>
                <a:ea typeface="Darker Grotesque Medium"/>
                <a:cs typeface="Darker Grotesque Medium"/>
                <a:sym typeface="Darker Grotesque Medium"/>
              </a:rPr>
              <a:t>https://aws.amazon.com/what-is/object-relational-mapping/</a:t>
            </a:r>
            <a:endParaRPr lang="en-US" i="0" u="none" strike="noStrike" cap="none" dirty="0">
              <a:solidFill>
                <a:srgbClr val="FFFFFF"/>
              </a:solidFill>
              <a:latin typeface="Darker Grotesque Medium"/>
              <a:ea typeface="Darker Grotesque Medium"/>
              <a:cs typeface="Darker Grotesque Medium"/>
              <a:sym typeface="Darker Grotesque Medium"/>
            </a:endParaRPr>
          </a:p>
        </p:txBody>
      </p:sp>
    </p:spTree>
    <p:extLst>
      <p:ext uri="{BB962C8B-B14F-4D97-AF65-F5344CB8AC3E}">
        <p14:creationId xmlns:p14="http://schemas.microsoft.com/office/powerpoint/2010/main" val="103653712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89063B2C-1279-F181-1B08-4B1BCB4897D3}"/>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2B6E4C2-7160-0336-ABC0-3148CACEE08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836B8AA8-DCE9-6A27-AA17-926DED1210E7}"/>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99B5968-E37E-74C4-2B21-92CC271589B2}"/>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Database to Code (ORMs)</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30DE8A53-D535-B939-250F-E24545F09437}"/>
              </a:ext>
            </a:extLst>
          </p:cNvPr>
          <p:cNvSpPr txBox="1"/>
          <p:nvPr/>
        </p:nvSpPr>
        <p:spPr>
          <a:xfrm>
            <a:off x="2213884" y="2166937"/>
            <a:ext cx="15200068" cy="4308872"/>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from sqlmodel import Field, SQLModel</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class Employee(SQLModel, table=True):</a:t>
            </a:r>
          </a:p>
          <a:p>
            <a:pPr lvl="0"/>
            <a:r>
              <a:rPr lang="en-US" sz="4000" dirty="0">
                <a:solidFill>
                  <a:srgbClr val="FFFFFF"/>
                </a:solidFill>
                <a:latin typeface="Darker Grotesque Light"/>
                <a:ea typeface="Darker Grotesque Light"/>
                <a:cs typeface="Darker Grotesque Light"/>
                <a:sym typeface="Darker Grotesque Light"/>
              </a:rPr>
              <a:t>    	empid: int | None = Field(default=None, primary_key=True)</a:t>
            </a:r>
          </a:p>
          <a:p>
            <a:pPr lvl="0"/>
            <a:r>
              <a:rPr lang="en-US" sz="4000" dirty="0">
                <a:solidFill>
                  <a:srgbClr val="FFFFFF"/>
                </a:solidFill>
                <a:latin typeface="Darker Grotesque Light"/>
                <a:ea typeface="Darker Grotesque Light"/>
                <a:cs typeface="Darker Grotesque Light"/>
                <a:sym typeface="Darker Grotesque Light"/>
              </a:rPr>
              <a:t>    	name: str</a:t>
            </a:r>
          </a:p>
          <a:p>
            <a:pPr lvl="0"/>
            <a:r>
              <a:rPr lang="en-US" sz="4000" dirty="0">
                <a:solidFill>
                  <a:srgbClr val="FFFFFF"/>
                </a:solidFill>
                <a:latin typeface="Darker Grotesque Light"/>
                <a:ea typeface="Darker Grotesque Light"/>
                <a:cs typeface="Darker Grotesque Light"/>
                <a:sym typeface="Darker Grotesque Light"/>
              </a:rPr>
              <a:t>    	dept: str</a:t>
            </a:r>
          </a:p>
          <a:p>
            <a:pPr lvl="0"/>
            <a:r>
              <a:rPr lang="en-US" sz="4000" dirty="0">
                <a:solidFill>
                  <a:srgbClr val="FFFFFF"/>
                </a:solidFill>
                <a:latin typeface="Darker Grotesque Light"/>
                <a:ea typeface="Darker Grotesque Light"/>
                <a:cs typeface="Darker Grotesque Light"/>
                <a:sym typeface="Darker Grotesque Light"/>
              </a:rPr>
              <a:t>	age: int | None = None</a:t>
            </a:r>
            <a:endParaRPr lang="en-US" sz="2400" dirty="0">
              <a:latin typeface="Darker Grotesque Light"/>
              <a:ea typeface="Darker Grotesque Light"/>
              <a:cs typeface="Darker Grotesque Light"/>
              <a:sym typeface="Darker Grotesque Light"/>
            </a:endParaRPr>
          </a:p>
        </p:txBody>
      </p:sp>
      <p:pic>
        <p:nvPicPr>
          <p:cNvPr id="5" name="Picture 4">
            <a:extLst>
              <a:ext uri="{FF2B5EF4-FFF2-40B4-BE49-F238E27FC236}">
                <a16:creationId xmlns:a16="http://schemas.microsoft.com/office/drawing/2014/main" id="{CF48719B-7F40-8ED8-FACD-5BC50A1C5CD8}"/>
              </a:ext>
            </a:extLst>
          </p:cNvPr>
          <p:cNvPicPr>
            <a:picLocks noChangeAspect="1"/>
          </p:cNvPicPr>
          <p:nvPr/>
        </p:nvPicPr>
        <p:blipFill>
          <a:blip r:embed="rId3"/>
          <a:stretch>
            <a:fillRect/>
          </a:stretch>
        </p:blipFill>
        <p:spPr>
          <a:xfrm>
            <a:off x="12021672" y="6134441"/>
            <a:ext cx="6040998" cy="2988480"/>
          </a:xfrm>
          <a:prstGeom prst="rect">
            <a:avLst/>
          </a:prstGeom>
        </p:spPr>
      </p:pic>
    </p:spTree>
    <p:extLst>
      <p:ext uri="{BB962C8B-B14F-4D97-AF65-F5344CB8AC3E}">
        <p14:creationId xmlns:p14="http://schemas.microsoft.com/office/powerpoint/2010/main" val="75261429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3BF3A604-2B59-36E0-8AB8-453BE439E652}"/>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D8227C1F-9A51-FACD-C2A9-7C26228D8BDD}"/>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05ED09A2-41DB-995C-85AB-667E165F91A5}"/>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94CA5F69-E1BF-72F3-9BF7-CBC3E213B825}"/>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Inserting Data</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58436522-FDDC-F52D-3317-423779AD1760}"/>
              </a:ext>
            </a:extLst>
          </p:cNvPr>
          <p:cNvSpPr txBox="1"/>
          <p:nvPr/>
        </p:nvSpPr>
        <p:spPr>
          <a:xfrm>
            <a:off x="2213884" y="2166937"/>
            <a:ext cx="15200068" cy="6771084"/>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from sqlmodel import Session</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emp1 = Employee(  name='Clark', dept='Sales')</a:t>
            </a:r>
          </a:p>
          <a:p>
            <a:pPr lvl="0"/>
            <a:r>
              <a:rPr lang="en-US" sz="4000" dirty="0">
                <a:solidFill>
                  <a:srgbClr val="FFFFFF"/>
                </a:solidFill>
                <a:latin typeface="Darker Grotesque Light"/>
                <a:ea typeface="Darker Grotesque Light"/>
                <a:cs typeface="Darker Grotesque Light"/>
                <a:sym typeface="Darker Grotesque Light"/>
              </a:rPr>
              <a:t>emp2 = Employee(  name='Dave', dept='Accounting')</a:t>
            </a:r>
          </a:p>
          <a:p>
            <a:pPr lvl="0"/>
            <a:r>
              <a:rPr lang="en-US" sz="4000" dirty="0">
                <a:solidFill>
                  <a:srgbClr val="FFFFFF"/>
                </a:solidFill>
                <a:latin typeface="Darker Grotesque Light"/>
                <a:ea typeface="Darker Grotesque Light"/>
                <a:cs typeface="Darker Grotesque Light"/>
                <a:sym typeface="Darker Grotesque Light"/>
              </a:rPr>
              <a:t>emp3 = Employee(  name='Ava', dept='Sales’)</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with Session(engine) as session:</a:t>
            </a:r>
          </a:p>
          <a:p>
            <a:pPr lvl="0"/>
            <a:r>
              <a:rPr lang="en-US" sz="4000" dirty="0">
                <a:solidFill>
                  <a:srgbClr val="FFFFFF"/>
                </a:solidFill>
                <a:latin typeface="Darker Grotesque Light"/>
                <a:ea typeface="Darker Grotesque Light"/>
                <a:cs typeface="Darker Grotesque Light"/>
                <a:sym typeface="Darker Grotesque Light"/>
              </a:rPr>
              <a:t>    	session.add(emp1)</a:t>
            </a:r>
          </a:p>
          <a:p>
            <a:pPr lvl="0"/>
            <a:r>
              <a:rPr lang="en-US" sz="4000" dirty="0">
                <a:solidFill>
                  <a:srgbClr val="FFFFFF"/>
                </a:solidFill>
                <a:latin typeface="Darker Grotesque Light"/>
                <a:ea typeface="Darker Grotesque Light"/>
                <a:cs typeface="Darker Grotesque Light"/>
                <a:sym typeface="Darker Grotesque Light"/>
              </a:rPr>
              <a:t>    	session.add(emp2)</a:t>
            </a:r>
          </a:p>
          <a:p>
            <a:pPr lvl="0"/>
            <a:r>
              <a:rPr lang="en-US" sz="4000" dirty="0">
                <a:solidFill>
                  <a:srgbClr val="FFFFFF"/>
                </a:solidFill>
                <a:latin typeface="Darker Grotesque Light"/>
                <a:ea typeface="Darker Grotesque Light"/>
                <a:cs typeface="Darker Grotesque Light"/>
                <a:sym typeface="Darker Grotesque Light"/>
              </a:rPr>
              <a:t>    	session.add(emp3)</a:t>
            </a:r>
          </a:p>
          <a:p>
            <a:pPr lvl="0"/>
            <a:r>
              <a:rPr lang="en-US" sz="4000" dirty="0">
                <a:solidFill>
                  <a:srgbClr val="FFFFFF"/>
                </a:solidFill>
                <a:latin typeface="Darker Grotesque Light"/>
                <a:ea typeface="Darker Grotesque Light"/>
                <a:cs typeface="Darker Grotesque Light"/>
                <a:sym typeface="Darker Grotesque Light"/>
              </a:rPr>
              <a:t>    	session.commit()</a:t>
            </a:r>
            <a:endParaRPr lang="en-US" sz="2400" dirty="0">
              <a:latin typeface="Darker Grotesque Light"/>
              <a:ea typeface="Darker Grotesque Light"/>
              <a:cs typeface="Darker Grotesque Light"/>
              <a:sym typeface="Darker Grotesque Light"/>
            </a:endParaRPr>
          </a:p>
        </p:txBody>
      </p:sp>
      <p:pic>
        <p:nvPicPr>
          <p:cNvPr id="5" name="Picture 4">
            <a:extLst>
              <a:ext uri="{FF2B5EF4-FFF2-40B4-BE49-F238E27FC236}">
                <a16:creationId xmlns:a16="http://schemas.microsoft.com/office/drawing/2014/main" id="{0107B4DF-B992-624B-14C9-5DE9184C9F8D}"/>
              </a:ext>
            </a:extLst>
          </p:cNvPr>
          <p:cNvPicPr>
            <a:picLocks noChangeAspect="1"/>
          </p:cNvPicPr>
          <p:nvPr/>
        </p:nvPicPr>
        <p:blipFill>
          <a:blip r:embed="rId3"/>
          <a:stretch>
            <a:fillRect/>
          </a:stretch>
        </p:blipFill>
        <p:spPr>
          <a:xfrm>
            <a:off x="8080780" y="7729143"/>
            <a:ext cx="10090173" cy="1393778"/>
          </a:xfrm>
          <a:prstGeom prst="rect">
            <a:avLst/>
          </a:prstGeom>
        </p:spPr>
      </p:pic>
    </p:spTree>
    <p:extLst>
      <p:ext uri="{BB962C8B-B14F-4D97-AF65-F5344CB8AC3E}">
        <p14:creationId xmlns:p14="http://schemas.microsoft.com/office/powerpoint/2010/main" val="1906618007"/>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0CBE78A9-C82D-4B76-28A2-602AD9386E1B}"/>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92CA9E9C-5271-E273-18CB-4E02461F768F}"/>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7722399E-E396-F035-E21B-2D26F4178877}"/>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F269483A-9C94-A40A-2FF1-0869194B155E}"/>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Reading Data</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57D1F792-E4CC-869F-1D0F-BD8CC4A6182C}"/>
              </a:ext>
            </a:extLst>
          </p:cNvPr>
          <p:cNvSpPr txBox="1"/>
          <p:nvPr/>
        </p:nvSpPr>
        <p:spPr>
          <a:xfrm>
            <a:off x="2213884" y="2166937"/>
            <a:ext cx="15200068" cy="5601533"/>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from sqlmodel import Session, select</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with Session(engine) as session:</a:t>
            </a:r>
          </a:p>
          <a:p>
            <a:pPr lvl="0"/>
            <a:r>
              <a:rPr lang="en-US" sz="4000" dirty="0">
                <a:solidFill>
                  <a:srgbClr val="FFFFFF"/>
                </a:solidFill>
                <a:latin typeface="Darker Grotesque Light"/>
                <a:ea typeface="Darker Grotesque Light"/>
                <a:cs typeface="Darker Grotesque Light"/>
                <a:sym typeface="Darker Grotesque Light"/>
              </a:rPr>
              <a:t>        statement = select(Employee)</a:t>
            </a:r>
          </a:p>
          <a:p>
            <a:pPr lvl="0"/>
            <a:r>
              <a:rPr lang="en-US" sz="4000" dirty="0">
                <a:solidFill>
                  <a:srgbClr val="FFFFFF"/>
                </a:solidFill>
                <a:latin typeface="Darker Grotesque Light"/>
                <a:ea typeface="Darker Grotesque Light"/>
                <a:cs typeface="Darker Grotesque Light"/>
                <a:sym typeface="Darker Grotesque Light"/>
              </a:rPr>
              <a:t>        results = session.exec(statement)</a:t>
            </a:r>
          </a:p>
          <a:p>
            <a:pPr lvl="0"/>
            <a:r>
              <a:rPr lang="en-US" sz="4000" dirty="0">
                <a:solidFill>
                  <a:srgbClr val="FFFFFF"/>
                </a:solidFill>
                <a:latin typeface="Darker Grotesque Light"/>
                <a:ea typeface="Darker Grotesque Light"/>
                <a:cs typeface="Darker Grotesque Light"/>
                <a:sym typeface="Darker Grotesque Light"/>
              </a:rPr>
              <a:t>        for emp in results:</a:t>
            </a:r>
          </a:p>
          <a:p>
            <a:pPr lvl="0"/>
            <a:r>
              <a:rPr lang="en-US" sz="4000" dirty="0">
                <a:solidFill>
                  <a:srgbClr val="FFFFFF"/>
                </a:solidFill>
                <a:latin typeface="Darker Grotesque Light"/>
                <a:ea typeface="Darker Grotesque Light"/>
                <a:cs typeface="Darker Grotesque Light"/>
                <a:sym typeface="Darker Grotesque Light"/>
              </a:rPr>
              <a:t>            	print(emp)</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	print( results.all() )</a:t>
            </a:r>
            <a:endParaRPr lang="en-US" sz="4000" dirty="0">
              <a:latin typeface="Darker Grotesque Light"/>
              <a:ea typeface="Darker Grotesque Light"/>
              <a:cs typeface="Darker Grotesque Light"/>
              <a:sym typeface="Darker Grotesque Light"/>
            </a:endParaRPr>
          </a:p>
        </p:txBody>
      </p:sp>
      <p:pic>
        <p:nvPicPr>
          <p:cNvPr id="7" name="Picture 6">
            <a:extLst>
              <a:ext uri="{FF2B5EF4-FFF2-40B4-BE49-F238E27FC236}">
                <a16:creationId xmlns:a16="http://schemas.microsoft.com/office/drawing/2014/main" id="{16F7BD49-D39A-3812-772E-E89DD6D699C2}"/>
              </a:ext>
            </a:extLst>
          </p:cNvPr>
          <p:cNvPicPr>
            <a:picLocks noChangeAspect="1"/>
          </p:cNvPicPr>
          <p:nvPr/>
        </p:nvPicPr>
        <p:blipFill>
          <a:blip r:embed="rId3"/>
          <a:stretch>
            <a:fillRect/>
          </a:stretch>
        </p:blipFill>
        <p:spPr>
          <a:xfrm>
            <a:off x="12058848" y="3910670"/>
            <a:ext cx="5355104" cy="2465659"/>
          </a:xfrm>
          <a:prstGeom prst="rect">
            <a:avLst/>
          </a:prstGeom>
        </p:spPr>
      </p:pic>
    </p:spTree>
    <p:extLst>
      <p:ext uri="{BB962C8B-B14F-4D97-AF65-F5344CB8AC3E}">
        <p14:creationId xmlns:p14="http://schemas.microsoft.com/office/powerpoint/2010/main" val="131159120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4CD7662B-0A6B-8A0A-B9DB-C95AD39593D6}"/>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C916245E-AE3C-21AA-5986-06796BDC914D}"/>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BF8F0F65-2B5E-CD94-807C-2393C204E28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B5E8D86E-19AA-AC1E-4E9F-2940098977C6}"/>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Filtering Data (Where clause)</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BCEECB4B-04BA-7BBD-1011-E6F4D523B819}"/>
              </a:ext>
            </a:extLst>
          </p:cNvPr>
          <p:cNvSpPr txBox="1"/>
          <p:nvPr/>
        </p:nvSpPr>
        <p:spPr>
          <a:xfrm>
            <a:off x="2514606" y="2166937"/>
            <a:ext cx="14899346" cy="4308872"/>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from sqlmodel import Session, select</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with Session(engine) as session:</a:t>
            </a:r>
          </a:p>
          <a:p>
            <a:pPr lvl="0"/>
            <a:r>
              <a:rPr lang="en-US" sz="4000" dirty="0">
                <a:solidFill>
                  <a:srgbClr val="FFFFFF"/>
                </a:solidFill>
                <a:latin typeface="Darker Grotesque Light"/>
                <a:ea typeface="Darker Grotesque Light"/>
                <a:cs typeface="Darker Grotesque Light"/>
                <a:sym typeface="Darker Grotesque Light"/>
              </a:rPr>
              <a:t>        statement = select(Employee).where(Employee.name == “Ava")</a:t>
            </a:r>
          </a:p>
          <a:p>
            <a:pPr lvl="0"/>
            <a:r>
              <a:rPr lang="en-US" sz="4000" dirty="0">
                <a:solidFill>
                  <a:srgbClr val="FFFFFF"/>
                </a:solidFill>
                <a:latin typeface="Darker Grotesque Light"/>
                <a:ea typeface="Darker Grotesque Light"/>
                <a:cs typeface="Darker Grotesque Light"/>
                <a:sym typeface="Darker Grotesque Light"/>
              </a:rPr>
              <a:t>        results = session.exec(statement)</a:t>
            </a:r>
          </a:p>
          <a:p>
            <a:pPr lvl="0"/>
            <a:r>
              <a:rPr lang="en-US" sz="4000" dirty="0">
                <a:solidFill>
                  <a:srgbClr val="FFFFFF"/>
                </a:solidFill>
                <a:latin typeface="Darker Grotesque Light"/>
                <a:ea typeface="Darker Grotesque Light"/>
                <a:cs typeface="Darker Grotesque Light"/>
                <a:sym typeface="Darker Grotesque Light"/>
              </a:rPr>
              <a:t>        for emp in results:</a:t>
            </a:r>
          </a:p>
          <a:p>
            <a:pPr lvl="0"/>
            <a:r>
              <a:rPr lang="en-US" sz="4000" dirty="0">
                <a:solidFill>
                  <a:srgbClr val="FFFFFF"/>
                </a:solidFill>
                <a:latin typeface="Darker Grotesque Light"/>
                <a:ea typeface="Darker Grotesque Light"/>
                <a:cs typeface="Darker Grotesque Light"/>
                <a:sym typeface="Darker Grotesque Light"/>
              </a:rPr>
              <a:t>            print(emp)</a:t>
            </a:r>
            <a:endParaRPr lang="en-US" sz="2400" dirty="0">
              <a:latin typeface="Darker Grotesque Light"/>
              <a:ea typeface="Darker Grotesque Light"/>
              <a:cs typeface="Darker Grotesque Light"/>
              <a:sym typeface="Darker Grotesque Light"/>
            </a:endParaRPr>
          </a:p>
        </p:txBody>
      </p:sp>
      <p:pic>
        <p:nvPicPr>
          <p:cNvPr id="5" name="Picture 4">
            <a:extLst>
              <a:ext uri="{FF2B5EF4-FFF2-40B4-BE49-F238E27FC236}">
                <a16:creationId xmlns:a16="http://schemas.microsoft.com/office/drawing/2014/main" id="{71602EB1-3449-9089-F9A0-DFE96D043231}"/>
              </a:ext>
            </a:extLst>
          </p:cNvPr>
          <p:cNvPicPr>
            <a:picLocks noChangeAspect="1"/>
          </p:cNvPicPr>
          <p:nvPr/>
        </p:nvPicPr>
        <p:blipFill>
          <a:blip r:embed="rId3"/>
          <a:stretch>
            <a:fillRect/>
          </a:stretch>
        </p:blipFill>
        <p:spPr>
          <a:xfrm>
            <a:off x="12209416" y="6475809"/>
            <a:ext cx="5338995" cy="2333812"/>
          </a:xfrm>
          <a:prstGeom prst="rect">
            <a:avLst/>
          </a:prstGeom>
        </p:spPr>
      </p:pic>
    </p:spTree>
    <p:extLst>
      <p:ext uri="{BB962C8B-B14F-4D97-AF65-F5344CB8AC3E}">
        <p14:creationId xmlns:p14="http://schemas.microsoft.com/office/powerpoint/2010/main" val="3687172913"/>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F5879583-E39C-FAC4-840F-A361F121AF41}"/>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F9204D8A-4BA8-0289-96EA-49B17123C0A1}"/>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B32D8B25-C445-F7FA-00E8-4B6589F5E7C3}"/>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54EBB6B2-C3B6-00E2-1ED9-70E44F3A86FC}"/>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Read One Row</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D069DD64-4E6E-0FCB-24C2-AAE7012F1C04}"/>
              </a:ext>
            </a:extLst>
          </p:cNvPr>
          <p:cNvSpPr txBox="1"/>
          <p:nvPr/>
        </p:nvSpPr>
        <p:spPr>
          <a:xfrm>
            <a:off x="2514606" y="2166937"/>
            <a:ext cx="14899346" cy="9602629"/>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statement = select(Employee).where(Employee.Age == None)</a:t>
            </a:r>
          </a:p>
          <a:p>
            <a:pPr lvl="0"/>
            <a:r>
              <a:rPr lang="en-US" sz="4000" dirty="0">
                <a:solidFill>
                  <a:srgbClr val="FFFFFF"/>
                </a:solidFill>
                <a:latin typeface="Darker Grotesque Light"/>
                <a:ea typeface="Darker Grotesque Light"/>
                <a:cs typeface="Darker Grotesque Light"/>
                <a:sym typeface="Darker Grotesque Light"/>
              </a:rPr>
              <a:t>results = session.exec(statement).first()</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statement = select(Employee).where(Employee.id == 1)</a:t>
            </a:r>
          </a:p>
          <a:p>
            <a:pPr lvl="0"/>
            <a:r>
              <a:rPr lang="en-US" sz="4000" dirty="0">
                <a:solidFill>
                  <a:srgbClr val="FFFFFF"/>
                </a:solidFill>
                <a:latin typeface="Darker Grotesque Light"/>
                <a:ea typeface="Darker Grotesque Light"/>
                <a:cs typeface="Darker Grotesque Light"/>
                <a:sym typeface="Darker Grotesque Light"/>
              </a:rPr>
              <a:t>results = session.exec(statement)</a:t>
            </a:r>
          </a:p>
          <a:p>
            <a:pPr lvl="0"/>
            <a:r>
              <a:rPr lang="en-US" sz="4000" dirty="0">
                <a:solidFill>
                  <a:srgbClr val="FFFFFF"/>
                </a:solidFill>
                <a:latin typeface="Darker Grotesque Light"/>
                <a:ea typeface="Darker Grotesque Light"/>
                <a:cs typeface="Darker Grotesque Light"/>
                <a:sym typeface="Darker Grotesque Light"/>
              </a:rPr>
              <a:t>print(results.first())</a:t>
            </a:r>
          </a:p>
          <a:p>
            <a:pPr lvl="0"/>
            <a:endParaRPr lang="en-US" sz="4000" dirty="0">
              <a:solidFill>
                <a:srgbClr val="FFFFFF"/>
              </a:solidFill>
              <a:latin typeface="Darker Grotesque Light"/>
              <a:ea typeface="Darker Grotesque Light"/>
              <a:cs typeface="Darker Grotesque Light"/>
              <a:sym typeface="Darker Grotesque Light"/>
            </a:endParaRPr>
          </a:p>
          <a:p>
            <a:pPr lvl="0"/>
            <a:endParaRPr lang="en-US" sz="4000" dirty="0">
              <a:solidFill>
                <a:srgbClr val="FFFFFF"/>
              </a:solidFill>
              <a:latin typeface="Darker Grotesque Light"/>
              <a:ea typeface="Darker Grotesque Light"/>
              <a:cs typeface="Darker Grotesque Light"/>
              <a:sym typeface="Darker Grotesque Light"/>
            </a:endParaRPr>
          </a:p>
          <a:p>
            <a:pPr lvl="0"/>
            <a:r>
              <a:rPr lang="it-IT" sz="4000" dirty="0">
                <a:solidFill>
                  <a:srgbClr val="FFFFFF"/>
                </a:solidFill>
                <a:latin typeface="Darker Grotesque Light"/>
                <a:ea typeface="Darker Grotesque Light"/>
                <a:cs typeface="Darker Grotesque Light"/>
                <a:sym typeface="Darker Grotesque Light"/>
              </a:rPr>
              <a:t>emp = session.get(</a:t>
            </a:r>
            <a:r>
              <a:rPr lang="en-US" sz="4000" dirty="0">
                <a:solidFill>
                  <a:srgbClr val="FFFFFF"/>
                </a:solidFill>
                <a:latin typeface="Darker Grotesque Light"/>
                <a:ea typeface="Darker Grotesque Light"/>
                <a:cs typeface="Darker Grotesque Light"/>
                <a:sym typeface="Darker Grotesque Light"/>
              </a:rPr>
              <a:t>Employee</a:t>
            </a:r>
            <a:r>
              <a:rPr lang="it-IT" sz="4000" dirty="0">
                <a:solidFill>
                  <a:srgbClr val="FFFFFF"/>
                </a:solidFill>
                <a:latin typeface="Darker Grotesque Light"/>
                <a:ea typeface="Darker Grotesque Light"/>
                <a:cs typeface="Darker Grotesque Light"/>
                <a:sym typeface="Darker Grotesque Light"/>
              </a:rPr>
              <a:t>, 1)</a:t>
            </a:r>
          </a:p>
          <a:p>
            <a:pPr lvl="0"/>
            <a:r>
              <a:rPr lang="it-IT" sz="4000" dirty="0">
                <a:solidFill>
                  <a:srgbClr val="FFFFFF"/>
                </a:solidFill>
                <a:latin typeface="Darker Grotesque Light"/>
                <a:ea typeface="Darker Grotesque Light"/>
                <a:cs typeface="Darker Grotesque Light"/>
                <a:sym typeface="Darker Grotesque Light"/>
              </a:rPr>
              <a:t>print(emp)</a:t>
            </a:r>
          </a:p>
          <a:p>
            <a:pPr lvl="0"/>
            <a:endParaRPr lang="en-US" sz="4000" dirty="0">
              <a:solidFill>
                <a:srgbClr val="FFFFFF"/>
              </a:solidFill>
              <a:latin typeface="Darker Grotesque Light"/>
              <a:ea typeface="Darker Grotesque Light"/>
              <a:cs typeface="Darker Grotesque Light"/>
              <a:sym typeface="Darker Grotesque Light"/>
            </a:endParaRPr>
          </a:p>
          <a:p>
            <a:pPr lvl="0"/>
            <a:endParaRPr lang="en-US" sz="4000" dirty="0">
              <a:solidFill>
                <a:srgbClr val="FFFFFF"/>
              </a:solidFill>
              <a:latin typeface="Darker Grotesque Light"/>
              <a:ea typeface="Darker Grotesque Light"/>
              <a:cs typeface="Darker Grotesque Light"/>
              <a:sym typeface="Darker Grotesque Light"/>
            </a:endParaRPr>
          </a:p>
          <a:p>
            <a:pPr lvl="0"/>
            <a:endParaRPr lang="en-US" sz="4000" dirty="0">
              <a:solidFill>
                <a:srgbClr val="FFFFFF"/>
              </a:solidFill>
              <a:latin typeface="Darker Grotesque Light"/>
              <a:ea typeface="Darker Grotesque Light"/>
              <a:cs typeface="Darker Grotesque Light"/>
              <a:sym typeface="Darker Grotesque Light"/>
            </a:endParaRPr>
          </a:p>
          <a:p>
            <a:pPr lvl="0"/>
            <a:endParaRPr lang="en-US" sz="4000" dirty="0">
              <a:solidFill>
                <a:srgbClr val="FFFFFF"/>
              </a:solidFill>
              <a:latin typeface="Darker Grotesque Light"/>
              <a:ea typeface="Darker Grotesque Light"/>
              <a:cs typeface="Darker Grotesque Light"/>
              <a:sym typeface="Darker Grotesque Light"/>
            </a:endParaRPr>
          </a:p>
          <a:p>
            <a:pPr lvl="0"/>
            <a:endParaRPr lang="en-US" sz="4000" dirty="0">
              <a:solidFill>
                <a:srgbClr val="FFFFFF"/>
              </a:solidFill>
              <a:latin typeface="Darker Grotesque Light"/>
              <a:ea typeface="Darker Grotesque Light"/>
              <a:cs typeface="Darker Grotesque Light"/>
              <a:sym typeface="Darker Grotesque Light"/>
            </a:endParaRPr>
          </a:p>
          <a:p>
            <a:pPr lvl="0"/>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428303903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7DE3A034-35BD-D1AE-AFD4-F9446B7BC871}"/>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D14B8D6A-515A-CED8-A879-6D6E3BD68321}"/>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A1D13DDE-2C77-90E3-DF4A-FFA4A6BCB25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43A1DEC4-BA52-3A70-E467-4F7A1C795CF7}"/>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Update Data</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D5B555B8-54FA-44F2-F929-878CFC6C1BCA}"/>
              </a:ext>
            </a:extLst>
          </p:cNvPr>
          <p:cNvSpPr txBox="1"/>
          <p:nvPr/>
        </p:nvSpPr>
        <p:spPr>
          <a:xfrm>
            <a:off x="2514606" y="2166937"/>
            <a:ext cx="14899346" cy="4308872"/>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statement = select(Employee).where(Employee.id == 1)</a:t>
            </a:r>
          </a:p>
          <a:p>
            <a:pPr lvl="0"/>
            <a:r>
              <a:rPr lang="en-US" sz="4000" dirty="0">
                <a:solidFill>
                  <a:srgbClr val="FFFFFF"/>
                </a:solidFill>
                <a:latin typeface="Darker Grotesque Light"/>
                <a:ea typeface="Darker Grotesque Light"/>
                <a:cs typeface="Darker Grotesque Light"/>
                <a:sym typeface="Darker Grotesque Light"/>
              </a:rPr>
              <a:t>emp = session.exec(statement).first()</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emp.age = 16</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session.add(emp)</a:t>
            </a:r>
          </a:p>
          <a:p>
            <a:pPr lvl="0"/>
            <a:r>
              <a:rPr lang="en-US" sz="4000" dirty="0">
                <a:solidFill>
                  <a:srgbClr val="FFFFFF"/>
                </a:solidFill>
                <a:latin typeface="Darker Grotesque Light"/>
                <a:ea typeface="Darker Grotesque Light"/>
                <a:cs typeface="Darker Grotesque Light"/>
                <a:sym typeface="Darker Grotesque Light"/>
              </a:rPr>
              <a:t>session.commit()</a:t>
            </a:r>
          </a:p>
        </p:txBody>
      </p:sp>
      <p:pic>
        <p:nvPicPr>
          <p:cNvPr id="5" name="Picture 4">
            <a:extLst>
              <a:ext uri="{FF2B5EF4-FFF2-40B4-BE49-F238E27FC236}">
                <a16:creationId xmlns:a16="http://schemas.microsoft.com/office/drawing/2014/main" id="{A50C4F13-D782-CDA7-921A-8C72ABC2AB1C}"/>
              </a:ext>
            </a:extLst>
          </p:cNvPr>
          <p:cNvPicPr>
            <a:picLocks noChangeAspect="1"/>
          </p:cNvPicPr>
          <p:nvPr/>
        </p:nvPicPr>
        <p:blipFill>
          <a:blip r:embed="rId3"/>
          <a:stretch>
            <a:fillRect/>
          </a:stretch>
        </p:blipFill>
        <p:spPr>
          <a:xfrm>
            <a:off x="11262933" y="5623266"/>
            <a:ext cx="6514076" cy="2948939"/>
          </a:xfrm>
          <a:prstGeom prst="rect">
            <a:avLst/>
          </a:prstGeom>
        </p:spPr>
      </p:pic>
    </p:spTree>
    <p:extLst>
      <p:ext uri="{BB962C8B-B14F-4D97-AF65-F5344CB8AC3E}">
        <p14:creationId xmlns:p14="http://schemas.microsoft.com/office/powerpoint/2010/main" val="292714830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F58E5464-5CEF-5DBF-90ED-97649C5486FF}"/>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A100CBB9-CEC3-D8A1-DC2D-6F7A4F559FCA}"/>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FC5F8B32-9943-1371-CCF7-D358D9708FB4}"/>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5AEE811D-769A-9ED4-2D1D-1A22517BA990}"/>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Delete Data</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FDC7243F-1B34-F933-E0B9-F209E880A0EE}"/>
              </a:ext>
            </a:extLst>
          </p:cNvPr>
          <p:cNvSpPr txBox="1"/>
          <p:nvPr/>
        </p:nvSpPr>
        <p:spPr>
          <a:xfrm>
            <a:off x="2514606" y="2166937"/>
            <a:ext cx="14899346" cy="3077766"/>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statement = select(Employee).where(Employee.id == 1)</a:t>
            </a:r>
          </a:p>
          <a:p>
            <a:pPr lvl="0"/>
            <a:r>
              <a:rPr lang="en-US" sz="4000" dirty="0">
                <a:solidFill>
                  <a:srgbClr val="FFFFFF"/>
                </a:solidFill>
                <a:latin typeface="Darker Grotesque Light"/>
                <a:ea typeface="Darker Grotesque Light"/>
                <a:cs typeface="Darker Grotesque Light"/>
                <a:sym typeface="Darker Grotesque Light"/>
              </a:rPr>
              <a:t>emp = session.exec(statement).first()</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session.delete(emp)</a:t>
            </a:r>
          </a:p>
          <a:p>
            <a:pPr lvl="0"/>
            <a:r>
              <a:rPr lang="en-US" sz="4000" dirty="0">
                <a:solidFill>
                  <a:srgbClr val="FFFFFF"/>
                </a:solidFill>
                <a:latin typeface="Darker Grotesque Light"/>
                <a:ea typeface="Darker Grotesque Light"/>
                <a:cs typeface="Darker Grotesque Light"/>
                <a:sym typeface="Darker Grotesque Light"/>
              </a:rPr>
              <a:t>session.commit()</a:t>
            </a:r>
          </a:p>
        </p:txBody>
      </p:sp>
      <p:pic>
        <p:nvPicPr>
          <p:cNvPr id="5" name="Picture 4">
            <a:extLst>
              <a:ext uri="{FF2B5EF4-FFF2-40B4-BE49-F238E27FC236}">
                <a16:creationId xmlns:a16="http://schemas.microsoft.com/office/drawing/2014/main" id="{B072285D-E79C-E2D8-5390-FEE79C58C7AB}"/>
              </a:ext>
            </a:extLst>
          </p:cNvPr>
          <p:cNvPicPr>
            <a:picLocks noChangeAspect="1"/>
          </p:cNvPicPr>
          <p:nvPr/>
        </p:nvPicPr>
        <p:blipFill>
          <a:blip r:embed="rId3"/>
          <a:stretch>
            <a:fillRect/>
          </a:stretch>
        </p:blipFill>
        <p:spPr>
          <a:xfrm>
            <a:off x="11504806" y="7086605"/>
            <a:ext cx="6232810" cy="1745186"/>
          </a:xfrm>
          <a:prstGeom prst="rect">
            <a:avLst/>
          </a:prstGeom>
        </p:spPr>
      </p:pic>
    </p:spTree>
    <p:extLst>
      <p:ext uri="{BB962C8B-B14F-4D97-AF65-F5344CB8AC3E}">
        <p14:creationId xmlns:p14="http://schemas.microsoft.com/office/powerpoint/2010/main" val="187155148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81BBAB3C-EEBD-F988-C33E-82496833C247}"/>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87EE5E5E-AD5E-E751-6549-19A2AE7B275A}"/>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B4D76C18-4358-42D2-E333-8BFA3BCD7B76}"/>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BEB5BB19-C28A-A758-480B-48268FCCAAD6}"/>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Foreign Keys</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F7E5DAF2-0C4C-281C-9A8D-C61B113D081B}"/>
              </a:ext>
            </a:extLst>
          </p:cNvPr>
          <p:cNvSpPr txBox="1"/>
          <p:nvPr/>
        </p:nvSpPr>
        <p:spPr>
          <a:xfrm>
            <a:off x="2019300" y="2166937"/>
            <a:ext cx="15394652" cy="5539978"/>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class Employee(SQLModel, table=True):</a:t>
            </a:r>
          </a:p>
          <a:p>
            <a:pPr lvl="0"/>
            <a:r>
              <a:rPr lang="en-US" sz="4000" dirty="0">
                <a:solidFill>
                  <a:srgbClr val="FFFFFF"/>
                </a:solidFill>
                <a:latin typeface="Darker Grotesque Light"/>
                <a:ea typeface="Darker Grotesque Light"/>
                <a:cs typeface="Darker Grotesque Light"/>
                <a:sym typeface="Darker Grotesque Light"/>
              </a:rPr>
              <a:t>    	empid: int | None = Field(default=None, primary_key=True)</a:t>
            </a:r>
          </a:p>
          <a:p>
            <a:pPr lvl="0"/>
            <a:r>
              <a:rPr lang="en-US" sz="4000" dirty="0">
                <a:solidFill>
                  <a:srgbClr val="FFFFFF"/>
                </a:solidFill>
                <a:latin typeface="Darker Grotesque Light"/>
                <a:ea typeface="Darker Grotesque Light"/>
                <a:cs typeface="Darker Grotesque Light"/>
                <a:sym typeface="Darker Grotesque Light"/>
              </a:rPr>
              <a:t>    	name: str</a:t>
            </a:r>
          </a:p>
          <a:p>
            <a:pPr lvl="0"/>
            <a:r>
              <a:rPr lang="en-US" sz="4000" dirty="0">
                <a:solidFill>
                  <a:srgbClr val="FFFFFF"/>
                </a:solidFill>
                <a:latin typeface="Darker Grotesque Light"/>
                <a:ea typeface="Darker Grotesque Light"/>
                <a:cs typeface="Darker Grotesque Light"/>
                <a:sym typeface="Darker Grotesque Light"/>
              </a:rPr>
              <a:t>    	dept: int | None = Field(default=None, </a:t>
            </a:r>
            <a:r>
              <a:rPr lang="en-US" sz="4000" dirty="0" err="1">
                <a:solidFill>
                  <a:srgbClr val="FFFFFF"/>
                </a:solidFill>
                <a:latin typeface="Darker Grotesque Light"/>
                <a:ea typeface="Darker Grotesque Light"/>
                <a:cs typeface="Darker Grotesque Light"/>
                <a:sym typeface="Darker Grotesque Light"/>
              </a:rPr>
              <a:t>foreign_key</a:t>
            </a:r>
            <a:r>
              <a:rPr lang="en-US" sz="4000" dirty="0">
                <a:solidFill>
                  <a:srgbClr val="FFFFFF"/>
                </a:solidFill>
                <a:latin typeface="Darker Grotesque Light"/>
                <a:ea typeface="Darker Grotesque Light"/>
                <a:cs typeface="Darker Grotesque Light"/>
                <a:sym typeface="Darker Grotesque Light"/>
              </a:rPr>
              <a:t>="department.id")</a:t>
            </a:r>
          </a:p>
          <a:p>
            <a:pPr lvl="0"/>
            <a:r>
              <a:rPr lang="en-US" sz="4000" dirty="0">
                <a:solidFill>
                  <a:srgbClr val="FFFFFF"/>
                </a:solidFill>
                <a:latin typeface="Darker Grotesque Light"/>
                <a:ea typeface="Darker Grotesque Light"/>
                <a:cs typeface="Darker Grotesque Light"/>
                <a:sym typeface="Darker Grotesque Light"/>
              </a:rPr>
              <a:t>    	age: int | None = None</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class Department(SQLModel, table=True):</a:t>
            </a:r>
          </a:p>
          <a:p>
            <a:pPr lvl="0"/>
            <a:r>
              <a:rPr lang="en-US" sz="4000" dirty="0">
                <a:solidFill>
                  <a:srgbClr val="FFFFFF"/>
                </a:solidFill>
                <a:latin typeface="Darker Grotesque Light"/>
                <a:ea typeface="Darker Grotesque Light"/>
                <a:cs typeface="Darker Grotesque Light"/>
                <a:sym typeface="Darker Grotesque Light"/>
              </a:rPr>
              <a:t>    	id: int | None = Field(default=None, primary_key=True)</a:t>
            </a:r>
          </a:p>
          <a:p>
            <a:pPr lvl="0"/>
            <a:r>
              <a:rPr lang="en-US" sz="4000" dirty="0">
                <a:solidFill>
                  <a:srgbClr val="FFFFFF"/>
                </a:solidFill>
                <a:latin typeface="Darker Grotesque Light"/>
                <a:ea typeface="Darker Grotesque Light"/>
                <a:cs typeface="Darker Grotesque Light"/>
                <a:sym typeface="Darker Grotesque Light"/>
              </a:rPr>
              <a:t>    	name: str</a:t>
            </a:r>
          </a:p>
        </p:txBody>
      </p:sp>
      <p:pic>
        <p:nvPicPr>
          <p:cNvPr id="6" name="Picture 5">
            <a:extLst>
              <a:ext uri="{FF2B5EF4-FFF2-40B4-BE49-F238E27FC236}">
                <a16:creationId xmlns:a16="http://schemas.microsoft.com/office/drawing/2014/main" id="{C4030C7C-9028-C3A5-C2D6-741179796347}"/>
              </a:ext>
            </a:extLst>
          </p:cNvPr>
          <p:cNvPicPr>
            <a:picLocks noChangeAspect="1"/>
          </p:cNvPicPr>
          <p:nvPr/>
        </p:nvPicPr>
        <p:blipFill>
          <a:blip r:embed="rId3"/>
          <a:stretch>
            <a:fillRect/>
          </a:stretch>
        </p:blipFill>
        <p:spPr>
          <a:xfrm>
            <a:off x="13581531" y="7244210"/>
            <a:ext cx="4552388" cy="2921470"/>
          </a:xfrm>
          <a:prstGeom prst="rect">
            <a:avLst/>
          </a:prstGeom>
        </p:spPr>
      </p:pic>
    </p:spTree>
    <p:extLst>
      <p:ext uri="{BB962C8B-B14F-4D97-AF65-F5344CB8AC3E}">
        <p14:creationId xmlns:p14="http://schemas.microsoft.com/office/powerpoint/2010/main" val="162201234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6524EC56-EFAF-60A5-DE1D-B8DD2DCE1BB0}"/>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5BD46867-49B8-9DC5-1767-C60AFA8D197C}"/>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C61A4869-4995-87C4-91DE-85D7CD76D52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CB395789-B806-C293-7E79-29F1916795AB}"/>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Joins</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DD4A810A-B872-7C7F-6744-2A3ED93251A7}"/>
              </a:ext>
            </a:extLst>
          </p:cNvPr>
          <p:cNvSpPr txBox="1"/>
          <p:nvPr/>
        </p:nvSpPr>
        <p:spPr>
          <a:xfrm>
            <a:off x="2019300" y="2166937"/>
            <a:ext cx="15394652" cy="3077766"/>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with Session(engine) as session:</a:t>
            </a:r>
          </a:p>
          <a:p>
            <a:pPr lvl="0"/>
            <a:r>
              <a:rPr lang="en-US" sz="4000" dirty="0">
                <a:solidFill>
                  <a:srgbClr val="FFFFFF"/>
                </a:solidFill>
                <a:latin typeface="Darker Grotesque Light"/>
                <a:ea typeface="Darker Grotesque Light"/>
                <a:cs typeface="Darker Grotesque Light"/>
                <a:sym typeface="Darker Grotesque Light"/>
              </a:rPr>
              <a:t>        statement = select(Employee, Department).join(Department)</a:t>
            </a:r>
          </a:p>
          <a:p>
            <a:pPr lvl="0"/>
            <a:r>
              <a:rPr lang="en-US" sz="4000" dirty="0">
                <a:solidFill>
                  <a:srgbClr val="FFFFFF"/>
                </a:solidFill>
                <a:latin typeface="Darker Grotesque Light"/>
                <a:ea typeface="Darker Grotesque Light"/>
                <a:cs typeface="Darker Grotesque Light"/>
                <a:sym typeface="Darker Grotesque Light"/>
              </a:rPr>
              <a:t>        results = </a:t>
            </a:r>
            <a:r>
              <a:rPr lang="en-US" sz="4000" dirty="0" err="1">
                <a:solidFill>
                  <a:srgbClr val="FFFFFF"/>
                </a:solidFill>
                <a:latin typeface="Darker Grotesque Light"/>
                <a:ea typeface="Darker Grotesque Light"/>
                <a:cs typeface="Darker Grotesque Light"/>
                <a:sym typeface="Darker Grotesque Light"/>
              </a:rPr>
              <a:t>session.exec</a:t>
            </a:r>
            <a:r>
              <a:rPr lang="en-US" sz="4000" dirty="0">
                <a:solidFill>
                  <a:srgbClr val="FFFFFF"/>
                </a:solidFill>
                <a:latin typeface="Darker Grotesque Light"/>
                <a:ea typeface="Darker Grotesque Light"/>
                <a:cs typeface="Darker Grotesque Light"/>
                <a:sym typeface="Darker Grotesque Light"/>
              </a:rPr>
              <a:t>(statement)</a:t>
            </a:r>
          </a:p>
          <a:p>
            <a:pPr lvl="0"/>
            <a:r>
              <a:rPr lang="en-US" sz="4000" dirty="0">
                <a:solidFill>
                  <a:srgbClr val="FFFFFF"/>
                </a:solidFill>
                <a:latin typeface="Darker Grotesque Light"/>
                <a:ea typeface="Darker Grotesque Light"/>
                <a:cs typeface="Darker Grotesque Light"/>
                <a:sym typeface="Darker Grotesque Light"/>
              </a:rPr>
              <a:t>        for x in results:</a:t>
            </a:r>
          </a:p>
          <a:p>
            <a:pPr lvl="0"/>
            <a:r>
              <a:rPr lang="en-US" sz="4000" dirty="0">
                <a:solidFill>
                  <a:srgbClr val="FFFFFF"/>
                </a:solidFill>
                <a:latin typeface="Darker Grotesque Light"/>
                <a:ea typeface="Darker Grotesque Light"/>
                <a:cs typeface="Darker Grotesque Light"/>
                <a:sym typeface="Darker Grotesque Light"/>
              </a:rPr>
              <a:t>            	print(x)</a:t>
            </a:r>
          </a:p>
        </p:txBody>
      </p:sp>
      <p:pic>
        <p:nvPicPr>
          <p:cNvPr id="5" name="Picture 4">
            <a:extLst>
              <a:ext uri="{FF2B5EF4-FFF2-40B4-BE49-F238E27FC236}">
                <a16:creationId xmlns:a16="http://schemas.microsoft.com/office/drawing/2014/main" id="{A390E93D-9462-28F4-DC23-E7F7A3AA4D0D}"/>
              </a:ext>
            </a:extLst>
          </p:cNvPr>
          <p:cNvPicPr>
            <a:picLocks noChangeAspect="1"/>
          </p:cNvPicPr>
          <p:nvPr/>
        </p:nvPicPr>
        <p:blipFill>
          <a:blip r:embed="rId3"/>
          <a:stretch>
            <a:fillRect/>
          </a:stretch>
        </p:blipFill>
        <p:spPr>
          <a:xfrm>
            <a:off x="8179477" y="5395009"/>
            <a:ext cx="9652040" cy="2350497"/>
          </a:xfrm>
          <a:prstGeom prst="rect">
            <a:avLst/>
          </a:prstGeom>
        </p:spPr>
      </p:pic>
    </p:spTree>
    <p:extLst>
      <p:ext uri="{BB962C8B-B14F-4D97-AF65-F5344CB8AC3E}">
        <p14:creationId xmlns:p14="http://schemas.microsoft.com/office/powerpoint/2010/main" val="311610137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9EA692C2-1010-BF90-B4AE-02F94C96CCF8}"/>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25819415-29A9-C21A-AAFD-BE6FBDF0A074}"/>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B191831A-409E-48CD-C91B-7275E28F4D2D}"/>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15639773-71F9-10BB-392F-E26D20C44B60}"/>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Joins + Filter</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FC3303F2-5D00-DBCA-A7DE-E7FAC6EA4B95}"/>
              </a:ext>
            </a:extLst>
          </p:cNvPr>
          <p:cNvSpPr txBox="1"/>
          <p:nvPr/>
        </p:nvSpPr>
        <p:spPr>
          <a:xfrm>
            <a:off x="1426306" y="2176399"/>
            <a:ext cx="18866222" cy="2462213"/>
          </a:xfrm>
          <a:prstGeom prst="rect">
            <a:avLst/>
          </a:prstGeom>
          <a:noFill/>
          <a:ln>
            <a:noFill/>
          </a:ln>
        </p:spPr>
        <p:txBody>
          <a:bodyPr spcFirstLastPara="1" wrap="square" lIns="0" tIns="0" rIns="0" bIns="0" anchor="t" anchorCtr="0">
            <a:spAutoFit/>
          </a:bodyPr>
          <a:lstStyle/>
          <a:p>
            <a:pPr lvl="0"/>
            <a:r>
              <a:rPr lang="en-US" sz="3200" dirty="0">
                <a:solidFill>
                  <a:srgbClr val="FFFFFF"/>
                </a:solidFill>
                <a:latin typeface="Darker Grotesque Light"/>
                <a:ea typeface="Darker Grotesque Light"/>
                <a:cs typeface="Darker Grotesque Light"/>
                <a:sym typeface="Darker Grotesque Light"/>
              </a:rPr>
              <a:t>with Session(engine) as session:</a:t>
            </a:r>
          </a:p>
          <a:p>
            <a:pPr lvl="0"/>
            <a:r>
              <a:rPr lang="en-US" sz="3200" dirty="0">
                <a:solidFill>
                  <a:srgbClr val="FFFFFF"/>
                </a:solidFill>
                <a:latin typeface="Darker Grotesque Light"/>
                <a:ea typeface="Darker Grotesque Light"/>
                <a:cs typeface="Darker Grotesque Light"/>
                <a:sym typeface="Darker Grotesque Light"/>
              </a:rPr>
              <a:t>    statement = select(Employee, Department).join(Department).where(Department.name == "IT")</a:t>
            </a:r>
          </a:p>
          <a:p>
            <a:pPr lvl="0"/>
            <a:r>
              <a:rPr lang="en-US" sz="3200" dirty="0">
                <a:solidFill>
                  <a:srgbClr val="FFFFFF"/>
                </a:solidFill>
                <a:latin typeface="Darker Grotesque Light"/>
                <a:ea typeface="Darker Grotesque Light"/>
                <a:cs typeface="Darker Grotesque Light"/>
                <a:sym typeface="Darker Grotesque Light"/>
              </a:rPr>
              <a:t>    results = </a:t>
            </a:r>
            <a:r>
              <a:rPr lang="en-US" sz="3200" dirty="0" err="1">
                <a:solidFill>
                  <a:srgbClr val="FFFFFF"/>
                </a:solidFill>
                <a:latin typeface="Darker Grotesque Light"/>
                <a:ea typeface="Darker Grotesque Light"/>
                <a:cs typeface="Darker Grotesque Light"/>
                <a:sym typeface="Darker Grotesque Light"/>
              </a:rPr>
              <a:t>session.exec</a:t>
            </a:r>
            <a:r>
              <a:rPr lang="en-US" sz="3200" dirty="0">
                <a:solidFill>
                  <a:srgbClr val="FFFFFF"/>
                </a:solidFill>
                <a:latin typeface="Darker Grotesque Light"/>
                <a:ea typeface="Darker Grotesque Light"/>
                <a:cs typeface="Darker Grotesque Light"/>
                <a:sym typeface="Darker Grotesque Light"/>
              </a:rPr>
              <a:t>(statement)</a:t>
            </a:r>
          </a:p>
          <a:p>
            <a:pPr lvl="0"/>
            <a:r>
              <a:rPr lang="en-US" sz="3200" dirty="0">
                <a:solidFill>
                  <a:srgbClr val="FFFFFF"/>
                </a:solidFill>
                <a:latin typeface="Darker Grotesque Light"/>
                <a:ea typeface="Darker Grotesque Light"/>
                <a:cs typeface="Darker Grotesque Light"/>
                <a:sym typeface="Darker Grotesque Light"/>
              </a:rPr>
              <a:t>    for x in results:</a:t>
            </a:r>
          </a:p>
          <a:p>
            <a:pPr lvl="0"/>
            <a:r>
              <a:rPr lang="en-US" sz="3200" dirty="0">
                <a:solidFill>
                  <a:srgbClr val="FFFFFF"/>
                </a:solidFill>
                <a:latin typeface="Darker Grotesque Light"/>
                <a:ea typeface="Darker Grotesque Light"/>
                <a:cs typeface="Darker Grotesque Light"/>
                <a:sym typeface="Darker Grotesque Light"/>
              </a:rPr>
              <a:t>	print(x)</a:t>
            </a:r>
          </a:p>
        </p:txBody>
      </p:sp>
      <p:pic>
        <p:nvPicPr>
          <p:cNvPr id="6" name="Picture 5">
            <a:extLst>
              <a:ext uri="{FF2B5EF4-FFF2-40B4-BE49-F238E27FC236}">
                <a16:creationId xmlns:a16="http://schemas.microsoft.com/office/drawing/2014/main" id="{897AEDAD-4ADE-4734-F91A-32C09A4A6377}"/>
              </a:ext>
            </a:extLst>
          </p:cNvPr>
          <p:cNvPicPr>
            <a:picLocks noChangeAspect="1"/>
          </p:cNvPicPr>
          <p:nvPr/>
        </p:nvPicPr>
        <p:blipFill>
          <a:blip r:embed="rId3"/>
          <a:stretch>
            <a:fillRect/>
          </a:stretch>
        </p:blipFill>
        <p:spPr>
          <a:xfrm>
            <a:off x="9027484" y="6534639"/>
            <a:ext cx="8896467" cy="2462208"/>
          </a:xfrm>
          <a:prstGeom prst="rect">
            <a:avLst/>
          </a:prstGeom>
        </p:spPr>
      </p:pic>
    </p:spTree>
    <p:extLst>
      <p:ext uri="{BB962C8B-B14F-4D97-AF65-F5344CB8AC3E}">
        <p14:creationId xmlns:p14="http://schemas.microsoft.com/office/powerpoint/2010/main" val="82311453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669FC120-6236-E45F-7849-33A3AFC44C8F}"/>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31C3018B-15C5-7459-4A01-6E344E16DBA6}"/>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5C9EB058-A942-72E9-29DB-5F249CD0A77D}"/>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EEEB548A-DC6C-25F2-54FF-B0D6420F0C23}"/>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dirty="0">
                <a:solidFill>
                  <a:srgbClr val="FFFFFF"/>
                </a:solidFill>
                <a:latin typeface="Darker Grotesque Medium"/>
                <a:ea typeface="Darker Grotesque Medium"/>
                <a:cs typeface="Darker Grotesque Medium"/>
                <a:sym typeface="Darker Grotesque Medium"/>
              </a:rPr>
              <a:t>Simple Code Structure</a:t>
            </a:r>
            <a:endParaRPr lang="en-US" sz="4200" b="1" i="0" u="none" strike="noStrike" cap="none" dirty="0">
              <a:solidFill>
                <a:srgbClr val="FFFFFF"/>
              </a:solidFill>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12BB4026-3581-4894-BFD9-1EAADB76EF55}"/>
              </a:ext>
            </a:extLst>
          </p:cNvPr>
          <p:cNvSpPr txBox="1"/>
          <p:nvPr/>
        </p:nvSpPr>
        <p:spPr>
          <a:xfrm>
            <a:off x="2514606" y="2166937"/>
            <a:ext cx="4303045" cy="3077766"/>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 project</a:t>
            </a:r>
          </a:p>
          <a:p>
            <a:pPr lvl="0"/>
            <a:r>
              <a:rPr lang="en-US" sz="4000" dirty="0">
                <a:solidFill>
                  <a:srgbClr val="FFFFFF"/>
                </a:solidFill>
                <a:latin typeface="Darker Grotesque Light"/>
                <a:ea typeface="Darker Grotesque Light"/>
                <a:cs typeface="Darker Grotesque Light"/>
                <a:sym typeface="Darker Grotesque Light"/>
              </a:rPr>
              <a:t>   ── __init__.py</a:t>
            </a:r>
          </a:p>
          <a:p>
            <a:pPr lvl="0"/>
            <a:r>
              <a:rPr lang="en-US" sz="4000" dirty="0">
                <a:solidFill>
                  <a:srgbClr val="FFFFFF"/>
                </a:solidFill>
                <a:latin typeface="Darker Grotesque Light"/>
                <a:ea typeface="Darker Grotesque Light"/>
                <a:cs typeface="Darker Grotesque Light"/>
                <a:sym typeface="Darker Grotesque Light"/>
              </a:rPr>
              <a:t>   ── app.py</a:t>
            </a:r>
          </a:p>
          <a:p>
            <a:pPr lvl="0"/>
            <a:r>
              <a:rPr lang="en-US" sz="4000" dirty="0">
                <a:solidFill>
                  <a:srgbClr val="FFFFFF"/>
                </a:solidFill>
                <a:latin typeface="Darker Grotesque Light"/>
                <a:ea typeface="Darker Grotesque Light"/>
                <a:cs typeface="Darker Grotesque Light"/>
                <a:sym typeface="Darker Grotesque Light"/>
              </a:rPr>
              <a:t>   ── database.py</a:t>
            </a:r>
          </a:p>
          <a:p>
            <a:pPr lvl="0"/>
            <a:r>
              <a:rPr lang="en-US" sz="4000" dirty="0">
                <a:solidFill>
                  <a:srgbClr val="FFFFFF"/>
                </a:solidFill>
                <a:latin typeface="Darker Grotesque Light"/>
                <a:ea typeface="Darker Grotesque Light"/>
                <a:cs typeface="Darker Grotesque Light"/>
                <a:sym typeface="Darker Grotesque Light"/>
              </a:rPr>
              <a:t>   ── models.py</a:t>
            </a:r>
          </a:p>
        </p:txBody>
      </p:sp>
    </p:spTree>
    <p:extLst>
      <p:ext uri="{BB962C8B-B14F-4D97-AF65-F5344CB8AC3E}">
        <p14:creationId xmlns:p14="http://schemas.microsoft.com/office/powerpoint/2010/main" val="1876396248"/>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FA06F482-AB6B-6DFD-090B-62B5D7FEA2F5}"/>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68145B85-319C-4F05-FA18-C56B26F2BB65}"/>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1246659D-E976-6C0C-4071-040318C83E3E}"/>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12344DEF-17FC-6E37-93A8-D79AB479816F}"/>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i="0" u="none" strike="noStrike" cap="none" dirty="0">
                <a:solidFill>
                  <a:srgbClr val="FFFFFF"/>
                </a:solidFill>
                <a:latin typeface="Darker Grotesque Medium"/>
                <a:ea typeface="Darker Grotesque Medium"/>
                <a:cs typeface="Darker Grotesque Medium"/>
                <a:sym typeface="Darker Grotesque Medium"/>
              </a:rPr>
              <a:t>Database.py</a:t>
            </a:r>
          </a:p>
        </p:txBody>
      </p:sp>
      <p:sp>
        <p:nvSpPr>
          <p:cNvPr id="2" name="Google Shape;102;p11">
            <a:extLst>
              <a:ext uri="{FF2B5EF4-FFF2-40B4-BE49-F238E27FC236}">
                <a16:creationId xmlns:a16="http://schemas.microsoft.com/office/drawing/2014/main" id="{86928E48-49BF-D7D0-AA82-9AAEA1D726AB}"/>
              </a:ext>
            </a:extLst>
          </p:cNvPr>
          <p:cNvSpPr txBox="1"/>
          <p:nvPr/>
        </p:nvSpPr>
        <p:spPr>
          <a:xfrm>
            <a:off x="2514606" y="2166937"/>
            <a:ext cx="14763745" cy="6155531"/>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from sqlmodel import SQLModel, create_engine</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err="1">
                <a:solidFill>
                  <a:srgbClr val="FFFFFF"/>
                </a:solidFill>
                <a:latin typeface="Darker Grotesque Light"/>
                <a:ea typeface="Darker Grotesque Light"/>
                <a:cs typeface="Darker Grotesque Light"/>
                <a:sym typeface="Darker Grotesque Light"/>
              </a:rPr>
              <a:t>sqlite_file_name</a:t>
            </a:r>
            <a:r>
              <a:rPr lang="en-US" sz="4000" dirty="0">
                <a:solidFill>
                  <a:srgbClr val="FFFFFF"/>
                </a:solidFill>
                <a:latin typeface="Darker Grotesque Light"/>
                <a:ea typeface="Darker Grotesque Light"/>
                <a:cs typeface="Darker Grotesque Light"/>
                <a:sym typeface="Darker Grotesque Light"/>
              </a:rPr>
              <a:t> = "database.db"</a:t>
            </a:r>
          </a:p>
          <a:p>
            <a:pPr lvl="0"/>
            <a:r>
              <a:rPr lang="en-US" sz="4000" dirty="0" err="1">
                <a:solidFill>
                  <a:srgbClr val="FFFFFF"/>
                </a:solidFill>
                <a:latin typeface="Darker Grotesque Light"/>
                <a:ea typeface="Darker Grotesque Light"/>
                <a:cs typeface="Darker Grotesque Light"/>
                <a:sym typeface="Darker Grotesque Light"/>
              </a:rPr>
              <a:t>sqlite_url</a:t>
            </a:r>
            <a:r>
              <a:rPr lang="en-US" sz="4000" dirty="0">
                <a:solidFill>
                  <a:srgbClr val="FFFFFF"/>
                </a:solidFill>
                <a:latin typeface="Darker Grotesque Light"/>
                <a:ea typeface="Darker Grotesque Light"/>
                <a:cs typeface="Darker Grotesque Light"/>
                <a:sym typeface="Darker Grotesque Light"/>
              </a:rPr>
              <a:t> = </a:t>
            </a:r>
            <a:r>
              <a:rPr lang="en-US" sz="4000" dirty="0" err="1">
                <a:solidFill>
                  <a:srgbClr val="FFFFFF"/>
                </a:solidFill>
                <a:latin typeface="Darker Grotesque Light"/>
                <a:ea typeface="Darker Grotesque Light"/>
                <a:cs typeface="Darker Grotesque Light"/>
                <a:sym typeface="Darker Grotesque Light"/>
              </a:rPr>
              <a:t>f"sqlite</a:t>
            </a:r>
            <a:r>
              <a:rPr lang="en-US" sz="4000" dirty="0">
                <a:solidFill>
                  <a:srgbClr val="FFFFFF"/>
                </a:solidFill>
                <a:latin typeface="Darker Grotesque Light"/>
                <a:ea typeface="Darker Grotesque Light"/>
                <a:cs typeface="Darker Grotesque Light"/>
                <a:sym typeface="Darker Grotesque Light"/>
              </a:rPr>
              <a:t>:///{</a:t>
            </a:r>
            <a:r>
              <a:rPr lang="en-US" sz="4000" dirty="0" err="1">
                <a:solidFill>
                  <a:srgbClr val="FFFFFF"/>
                </a:solidFill>
                <a:latin typeface="Darker Grotesque Light"/>
                <a:ea typeface="Darker Grotesque Light"/>
                <a:cs typeface="Darker Grotesque Light"/>
                <a:sym typeface="Darker Grotesque Light"/>
              </a:rPr>
              <a:t>sqlite_file_name</a:t>
            </a:r>
            <a:r>
              <a:rPr lang="en-US" sz="4000" dirty="0">
                <a:solidFill>
                  <a:srgbClr val="FFFFFF"/>
                </a:solidFill>
                <a:latin typeface="Darker Grotesque Light"/>
                <a:ea typeface="Darker Grotesque Light"/>
                <a:cs typeface="Darker Grotesque Light"/>
                <a:sym typeface="Darker Grotesque Light"/>
              </a:rPr>
              <a:t>}"</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engine = create_engine(</a:t>
            </a:r>
            <a:r>
              <a:rPr lang="en-US" sz="4000" dirty="0" err="1">
                <a:solidFill>
                  <a:srgbClr val="FFFFFF"/>
                </a:solidFill>
                <a:latin typeface="Darker Grotesque Light"/>
                <a:ea typeface="Darker Grotesque Light"/>
                <a:cs typeface="Darker Grotesque Light"/>
                <a:sym typeface="Darker Grotesque Light"/>
              </a:rPr>
              <a:t>sqlite_url</a:t>
            </a:r>
            <a:r>
              <a:rPr lang="en-US" sz="4000" dirty="0">
                <a:solidFill>
                  <a:srgbClr val="FFFFFF"/>
                </a:solidFill>
                <a:latin typeface="Darker Grotesque Light"/>
                <a:ea typeface="Darker Grotesque Light"/>
                <a:cs typeface="Darker Grotesque Light"/>
                <a:sym typeface="Darker Grotesque Light"/>
              </a:rPr>
              <a:t>)</a:t>
            </a:r>
          </a:p>
          <a:p>
            <a:pPr lvl="0"/>
            <a:endParaRPr lang="en-US" sz="4000" dirty="0">
              <a:solidFill>
                <a:srgbClr val="FFFFFF"/>
              </a:solidFill>
              <a:latin typeface="Darker Grotesque Light"/>
              <a:ea typeface="Darker Grotesque Light"/>
              <a:cs typeface="Darker Grotesque Light"/>
              <a:sym typeface="Darker Grotesque Light"/>
            </a:endParaRP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def </a:t>
            </a:r>
            <a:r>
              <a:rPr lang="en-US" sz="4000" dirty="0" err="1">
                <a:solidFill>
                  <a:srgbClr val="FFFFFF"/>
                </a:solidFill>
                <a:latin typeface="Darker Grotesque Light"/>
                <a:ea typeface="Darker Grotesque Light"/>
                <a:cs typeface="Darker Grotesque Light"/>
                <a:sym typeface="Darker Grotesque Light"/>
              </a:rPr>
              <a:t>create_db_and_tables</a:t>
            </a:r>
            <a:r>
              <a:rPr lang="en-US" sz="4000" dirty="0">
                <a:solidFill>
                  <a:srgbClr val="FFFFFF"/>
                </a:solidFill>
                <a:latin typeface="Darker Grotesque Light"/>
                <a:ea typeface="Darker Grotesque Light"/>
                <a:cs typeface="Darker Grotesque Light"/>
                <a:sym typeface="Darker Grotesque Light"/>
              </a:rPr>
              <a:t>():</a:t>
            </a:r>
          </a:p>
          <a:p>
            <a:pPr lvl="0"/>
            <a:r>
              <a:rPr lang="en-US" sz="4000" dirty="0">
                <a:solidFill>
                  <a:srgbClr val="FFFFFF"/>
                </a:solidFill>
                <a:latin typeface="Darker Grotesque Light"/>
                <a:ea typeface="Darker Grotesque Light"/>
                <a:cs typeface="Darker Grotesque Light"/>
                <a:sym typeface="Darker Grotesque Light"/>
              </a:rPr>
              <a:t>    	SQLModel.metadata.create_all(engine)</a:t>
            </a:r>
          </a:p>
        </p:txBody>
      </p:sp>
    </p:spTree>
    <p:extLst>
      <p:ext uri="{BB962C8B-B14F-4D97-AF65-F5344CB8AC3E}">
        <p14:creationId xmlns:p14="http://schemas.microsoft.com/office/powerpoint/2010/main" val="171607618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BB940848-2ED1-59A0-08A3-A372D5A774BC}"/>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391416DB-69F6-5241-67FB-4533A79CA7BF}"/>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7A2C11C4-E1FA-88F5-2C03-98A961AED965}"/>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23FDAF06-1422-4930-9E98-E0D0E5E82A7B}"/>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i="0" u="none" strike="noStrike" cap="none" dirty="0">
                <a:solidFill>
                  <a:srgbClr val="FFFFFF"/>
                </a:solidFill>
                <a:latin typeface="Darker Grotesque Medium"/>
                <a:ea typeface="Darker Grotesque Medium"/>
                <a:cs typeface="Darker Grotesque Medium"/>
                <a:sym typeface="Darker Grotesque Medium"/>
              </a:rPr>
              <a:t>models.py</a:t>
            </a:r>
          </a:p>
        </p:txBody>
      </p:sp>
      <p:sp>
        <p:nvSpPr>
          <p:cNvPr id="2" name="Google Shape;102;p11">
            <a:extLst>
              <a:ext uri="{FF2B5EF4-FFF2-40B4-BE49-F238E27FC236}">
                <a16:creationId xmlns:a16="http://schemas.microsoft.com/office/drawing/2014/main" id="{66E288A8-0977-C409-10AA-E5C5A67B32F5}"/>
              </a:ext>
            </a:extLst>
          </p:cNvPr>
          <p:cNvSpPr txBox="1"/>
          <p:nvPr/>
        </p:nvSpPr>
        <p:spPr>
          <a:xfrm>
            <a:off x="2514606" y="2166937"/>
            <a:ext cx="14763745" cy="4308872"/>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from sqlmodel import Field , SQLModel</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class Employee(SQLModel, table=True):</a:t>
            </a:r>
          </a:p>
          <a:p>
            <a:pPr lvl="0"/>
            <a:r>
              <a:rPr lang="en-US" sz="4000" dirty="0">
                <a:solidFill>
                  <a:srgbClr val="FFFFFF"/>
                </a:solidFill>
                <a:latin typeface="Darker Grotesque Light"/>
                <a:ea typeface="Darker Grotesque Light"/>
                <a:cs typeface="Darker Grotesque Light"/>
                <a:sym typeface="Darker Grotesque Light"/>
              </a:rPr>
              <a:t>    empid: int | None = Field(default=None, primary_key=True)</a:t>
            </a:r>
          </a:p>
          <a:p>
            <a:pPr lvl="0"/>
            <a:r>
              <a:rPr lang="en-US" sz="4000" dirty="0">
                <a:solidFill>
                  <a:srgbClr val="FFFFFF"/>
                </a:solidFill>
                <a:latin typeface="Darker Grotesque Light"/>
                <a:ea typeface="Darker Grotesque Light"/>
                <a:cs typeface="Darker Grotesque Light"/>
                <a:sym typeface="Darker Grotesque Light"/>
              </a:rPr>
              <a:t>    name: str</a:t>
            </a:r>
          </a:p>
          <a:p>
            <a:pPr lvl="0"/>
            <a:r>
              <a:rPr lang="en-US" sz="4000" dirty="0">
                <a:solidFill>
                  <a:srgbClr val="FFFFFF"/>
                </a:solidFill>
                <a:latin typeface="Darker Grotesque Light"/>
                <a:ea typeface="Darker Grotesque Light"/>
                <a:cs typeface="Darker Grotesque Light"/>
                <a:sym typeface="Darker Grotesque Light"/>
              </a:rPr>
              <a:t>    dept: str</a:t>
            </a:r>
          </a:p>
          <a:p>
            <a:pPr lvl="0"/>
            <a:r>
              <a:rPr lang="en-US" sz="4000" dirty="0">
                <a:solidFill>
                  <a:srgbClr val="FFFFFF"/>
                </a:solidFill>
                <a:latin typeface="Darker Grotesque Light"/>
                <a:ea typeface="Darker Grotesque Light"/>
                <a:cs typeface="Darker Grotesque Light"/>
                <a:sym typeface="Darker Grotesque Light"/>
              </a:rPr>
              <a:t>    age: int | None = None</a:t>
            </a:r>
          </a:p>
        </p:txBody>
      </p:sp>
    </p:spTree>
    <p:extLst>
      <p:ext uri="{BB962C8B-B14F-4D97-AF65-F5344CB8AC3E}">
        <p14:creationId xmlns:p14="http://schemas.microsoft.com/office/powerpoint/2010/main" val="135543793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7FA99977-8358-879E-0FE7-685820C9E0F9}"/>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8018FA12-30E2-CC83-2428-7CF3E04ED149}"/>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C3EFA4BD-F743-DA6A-A48E-9DFBD2BC1EAD}"/>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DFDB2BE0-ADB5-D90B-6DFE-915089BBDF7C}"/>
              </a:ext>
            </a:extLst>
          </p:cNvPr>
          <p:cNvSpPr txBox="1"/>
          <p:nvPr/>
        </p:nvSpPr>
        <p:spPr>
          <a:xfrm>
            <a:off x="1426306" y="1164079"/>
            <a:ext cx="15987646" cy="646331"/>
          </a:xfrm>
          <a:prstGeom prst="rect">
            <a:avLst/>
          </a:prstGeom>
          <a:noFill/>
          <a:ln>
            <a:noFill/>
          </a:ln>
        </p:spPr>
        <p:txBody>
          <a:bodyPr spcFirstLastPara="1" wrap="square" lIns="0" tIns="0" rIns="0" bIns="0" anchor="t" anchorCtr="0">
            <a:spAutoFit/>
          </a:bodyPr>
          <a:lstStyle/>
          <a:p>
            <a:pPr lvl="0"/>
            <a:r>
              <a:rPr lang="en-US" sz="4200" b="1" i="0" u="none" strike="noStrike" cap="none" dirty="0">
                <a:solidFill>
                  <a:srgbClr val="FFFFFF"/>
                </a:solidFill>
                <a:latin typeface="Darker Grotesque Medium"/>
                <a:ea typeface="Darker Grotesque Medium"/>
                <a:cs typeface="Darker Grotesque Medium"/>
                <a:sym typeface="Darker Grotesque Medium"/>
              </a:rPr>
              <a:t>app.py</a:t>
            </a:r>
          </a:p>
        </p:txBody>
      </p:sp>
      <p:sp>
        <p:nvSpPr>
          <p:cNvPr id="2" name="Google Shape;102;p11">
            <a:extLst>
              <a:ext uri="{FF2B5EF4-FFF2-40B4-BE49-F238E27FC236}">
                <a16:creationId xmlns:a16="http://schemas.microsoft.com/office/drawing/2014/main" id="{F35035FA-7007-CB4A-DBB3-247456090B11}"/>
              </a:ext>
            </a:extLst>
          </p:cNvPr>
          <p:cNvSpPr txBox="1"/>
          <p:nvPr/>
        </p:nvSpPr>
        <p:spPr>
          <a:xfrm>
            <a:off x="2514606" y="2166937"/>
            <a:ext cx="14763745" cy="6771084"/>
          </a:xfrm>
          <a:prstGeom prst="rect">
            <a:avLst/>
          </a:prstGeom>
          <a:noFill/>
          <a:ln>
            <a:noFill/>
          </a:ln>
        </p:spPr>
        <p:txBody>
          <a:bodyPr spcFirstLastPara="1" wrap="square" lIns="0" tIns="0" rIns="0" bIns="0" anchor="t" anchorCtr="0">
            <a:spAutoFit/>
          </a:bodyPr>
          <a:lstStyle/>
          <a:p>
            <a:pPr lvl="0"/>
            <a:r>
              <a:rPr lang="en-US" sz="4000" dirty="0">
                <a:solidFill>
                  <a:srgbClr val="FFFFFF"/>
                </a:solidFill>
                <a:latin typeface="Darker Grotesque Light"/>
                <a:ea typeface="Darker Grotesque Light"/>
                <a:cs typeface="Darker Grotesque Light"/>
                <a:sym typeface="Darker Grotesque Light"/>
              </a:rPr>
              <a:t>from sqlmodel import Session , select</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from database import </a:t>
            </a:r>
            <a:r>
              <a:rPr lang="en-US" sz="4000" dirty="0" err="1">
                <a:solidFill>
                  <a:srgbClr val="FFFFFF"/>
                </a:solidFill>
                <a:latin typeface="Darker Grotesque Light"/>
                <a:ea typeface="Darker Grotesque Light"/>
                <a:cs typeface="Darker Grotesque Light"/>
                <a:sym typeface="Darker Grotesque Light"/>
              </a:rPr>
              <a:t>create_db_and_tables</a:t>
            </a:r>
            <a:r>
              <a:rPr lang="en-US" sz="4000" dirty="0">
                <a:solidFill>
                  <a:srgbClr val="FFFFFF"/>
                </a:solidFill>
                <a:latin typeface="Darker Grotesque Light"/>
                <a:ea typeface="Darker Grotesque Light"/>
                <a:cs typeface="Darker Grotesque Light"/>
                <a:sym typeface="Darker Grotesque Light"/>
              </a:rPr>
              <a:t>, engine</a:t>
            </a:r>
          </a:p>
          <a:p>
            <a:pPr lvl="0"/>
            <a:r>
              <a:rPr lang="en-US" sz="4000" dirty="0">
                <a:solidFill>
                  <a:srgbClr val="FFFFFF"/>
                </a:solidFill>
                <a:latin typeface="Darker Grotesque Light"/>
                <a:ea typeface="Darker Grotesque Light"/>
                <a:cs typeface="Darker Grotesque Light"/>
                <a:sym typeface="Darker Grotesque Light"/>
              </a:rPr>
              <a:t>from models import Employee </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def main():</a:t>
            </a:r>
          </a:p>
          <a:p>
            <a:pPr lvl="0"/>
            <a:r>
              <a:rPr lang="en-US" sz="4000" dirty="0">
                <a:solidFill>
                  <a:srgbClr val="FFFFFF"/>
                </a:solidFill>
                <a:latin typeface="Darker Grotesque Light"/>
                <a:ea typeface="Darker Grotesque Light"/>
                <a:cs typeface="Darker Grotesque Light"/>
                <a:sym typeface="Darker Grotesque Light"/>
              </a:rPr>
              <a:t>    </a:t>
            </a:r>
            <a:r>
              <a:rPr lang="en-US" sz="4000" dirty="0" err="1">
                <a:solidFill>
                  <a:srgbClr val="FFFFFF"/>
                </a:solidFill>
                <a:latin typeface="Darker Grotesque Light"/>
                <a:ea typeface="Darker Grotesque Light"/>
                <a:cs typeface="Darker Grotesque Light"/>
                <a:sym typeface="Darker Grotesque Light"/>
              </a:rPr>
              <a:t>create_db_and_tables</a:t>
            </a:r>
            <a:r>
              <a:rPr lang="en-US" sz="4000" dirty="0">
                <a:solidFill>
                  <a:srgbClr val="FFFFFF"/>
                </a:solidFill>
                <a:latin typeface="Darker Grotesque Light"/>
                <a:ea typeface="Darker Grotesque Light"/>
                <a:cs typeface="Darker Grotesque Light"/>
                <a:sym typeface="Darker Grotesque Light"/>
              </a:rPr>
              <a:t>()</a:t>
            </a:r>
          </a:p>
          <a:p>
            <a:pPr lvl="0"/>
            <a:r>
              <a:rPr lang="en-US" sz="4000" dirty="0">
                <a:solidFill>
                  <a:srgbClr val="FFFFFF"/>
                </a:solidFill>
                <a:latin typeface="Darker Grotesque Light"/>
                <a:ea typeface="Darker Grotesque Light"/>
                <a:cs typeface="Darker Grotesque Light"/>
                <a:sym typeface="Darker Grotesque Light"/>
              </a:rPr>
              <a:t>    # what you want to do here</a:t>
            </a:r>
          </a:p>
          <a:p>
            <a:pPr lvl="0"/>
            <a:endParaRPr lang="en-US" sz="4000" dirty="0">
              <a:solidFill>
                <a:srgbClr val="FFFFFF"/>
              </a:solidFill>
              <a:latin typeface="Darker Grotesque Light"/>
              <a:ea typeface="Darker Grotesque Light"/>
              <a:cs typeface="Darker Grotesque Light"/>
              <a:sym typeface="Darker Grotesque Light"/>
            </a:endParaRPr>
          </a:p>
          <a:p>
            <a:pPr lvl="0"/>
            <a:r>
              <a:rPr lang="en-US" sz="4000" dirty="0">
                <a:solidFill>
                  <a:srgbClr val="FFFFFF"/>
                </a:solidFill>
                <a:latin typeface="Darker Grotesque Light"/>
                <a:ea typeface="Darker Grotesque Light"/>
                <a:cs typeface="Darker Grotesque Light"/>
                <a:sym typeface="Darker Grotesque Light"/>
              </a:rPr>
              <a:t>if __name__ == "__main__":</a:t>
            </a:r>
          </a:p>
          <a:p>
            <a:pPr lvl="0"/>
            <a:r>
              <a:rPr lang="en-US" sz="4000" dirty="0">
                <a:solidFill>
                  <a:srgbClr val="FFFFFF"/>
                </a:solidFill>
                <a:latin typeface="Darker Grotesque Light"/>
                <a:ea typeface="Darker Grotesque Light"/>
                <a:cs typeface="Darker Grotesque Light"/>
                <a:sym typeface="Darker Grotesque Light"/>
              </a:rPr>
              <a:t>    main()</a:t>
            </a:r>
          </a:p>
        </p:txBody>
      </p:sp>
    </p:spTree>
    <p:extLst>
      <p:ext uri="{BB962C8B-B14F-4D97-AF65-F5344CB8AC3E}">
        <p14:creationId xmlns:p14="http://schemas.microsoft.com/office/powerpoint/2010/main" val="2739901404"/>
      </p:ext>
    </p:extLst>
  </p:cSld>
  <p:clrMapOvr>
    <a:masterClrMapping/>
  </p:clrMapOvr>
  <p:transition>
    <p:fade/>
  </p:transition>
</p:sld>
</file>

<file path=ppt/theme/theme1.xml><?xml version="1.0" encoding="utf-8"?>
<a:theme xmlns:a="http://schemas.openxmlformats.org/drawingml/2006/main" name="Bold Minimal E-Commer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1368</TotalTime>
  <Words>1098</Words>
  <Application>Microsoft Office PowerPoint</Application>
  <PresentationFormat>Custom</PresentationFormat>
  <Paragraphs>156</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Darker Grotesque</vt:lpstr>
      <vt:lpstr>Darker Grotesque Light</vt:lpstr>
      <vt:lpstr>Darker Grotesque Medium</vt:lpstr>
      <vt:lpstr>Bold Minimal E-Commerce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lastModifiedBy>Administrator</cp:lastModifiedBy>
  <cp:revision>11</cp:revision>
  <dcterms:modified xsi:type="dcterms:W3CDTF">2025-11-05T17:12:11Z</dcterms:modified>
</cp:coreProperties>
</file>