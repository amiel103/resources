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16"/>
  </p:notesMasterIdLst>
  <p:sldIdLst>
    <p:sldId id="256" r:id="rId2"/>
    <p:sldId id="276" r:id="rId3"/>
    <p:sldId id="285" r:id="rId4"/>
    <p:sldId id="284" r:id="rId5"/>
    <p:sldId id="286" r:id="rId6"/>
    <p:sldId id="288" r:id="rId7"/>
    <p:sldId id="289" r:id="rId8"/>
    <p:sldId id="287" r:id="rId9"/>
    <p:sldId id="275" r:id="rId10"/>
    <p:sldId id="290" r:id="rId11"/>
    <p:sldId id="291" r:id="rId12"/>
    <p:sldId id="292" r:id="rId13"/>
    <p:sldId id="293" r:id="rId14"/>
    <p:sldId id="271" r:id="rId15"/>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78" autoAdjust="0"/>
    <p:restoredTop sz="94660"/>
  </p:normalViewPr>
  <p:slideViewPr>
    <p:cSldViewPr snapToGrid="0">
      <p:cViewPr varScale="1">
        <p:scale>
          <a:sx n="71" d="100"/>
          <a:sy n="71" d="100"/>
        </p:scale>
        <p:origin x="708"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7CB5BD23-C392-7AF8-E981-D02CB7B762FF}"/>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6102FF02-505B-01E1-202D-3461F2D834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0D03AE8B-52FA-8C85-B099-907DBEF105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0663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26EEE634-4D9E-CCA7-8296-BAA33E79827F}"/>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B62E88DE-CB7A-03C8-E5CD-B66E14AACD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CE4AEE1D-0ECC-AE10-F46D-307EBE111D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6409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2FB61E27-FA74-CD99-EB74-5527DA89FC68}"/>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C1341506-3417-D2AC-68D4-651FD07B37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37E49553-99B3-9161-C2A8-036C14EE45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0508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05F48687-D7B5-1127-BD23-0660EBD16EE3}"/>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A5D2FAD8-6752-29B3-C765-D3A8A69764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B3321B13-E470-1164-DC9F-162423DDF3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6292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a:extLst>
            <a:ext uri="{FF2B5EF4-FFF2-40B4-BE49-F238E27FC236}">
              <a16:creationId xmlns:a16="http://schemas.microsoft.com/office/drawing/2014/main" id="{616BE212-26FA-908E-E06D-A548FB7105FF}"/>
            </a:ext>
          </a:extLst>
        </p:cNvPr>
        <p:cNvGrpSpPr/>
        <p:nvPr/>
      </p:nvGrpSpPr>
      <p:grpSpPr>
        <a:xfrm>
          <a:off x="0" y="0"/>
          <a:ext cx="0" cy="0"/>
          <a:chOff x="0" y="0"/>
          <a:chExt cx="0" cy="0"/>
        </a:xfrm>
      </p:grpSpPr>
      <p:sp>
        <p:nvSpPr>
          <p:cNvPr id="39" name="Google Shape;39;p1:notes">
            <a:extLst>
              <a:ext uri="{FF2B5EF4-FFF2-40B4-BE49-F238E27FC236}">
                <a16:creationId xmlns:a16="http://schemas.microsoft.com/office/drawing/2014/main" id="{5B33B583-AD48-0F17-7323-830D0FCCE5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a:extLst>
              <a:ext uri="{FF2B5EF4-FFF2-40B4-BE49-F238E27FC236}">
                <a16:creationId xmlns:a16="http://schemas.microsoft.com/office/drawing/2014/main" id="{A8CCAC4C-F10F-69C9-421A-9DBDACD4A8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9767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0DA55FDB-0D83-4542-01B5-40B05FEFD94A}"/>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F292A186-AAC6-B9E7-5416-EDE9752E63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7A63FDF6-772F-0014-93CF-E032A83F5B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80514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165A0FC1-590F-494B-A810-030C8C6C075D}"/>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6FB73421-43F2-F81E-04F5-E9018C0624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67C64528-9BAF-4585-29D9-0419E21145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3154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0D021441-3680-CDE4-ADD0-BB39186E7E44}"/>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AA1F5A32-5966-D706-5F14-FAD34D781F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32F64BB2-EB8F-3387-798B-E30C4D72E3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212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20DBD75F-F259-589C-2B81-AB949B413FB5}"/>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F31AABAE-9E0A-0353-B7B1-0CE51E311D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B6560592-FCC2-7862-C54C-82F6DF6A56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2400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0EAD2B99-71B5-713A-F56B-107FF9EFA25C}"/>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15ED02E1-FCDA-D1D5-E1B4-874F1E70FE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9C1682F7-8771-EC48-9FA9-698CC7A138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1867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B84AE33B-CACC-F740-BD85-0406E2BC789D}"/>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17D42713-6C53-820C-C141-0EA092BDD0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AAE447F6-4F72-D466-878A-106F542852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5836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14994892-7274-473F-47EA-1AD203F3CDBF}"/>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40CC6081-C6C9-5D1C-6544-46B6276E3E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BC3D804D-EEDB-C207-1B9F-390A823D82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69109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ype="obj">
  <p:cSld name="OBJECT">
    <p:bg>
      <p:bgPr>
        <a:solidFill>
          <a:srgbClr val="C2F970"/>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1815350" y="6970050"/>
            <a:ext cx="15471000" cy="1815300"/>
          </a:xfrm>
          <a:prstGeom prst="rect">
            <a:avLst/>
          </a:prstGeom>
        </p:spPr>
        <p:txBody>
          <a:bodyPr spcFirstLastPara="1" wrap="square" lIns="0" tIns="0" rIns="0" bIns="0" anchor="t" anchorCtr="0">
            <a:noAutofit/>
          </a:bodyPr>
          <a:lstStyle>
            <a:lvl1pPr lvl="0" algn="r">
              <a:spcBef>
                <a:spcPts val="0"/>
              </a:spcBef>
              <a:spcAft>
                <a:spcPts val="0"/>
              </a:spcAft>
              <a:buClr>
                <a:srgbClr val="44344F"/>
              </a:buClr>
              <a:buSzPts val="14400"/>
              <a:buNone/>
              <a:defRPr>
                <a:solidFill>
                  <a:srgbClr val="4434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3" name="Google Shape;23;p4"/>
          <p:cNvCxnSpPr/>
          <p:nvPr/>
        </p:nvCxnSpPr>
        <p:spPr>
          <a:xfrm rot="10800000">
            <a:off x="1009650" y="0"/>
            <a:ext cx="0" cy="10287000"/>
          </a:xfrm>
          <a:prstGeom prst="straightConnector1">
            <a:avLst/>
          </a:prstGeom>
          <a:noFill/>
          <a:ln w="38100" cap="flat" cmpd="sng">
            <a:solidFill>
              <a:srgbClr val="44344F"/>
            </a:solidFill>
            <a:prstDash val="solid"/>
            <a:round/>
            <a:headEnd type="none" w="sm" len="sm"/>
            <a:tailEnd type="none" w="sm" len="sm"/>
          </a:ln>
        </p:spPr>
      </p:cxnSp>
      <p:cxnSp>
        <p:nvCxnSpPr>
          <p:cNvPr id="24" name="Google Shape;24;p4"/>
          <p:cNvCxnSpPr/>
          <p:nvPr/>
        </p:nvCxnSpPr>
        <p:spPr>
          <a:xfrm rot="10800000">
            <a:off x="0" y="9258300"/>
            <a:ext cx="18288000" cy="0"/>
          </a:xfrm>
          <a:prstGeom prst="straightConnector1">
            <a:avLst/>
          </a:prstGeom>
          <a:noFill/>
          <a:ln w="38100" cap="flat" cmpd="sng">
            <a:solidFill>
              <a:srgbClr val="44344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allery" type="secHead">
  <p:cSld name="SECTION_HEADER">
    <p:spTree>
      <p:nvGrpSpPr>
        <p:cNvPr id="1" name="Shape 25"/>
        <p:cNvGrpSpPr/>
        <p:nvPr/>
      </p:nvGrpSpPr>
      <p:grpSpPr>
        <a:xfrm>
          <a:off x="0" y="0"/>
          <a:ext cx="0" cy="0"/>
          <a:chOff x="0" y="0"/>
          <a:chExt cx="0" cy="0"/>
        </a:xfrm>
      </p:grpSpPr>
      <p:sp>
        <p:nvSpPr>
          <p:cNvPr id="26" name="Google Shape;26;p5"/>
          <p:cNvSpPr>
            <a:spLocks noGrp="1"/>
          </p:cNvSpPr>
          <p:nvPr>
            <p:ph type="pic" idx="2"/>
          </p:nvPr>
        </p:nvSpPr>
        <p:spPr>
          <a:xfrm>
            <a:off x="1512800" y="3065925"/>
            <a:ext cx="3735000" cy="5595900"/>
          </a:xfrm>
          <a:prstGeom prst="rect">
            <a:avLst/>
          </a:prstGeom>
          <a:noFill/>
          <a:ln w="19050" cap="flat" cmpd="sng">
            <a:solidFill>
              <a:srgbClr val="C2F970"/>
            </a:solidFill>
            <a:prstDash val="solid"/>
            <a:round/>
            <a:headEnd type="none" w="sm" len="sm"/>
            <a:tailEnd type="none" w="sm" len="sm"/>
          </a:ln>
        </p:spPr>
      </p:sp>
      <p:sp>
        <p:nvSpPr>
          <p:cNvPr id="27" name="Google Shape;27;p5"/>
          <p:cNvSpPr>
            <a:spLocks noGrp="1"/>
          </p:cNvSpPr>
          <p:nvPr>
            <p:ph type="pic" idx="3"/>
          </p:nvPr>
        </p:nvSpPr>
        <p:spPr>
          <a:xfrm>
            <a:off x="5602888" y="3076200"/>
            <a:ext cx="3735000" cy="5595900"/>
          </a:xfrm>
          <a:prstGeom prst="rect">
            <a:avLst/>
          </a:prstGeom>
          <a:noFill/>
          <a:ln w="19050" cap="flat" cmpd="sng">
            <a:solidFill>
              <a:srgbClr val="C2F970"/>
            </a:solidFill>
            <a:prstDash val="solid"/>
            <a:round/>
            <a:headEnd type="none" w="sm" len="sm"/>
            <a:tailEnd type="none" w="sm" len="sm"/>
          </a:ln>
        </p:spPr>
      </p:sp>
      <p:sp>
        <p:nvSpPr>
          <p:cNvPr id="28" name="Google Shape;28;p5"/>
          <p:cNvSpPr>
            <a:spLocks noGrp="1"/>
          </p:cNvSpPr>
          <p:nvPr>
            <p:ph type="pic" idx="4"/>
          </p:nvPr>
        </p:nvSpPr>
        <p:spPr>
          <a:xfrm>
            <a:off x="9717500" y="3071063"/>
            <a:ext cx="3735000" cy="5595900"/>
          </a:xfrm>
          <a:prstGeom prst="rect">
            <a:avLst/>
          </a:prstGeom>
          <a:noFill/>
          <a:ln w="19050" cap="flat" cmpd="sng">
            <a:solidFill>
              <a:srgbClr val="C2F970"/>
            </a:solidFill>
            <a:prstDash val="solid"/>
            <a:round/>
            <a:headEnd type="none" w="sm" len="sm"/>
            <a:tailEnd type="none" w="sm" len="sm"/>
          </a:ln>
        </p:spPr>
      </p:sp>
      <p:sp>
        <p:nvSpPr>
          <p:cNvPr id="29" name="Google Shape;29;p5"/>
          <p:cNvSpPr>
            <a:spLocks noGrp="1"/>
          </p:cNvSpPr>
          <p:nvPr>
            <p:ph type="pic" idx="5"/>
          </p:nvPr>
        </p:nvSpPr>
        <p:spPr>
          <a:xfrm>
            <a:off x="13807588" y="3081338"/>
            <a:ext cx="3735000" cy="5595900"/>
          </a:xfrm>
          <a:prstGeom prst="rect">
            <a:avLst/>
          </a:prstGeom>
          <a:noFill/>
          <a:ln w="19050" cap="flat" cmpd="sng">
            <a:solidFill>
              <a:srgbClr val="C2F970"/>
            </a:solidFill>
            <a:prstDash val="solid"/>
            <a:round/>
            <a:headEnd type="none" w="sm" len="sm"/>
            <a:tailEnd type="none" w="sm" len="sm"/>
          </a:ln>
        </p:spPr>
      </p:sp>
      <p:cxnSp>
        <p:nvCxnSpPr>
          <p:cNvPr id="30" name="Google Shape;30;p5"/>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1" name="Google Shape;31;p5"/>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type="twoObj">
  <p:cSld name="TWO_OBJECTS">
    <p:spTree>
      <p:nvGrpSpPr>
        <p:cNvPr id="1" name="Shape 32"/>
        <p:cNvGrpSpPr/>
        <p:nvPr/>
      </p:nvGrpSpPr>
      <p:grpSpPr>
        <a:xfrm>
          <a:off x="0" y="0"/>
          <a:ext cx="0" cy="0"/>
          <a:chOff x="0" y="0"/>
          <a:chExt cx="0" cy="0"/>
        </a:xfrm>
      </p:grpSpPr>
      <p:sp>
        <p:nvSpPr>
          <p:cNvPr id="33" name="Google Shape;33;p6"/>
          <p:cNvSpPr>
            <a:spLocks noGrp="1"/>
          </p:cNvSpPr>
          <p:nvPr>
            <p:ph type="pic" idx="2"/>
          </p:nvPr>
        </p:nvSpPr>
        <p:spPr>
          <a:xfrm>
            <a:off x="1756050" y="1082375"/>
            <a:ext cx="6483000" cy="5017200"/>
          </a:xfrm>
          <a:prstGeom prst="rect">
            <a:avLst/>
          </a:prstGeom>
          <a:noFill/>
          <a:ln w="19050" cap="flat" cmpd="sng">
            <a:solidFill>
              <a:srgbClr val="C2F970"/>
            </a:solidFill>
            <a:prstDash val="solid"/>
            <a:round/>
            <a:headEnd type="none" w="sm" len="sm"/>
            <a:tailEnd type="none" w="sm" len="sm"/>
          </a:ln>
        </p:spPr>
      </p:sp>
      <p:sp>
        <p:nvSpPr>
          <p:cNvPr id="34" name="Google Shape;34;p6"/>
          <p:cNvSpPr>
            <a:spLocks noGrp="1"/>
          </p:cNvSpPr>
          <p:nvPr>
            <p:ph type="pic" idx="3"/>
          </p:nvPr>
        </p:nvSpPr>
        <p:spPr>
          <a:xfrm>
            <a:off x="1756050" y="6297875"/>
            <a:ext cx="3077700" cy="2554500"/>
          </a:xfrm>
          <a:prstGeom prst="rect">
            <a:avLst/>
          </a:prstGeom>
          <a:noFill/>
          <a:ln w="19050" cap="flat" cmpd="sng">
            <a:solidFill>
              <a:srgbClr val="C2F970"/>
            </a:solidFill>
            <a:prstDash val="solid"/>
            <a:round/>
            <a:headEnd type="none" w="sm" len="sm"/>
            <a:tailEnd type="none" w="sm" len="sm"/>
          </a:ln>
        </p:spPr>
      </p:sp>
      <p:sp>
        <p:nvSpPr>
          <p:cNvPr id="35" name="Google Shape;35;p6"/>
          <p:cNvSpPr>
            <a:spLocks noGrp="1"/>
          </p:cNvSpPr>
          <p:nvPr>
            <p:ph type="pic" idx="4"/>
          </p:nvPr>
        </p:nvSpPr>
        <p:spPr>
          <a:xfrm>
            <a:off x="5138888" y="6288525"/>
            <a:ext cx="3077700" cy="2554500"/>
          </a:xfrm>
          <a:prstGeom prst="rect">
            <a:avLst/>
          </a:prstGeom>
          <a:noFill/>
          <a:ln w="19050" cap="flat" cmpd="sng">
            <a:solidFill>
              <a:srgbClr val="C2F970"/>
            </a:solidFill>
            <a:prstDash val="solid"/>
            <a:round/>
            <a:headEnd type="none" w="sm" len="sm"/>
            <a:tailEnd type="none" w="sm" len="sm"/>
          </a:ln>
        </p:spPr>
      </p:sp>
      <p:cxnSp>
        <p:nvCxnSpPr>
          <p:cNvPr id="36" name="Google Shape;36;p6"/>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7" name="Google Shape;37;p6"/>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0" tIns="0" rIns="0" bIns="0" anchor="ctr" anchorCtr="0">
            <a:noAutofit/>
          </a:bodyPr>
          <a:lstStyle>
            <a:lvl1pPr marR="0" lvl="0" algn="ctr" rtl="0">
              <a:lnSpc>
                <a:spcPct val="70000"/>
              </a:lnSpc>
              <a:spcBef>
                <a:spcPts val="0"/>
              </a:spcBef>
              <a:spcAft>
                <a:spcPts val="0"/>
              </a:spcAft>
              <a:buClr>
                <a:srgbClr val="C2F970"/>
              </a:buClr>
              <a:buSzPts val="14400"/>
              <a:buFont typeface="Darker Grotesque"/>
              <a:buNone/>
              <a:defRPr sz="14400" i="0" u="none" strike="noStrike" cap="none">
                <a:solidFill>
                  <a:srgbClr val="C2F970"/>
                </a:solidFill>
                <a:latin typeface="Darker Grotesque"/>
                <a:ea typeface="Darker Grotesque"/>
                <a:cs typeface="Darker Grotesque"/>
                <a:sym typeface="Darker Grotesq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noAutofit/>
          </a:bodyPr>
          <a:lstStyle>
            <a:lvl1pPr marL="457200" marR="0" lvl="0" indent="-431800" algn="l" rtl="0">
              <a:spcBef>
                <a:spcPts val="640"/>
              </a:spcBef>
              <a:spcAft>
                <a:spcPts val="0"/>
              </a:spcAft>
              <a:buClr>
                <a:schemeClr val="lt1"/>
              </a:buClr>
              <a:buSzPts val="3200"/>
              <a:buFont typeface="Darker Grotesque Light"/>
              <a:buChar char="•"/>
              <a:defRPr sz="3200" i="0" u="none" strike="noStrike" cap="none">
                <a:solidFill>
                  <a:schemeClr val="lt1"/>
                </a:solidFill>
                <a:latin typeface="Darker Grotesque Light"/>
                <a:ea typeface="Darker Grotesque Light"/>
                <a:cs typeface="Darker Grotesque Light"/>
                <a:sym typeface="Darker Grotesque Light"/>
              </a:defRPr>
            </a:lvl1pPr>
            <a:lvl2pPr marL="914400" marR="0" lvl="1" indent="-406400" algn="l" rtl="0">
              <a:spcBef>
                <a:spcPts val="560"/>
              </a:spcBef>
              <a:spcAft>
                <a:spcPts val="0"/>
              </a:spcAft>
              <a:buClr>
                <a:schemeClr val="lt1"/>
              </a:buClr>
              <a:buSzPts val="2800"/>
              <a:buFont typeface="Darker Grotesque Light"/>
              <a:buChar char="–"/>
              <a:defRPr sz="2800" i="0" u="none" strike="noStrike" cap="none">
                <a:solidFill>
                  <a:schemeClr val="lt1"/>
                </a:solidFill>
                <a:latin typeface="Darker Grotesque Light"/>
                <a:ea typeface="Darker Grotesque Light"/>
                <a:cs typeface="Darker Grotesque Light"/>
                <a:sym typeface="Darker Grotesque Light"/>
              </a:defRPr>
            </a:lvl2pPr>
            <a:lvl3pPr marL="1371600" marR="0" lvl="2" indent="-381000" algn="l" rtl="0">
              <a:spcBef>
                <a:spcPts val="480"/>
              </a:spcBef>
              <a:spcAft>
                <a:spcPts val="0"/>
              </a:spcAft>
              <a:buClr>
                <a:schemeClr val="lt1"/>
              </a:buClr>
              <a:buSzPts val="2400"/>
              <a:buFont typeface="Darker Grotesque Light"/>
              <a:buChar char="•"/>
              <a:defRPr sz="2400" i="0" u="none" strike="noStrike" cap="none">
                <a:solidFill>
                  <a:schemeClr val="lt1"/>
                </a:solidFill>
                <a:latin typeface="Darker Grotesque Light"/>
                <a:ea typeface="Darker Grotesque Light"/>
                <a:cs typeface="Darker Grotesque Light"/>
                <a:sym typeface="Darker Grotesque Light"/>
              </a:defRPr>
            </a:lvl3pPr>
            <a:lvl4pPr marL="1828800" marR="0" lvl="3"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4pPr>
            <a:lvl5pPr marL="2286000" marR="0" lvl="4"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5pPr>
            <a:lvl6pPr marL="2743200" marR="0" lvl="5"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6pPr>
            <a:lvl7pPr marL="3200400" marR="0" lvl="6"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7pPr>
            <a:lvl8pPr marL="3657600" marR="0" lvl="7"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8pPr>
            <a:lvl9pPr marL="4114800" marR="0" lvl="8"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p:cNvGrpSpPr/>
        <p:nvPr/>
      </p:nvGrpSpPr>
      <p:grpSpPr>
        <a:xfrm>
          <a:off x="0" y="0"/>
          <a:ext cx="0" cy="0"/>
          <a:chOff x="0" y="0"/>
          <a:chExt cx="0" cy="0"/>
        </a:xfrm>
      </p:grpSpPr>
      <p:sp>
        <p:nvSpPr>
          <p:cNvPr id="42" name="Google Shape;42;p7"/>
          <p:cNvSpPr txBox="1"/>
          <p:nvPr/>
        </p:nvSpPr>
        <p:spPr>
          <a:xfrm>
            <a:off x="1783744" y="3607130"/>
            <a:ext cx="15475556" cy="1772793"/>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14400" b="0" i="0" u="none" strike="noStrike" cap="none" dirty="0">
                <a:solidFill>
                  <a:srgbClr val="C2F970"/>
                </a:solidFill>
                <a:latin typeface="Darker Grotesque"/>
                <a:ea typeface="Darker Grotesque"/>
                <a:cs typeface="Darker Grotesque"/>
                <a:sym typeface="Darker Grotesque"/>
              </a:rPr>
              <a:t>Scalability</a:t>
            </a:r>
            <a:endParaRPr lang="en-US" dirty="0"/>
          </a:p>
        </p:txBody>
      </p:sp>
      <p:cxnSp>
        <p:nvCxnSpPr>
          <p:cNvPr id="44" name="Google Shape;44;p7"/>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5AE7BF04-D91C-C315-6AA4-056449C8CC09}"/>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76E34125-91C5-1CA4-5CEB-4B92C06AF138}"/>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E66B82B4-BA34-1F9B-1BB2-AFEF5B98EF1C}"/>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98ECA56E-25BF-6D21-90E1-D908266D502D}"/>
              </a:ext>
            </a:extLst>
          </p:cNvPr>
          <p:cNvSpPr txBox="1"/>
          <p:nvPr/>
        </p:nvSpPr>
        <p:spPr>
          <a:xfrm>
            <a:off x="1435255" y="1268791"/>
            <a:ext cx="7334006" cy="6463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200" b="1" i="0" u="none" strike="noStrike" cap="none" dirty="0">
                <a:solidFill>
                  <a:srgbClr val="FFFFFF"/>
                </a:solidFill>
                <a:latin typeface="Darker Grotesque Medium"/>
                <a:ea typeface="Darker Grotesque Medium"/>
                <a:cs typeface="Darker Grotesque Medium"/>
                <a:sym typeface="Darker Grotesque Medium"/>
              </a:rPr>
              <a:t>What Is Scalability?</a:t>
            </a:r>
            <a:endParaRPr lang="en-US" b="1" dirty="0">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0CC9C81C-A4BD-85FC-84A7-2E22C556F81E}"/>
              </a:ext>
            </a:extLst>
          </p:cNvPr>
          <p:cNvSpPr txBox="1"/>
          <p:nvPr/>
        </p:nvSpPr>
        <p:spPr>
          <a:xfrm>
            <a:off x="2605374" y="2493346"/>
            <a:ext cx="14086902" cy="652486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Scalability describes a system’s elasticity. While we often use it to refer to a system’s ability to grow, it is not exclusive to this definition</a:t>
            </a:r>
          </a:p>
          <a:p>
            <a:pPr marL="0" marR="0" lvl="0" indent="0" algn="l" rtl="0">
              <a:lnSpc>
                <a:spcPct val="100000"/>
              </a:lnSpc>
              <a:spcBef>
                <a:spcPts val="0"/>
              </a:spcBef>
              <a:spcAft>
                <a:spcPts val="0"/>
              </a:spcAft>
              <a:buNone/>
            </a:pPr>
            <a:endParaRPr lang="en-US" sz="4000" dirty="0">
              <a:solidFill>
                <a:srgbClr val="FFFFFF"/>
              </a:solidFill>
              <a:latin typeface="Darker Grotesque Light"/>
              <a:ea typeface="Darker Grotesque Light"/>
              <a:cs typeface="Darker Grotesque Light"/>
              <a:sym typeface="Darker Grotesque Light"/>
            </a:endParaRPr>
          </a:p>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If you are running a website, web service, or application, its success hinges on the amount of network traffic it receives. It is common to underestimate just how much traffic your system will incur, especially in the early stages. This could result in a crashed server and/or a decline in your service quality.</a:t>
            </a:r>
          </a:p>
          <a:p>
            <a:pPr marL="0" marR="0" lvl="0" indent="0" algn="l" rtl="0">
              <a:lnSpc>
                <a:spcPct val="100000"/>
              </a:lnSpc>
              <a:spcBef>
                <a:spcPts val="0"/>
              </a:spcBef>
              <a:spcAft>
                <a:spcPts val="0"/>
              </a:spcAft>
              <a:buNone/>
            </a:pPr>
            <a:endParaRPr lang="en-US" sz="4000" dirty="0">
              <a:solidFill>
                <a:srgbClr val="FFFFFF"/>
              </a:solidFill>
              <a:latin typeface="Darker Grotesque Light"/>
              <a:ea typeface="Darker Grotesque Light"/>
              <a:cs typeface="Darker Grotesque Light"/>
              <a:sym typeface="Darker Grotesque Light"/>
            </a:endParaRPr>
          </a:p>
          <a:p>
            <a:pPr marL="0" marR="0" lvl="0" indent="0" algn="l" rtl="0">
              <a:lnSpc>
                <a:spcPct val="100000"/>
              </a:lnSpc>
              <a:spcBef>
                <a:spcPts val="0"/>
              </a:spcBef>
              <a:spcAft>
                <a:spcPts val="0"/>
              </a:spcAft>
              <a:buNone/>
            </a:pPr>
            <a:endParaRPr lang="en-US" sz="2400" dirty="0">
              <a:latin typeface="Darker Grotesque Light"/>
              <a:ea typeface="Darker Grotesque Light"/>
              <a:cs typeface="Darker Grotesque Light"/>
              <a:sym typeface="Darker Grotesque Light"/>
            </a:endParaRPr>
          </a:p>
        </p:txBody>
      </p:sp>
      <p:sp>
        <p:nvSpPr>
          <p:cNvPr id="4" name="Google Shape;94;p11">
            <a:extLst>
              <a:ext uri="{FF2B5EF4-FFF2-40B4-BE49-F238E27FC236}">
                <a16:creationId xmlns:a16="http://schemas.microsoft.com/office/drawing/2014/main" id="{447C3A7E-AE10-E785-58BD-30C937C03D4A}"/>
              </a:ext>
            </a:extLst>
          </p:cNvPr>
          <p:cNvSpPr txBox="1"/>
          <p:nvPr/>
        </p:nvSpPr>
        <p:spPr>
          <a:xfrm>
            <a:off x="11384798" y="9018209"/>
            <a:ext cx="6903199"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FFFFFF"/>
                </a:solidFill>
                <a:latin typeface="Darker Grotesque Medium"/>
                <a:ea typeface="Darker Grotesque Medium"/>
                <a:cs typeface="Darker Grotesque Medium"/>
                <a:sym typeface="Darker Grotesque Medium"/>
              </a:rPr>
              <a:t>https://www.cloudzero.com/blog/horizontal-vs-vertical-scaling/</a:t>
            </a:r>
            <a:endParaRPr lang="en-US" sz="800" b="1" dirty="0">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343512698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33361E36-2788-52B3-07A1-3C7454E899F0}"/>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A3675A8B-0014-B8E8-209A-FB5FA9EB55B4}"/>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C1383EC0-985C-A833-E80E-4ECFBA991962}"/>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3745252D-6A37-6A56-5923-015285E0FDB2}"/>
              </a:ext>
            </a:extLst>
          </p:cNvPr>
          <p:cNvSpPr txBox="1"/>
          <p:nvPr/>
        </p:nvSpPr>
        <p:spPr>
          <a:xfrm>
            <a:off x="1512906" y="1593631"/>
            <a:ext cx="7334006" cy="6463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200" b="1" i="0" u="none" strike="noStrike" cap="none" dirty="0">
                <a:solidFill>
                  <a:srgbClr val="FFFFFF"/>
                </a:solidFill>
                <a:latin typeface="Darker Grotesque Medium"/>
                <a:ea typeface="Darker Grotesque Medium"/>
                <a:cs typeface="Darker Grotesque Medium"/>
                <a:sym typeface="Darker Grotesque Medium"/>
              </a:rPr>
              <a:t>Vertical Scaling</a:t>
            </a:r>
            <a:endParaRPr b="1" dirty="0">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2B62E47B-A36F-9E46-3E11-0DDC1AD9B327}"/>
              </a:ext>
            </a:extLst>
          </p:cNvPr>
          <p:cNvSpPr txBox="1"/>
          <p:nvPr/>
        </p:nvSpPr>
        <p:spPr>
          <a:xfrm>
            <a:off x="1587663" y="3527372"/>
            <a:ext cx="7403937" cy="246221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Vertical scaling (aka scaling up) describes adding additional resources to a system so that it meets demand.</a:t>
            </a:r>
            <a:endParaRPr lang="en-US" sz="2400" dirty="0">
              <a:latin typeface="Darker Grotesque Light"/>
              <a:ea typeface="Darker Grotesque Light"/>
              <a:cs typeface="Darker Grotesque Light"/>
              <a:sym typeface="Darker Grotesque Light"/>
            </a:endParaRPr>
          </a:p>
        </p:txBody>
      </p:sp>
      <p:sp>
        <p:nvSpPr>
          <p:cNvPr id="5" name="AutoShape 4">
            <a:extLst>
              <a:ext uri="{FF2B5EF4-FFF2-40B4-BE49-F238E27FC236}">
                <a16:creationId xmlns:a16="http://schemas.microsoft.com/office/drawing/2014/main" id="{7F756587-44B0-7F17-3A5A-7AB963A9DB1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04266A24-30B2-2BE1-F3A2-2351E106986C}"/>
              </a:ext>
            </a:extLst>
          </p:cNvPr>
          <p:cNvPicPr>
            <a:picLocks noChangeAspect="1"/>
          </p:cNvPicPr>
          <p:nvPr/>
        </p:nvPicPr>
        <p:blipFill>
          <a:blip r:embed="rId3"/>
          <a:stretch>
            <a:fillRect/>
          </a:stretch>
        </p:blipFill>
        <p:spPr>
          <a:xfrm>
            <a:off x="9350167" y="1805551"/>
            <a:ext cx="8511307" cy="5721359"/>
          </a:xfrm>
          <a:prstGeom prst="rect">
            <a:avLst/>
          </a:prstGeom>
        </p:spPr>
      </p:pic>
    </p:spTree>
    <p:extLst>
      <p:ext uri="{BB962C8B-B14F-4D97-AF65-F5344CB8AC3E}">
        <p14:creationId xmlns:p14="http://schemas.microsoft.com/office/powerpoint/2010/main" val="253758762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C2B461DD-CC89-8DDD-FDDE-4847F839C6D3}"/>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5B91A668-8331-1BA8-2257-7947A03736A4}"/>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1C097CE8-7692-8B38-1F14-A8529517712C}"/>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A0996C3A-D5F9-481C-100F-1F1A5E10557E}"/>
              </a:ext>
            </a:extLst>
          </p:cNvPr>
          <p:cNvSpPr txBox="1"/>
          <p:nvPr/>
        </p:nvSpPr>
        <p:spPr>
          <a:xfrm>
            <a:off x="1587654" y="1430626"/>
            <a:ext cx="7334006" cy="6463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200" b="1" i="0" u="none" strike="noStrike" cap="none" dirty="0">
                <a:solidFill>
                  <a:srgbClr val="FFFFFF"/>
                </a:solidFill>
                <a:latin typeface="Darker Grotesque Medium"/>
                <a:ea typeface="Darker Grotesque Medium"/>
                <a:cs typeface="Darker Grotesque Medium"/>
                <a:sym typeface="Darker Grotesque Medium"/>
              </a:rPr>
              <a:t>Horizontal Scaling</a:t>
            </a:r>
            <a:endParaRPr b="1" dirty="0">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E7503300-05D9-FA3A-E6C1-8DED80B91C71}"/>
              </a:ext>
            </a:extLst>
          </p:cNvPr>
          <p:cNvSpPr txBox="1"/>
          <p:nvPr/>
        </p:nvSpPr>
        <p:spPr>
          <a:xfrm>
            <a:off x="1587655" y="2782491"/>
            <a:ext cx="7334005" cy="553997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Horizontal scaling (aka scaling out) refers to adding additional nodes or machines to your infrastructure to cope with new demands. If you are hosting an application on a server and find that it no longer has the capacity or capabilities to handle traffic, adding a server may be your solution.</a:t>
            </a:r>
            <a:endParaRPr lang="en-US" sz="2400" dirty="0">
              <a:latin typeface="Darker Grotesque Light"/>
              <a:ea typeface="Darker Grotesque Light"/>
              <a:cs typeface="Darker Grotesque Light"/>
              <a:sym typeface="Darker Grotesque Light"/>
            </a:endParaRPr>
          </a:p>
        </p:txBody>
      </p:sp>
      <p:pic>
        <p:nvPicPr>
          <p:cNvPr id="5" name="Picture 4">
            <a:extLst>
              <a:ext uri="{FF2B5EF4-FFF2-40B4-BE49-F238E27FC236}">
                <a16:creationId xmlns:a16="http://schemas.microsoft.com/office/drawing/2014/main" id="{75E188B4-D980-A390-53A3-A80329E87C73}"/>
              </a:ext>
            </a:extLst>
          </p:cNvPr>
          <p:cNvPicPr>
            <a:picLocks noChangeAspect="1"/>
          </p:cNvPicPr>
          <p:nvPr/>
        </p:nvPicPr>
        <p:blipFill>
          <a:blip r:embed="rId3"/>
          <a:stretch>
            <a:fillRect/>
          </a:stretch>
        </p:blipFill>
        <p:spPr>
          <a:xfrm>
            <a:off x="9144000" y="2224293"/>
            <a:ext cx="8939891" cy="6005308"/>
          </a:xfrm>
          <a:prstGeom prst="rect">
            <a:avLst/>
          </a:prstGeom>
        </p:spPr>
      </p:pic>
    </p:spTree>
    <p:extLst>
      <p:ext uri="{BB962C8B-B14F-4D97-AF65-F5344CB8AC3E}">
        <p14:creationId xmlns:p14="http://schemas.microsoft.com/office/powerpoint/2010/main" val="162616599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E4AA9660-7AC6-9B65-57A8-711AE56D4B3D}"/>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4DBEDF11-0178-827A-CF37-07DA1E9EB148}"/>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F1BE0B2F-EF4C-725A-BB0F-693EC2DE75A7}"/>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AC06B755-6A52-D9D8-8BEF-59BF572F6E68}"/>
              </a:ext>
            </a:extLst>
          </p:cNvPr>
          <p:cNvSpPr txBox="1"/>
          <p:nvPr/>
        </p:nvSpPr>
        <p:spPr>
          <a:xfrm>
            <a:off x="1587655" y="705533"/>
            <a:ext cx="7334006" cy="6463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200" b="1" i="0" u="none" strike="noStrike" cap="none" dirty="0">
                <a:solidFill>
                  <a:srgbClr val="FFFFFF"/>
                </a:solidFill>
                <a:latin typeface="Darker Grotesque Medium"/>
                <a:ea typeface="Darker Grotesque Medium"/>
                <a:cs typeface="Darker Grotesque Medium"/>
                <a:sym typeface="Darker Grotesque Medium"/>
              </a:rPr>
              <a:t>What is load balancing?</a:t>
            </a:r>
            <a:endParaRPr b="1" dirty="0">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8869731B-72A3-ACA3-80B7-EA0616164742}"/>
              </a:ext>
            </a:extLst>
          </p:cNvPr>
          <p:cNvSpPr txBox="1"/>
          <p:nvPr/>
        </p:nvSpPr>
        <p:spPr>
          <a:xfrm>
            <a:off x="1587655" y="2021463"/>
            <a:ext cx="8512619" cy="553997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600" i="0" u="none" strike="noStrike" cap="none" dirty="0">
                <a:solidFill>
                  <a:srgbClr val="FFFFFF"/>
                </a:solidFill>
                <a:latin typeface="Darker Grotesque Light"/>
                <a:ea typeface="Darker Grotesque Light"/>
                <a:cs typeface="Darker Grotesque Light"/>
                <a:sym typeface="Darker Grotesque Light"/>
              </a:rPr>
              <a:t>Load balancing is the practice of distributing computational workloads between two or more computers. On the Internet, load balancing is often employed to divide network traffic among several servers. This reduces the strain on each server and makes the servers more efficient, speeding up performance and reducing latency. Load balancing is essential for most Internet applications to function properly.</a:t>
            </a:r>
            <a:endParaRPr lang="en-US" sz="2000" dirty="0">
              <a:latin typeface="Darker Grotesque Light"/>
              <a:ea typeface="Darker Grotesque Light"/>
              <a:cs typeface="Darker Grotesque Light"/>
              <a:sym typeface="Darker Grotesque Light"/>
            </a:endParaRPr>
          </a:p>
        </p:txBody>
      </p:sp>
      <p:sp>
        <p:nvSpPr>
          <p:cNvPr id="4" name="Google Shape;94;p11">
            <a:extLst>
              <a:ext uri="{FF2B5EF4-FFF2-40B4-BE49-F238E27FC236}">
                <a16:creationId xmlns:a16="http://schemas.microsoft.com/office/drawing/2014/main" id="{25693A90-2A33-C506-6F35-BA331399080B}"/>
              </a:ext>
            </a:extLst>
          </p:cNvPr>
          <p:cNvSpPr txBox="1"/>
          <p:nvPr/>
        </p:nvSpPr>
        <p:spPr>
          <a:xfrm>
            <a:off x="10100283" y="8991618"/>
            <a:ext cx="8187717"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FFFFFF"/>
                </a:solidFill>
                <a:latin typeface="Darker Grotesque Medium"/>
                <a:ea typeface="Darker Grotesque Medium"/>
                <a:cs typeface="Darker Grotesque Medium"/>
                <a:sym typeface="Darker Grotesque Medium"/>
              </a:rPr>
              <a:t>https://www.cloudflare.com/learning/performance/what-is-load-balancing/</a:t>
            </a:r>
            <a:endParaRPr lang="en-US" sz="800" b="1" dirty="0">
              <a:latin typeface="Darker Grotesque Medium"/>
              <a:ea typeface="Darker Grotesque Medium"/>
              <a:cs typeface="Darker Grotesque Medium"/>
              <a:sym typeface="Darker Grotesque Medium"/>
            </a:endParaRPr>
          </a:p>
        </p:txBody>
      </p:sp>
      <p:pic>
        <p:nvPicPr>
          <p:cNvPr id="7" name="Picture 6">
            <a:extLst>
              <a:ext uri="{FF2B5EF4-FFF2-40B4-BE49-F238E27FC236}">
                <a16:creationId xmlns:a16="http://schemas.microsoft.com/office/drawing/2014/main" id="{58D8550F-3A6E-BE36-EC88-978289B01B8A}"/>
              </a:ext>
            </a:extLst>
          </p:cNvPr>
          <p:cNvPicPr>
            <a:picLocks noChangeAspect="1"/>
          </p:cNvPicPr>
          <p:nvPr/>
        </p:nvPicPr>
        <p:blipFill>
          <a:blip r:embed="rId3"/>
          <a:stretch>
            <a:fillRect/>
          </a:stretch>
        </p:blipFill>
        <p:spPr>
          <a:xfrm>
            <a:off x="10100274" y="2293958"/>
            <a:ext cx="7854314" cy="5267483"/>
          </a:xfrm>
          <a:prstGeom prst="rect">
            <a:avLst/>
          </a:prstGeom>
        </p:spPr>
      </p:pic>
    </p:spTree>
    <p:extLst>
      <p:ext uri="{BB962C8B-B14F-4D97-AF65-F5344CB8AC3E}">
        <p14:creationId xmlns:p14="http://schemas.microsoft.com/office/powerpoint/2010/main" val="91205252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a:extLst>
            <a:ext uri="{FF2B5EF4-FFF2-40B4-BE49-F238E27FC236}">
              <a16:creationId xmlns:a16="http://schemas.microsoft.com/office/drawing/2014/main" id="{20792BBB-3F16-7A5A-F3F5-669368635307}"/>
            </a:ext>
          </a:extLst>
        </p:cNvPr>
        <p:cNvGrpSpPr/>
        <p:nvPr/>
      </p:nvGrpSpPr>
      <p:grpSpPr>
        <a:xfrm>
          <a:off x="0" y="0"/>
          <a:ext cx="0" cy="0"/>
          <a:chOff x="0" y="0"/>
          <a:chExt cx="0" cy="0"/>
        </a:xfrm>
      </p:grpSpPr>
      <p:sp>
        <p:nvSpPr>
          <p:cNvPr id="42" name="Google Shape;42;p7">
            <a:extLst>
              <a:ext uri="{FF2B5EF4-FFF2-40B4-BE49-F238E27FC236}">
                <a16:creationId xmlns:a16="http://schemas.microsoft.com/office/drawing/2014/main" id="{770FF298-2944-6AFA-535F-122DF27EC514}"/>
              </a:ext>
            </a:extLst>
          </p:cNvPr>
          <p:cNvSpPr txBox="1"/>
          <p:nvPr/>
        </p:nvSpPr>
        <p:spPr>
          <a:xfrm>
            <a:off x="1783744" y="3607130"/>
            <a:ext cx="15475556" cy="1772793"/>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14400" b="0" i="0" u="none" strike="noStrike" cap="none" dirty="0">
                <a:solidFill>
                  <a:srgbClr val="C2F970"/>
                </a:solidFill>
                <a:latin typeface="Darker Grotesque"/>
                <a:ea typeface="Darker Grotesque"/>
                <a:cs typeface="Darker Grotesque"/>
                <a:sym typeface="Darker Grotesque"/>
              </a:rPr>
              <a:t>OLAP and OLTP</a:t>
            </a:r>
            <a:endParaRPr lang="en-US" dirty="0"/>
          </a:p>
        </p:txBody>
      </p:sp>
      <p:cxnSp>
        <p:nvCxnSpPr>
          <p:cNvPr id="44" name="Google Shape;44;p7">
            <a:extLst>
              <a:ext uri="{FF2B5EF4-FFF2-40B4-BE49-F238E27FC236}">
                <a16:creationId xmlns:a16="http://schemas.microsoft.com/office/drawing/2014/main" id="{E42708EA-2093-2E9D-C558-2DD552343CFD}"/>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a:extLst>
              <a:ext uri="{FF2B5EF4-FFF2-40B4-BE49-F238E27FC236}">
                <a16:creationId xmlns:a16="http://schemas.microsoft.com/office/drawing/2014/main" id="{ED0B13DA-95C2-7EBF-8677-F0F9D3818BDC}"/>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extLst>
      <p:ext uri="{BB962C8B-B14F-4D97-AF65-F5344CB8AC3E}">
        <p14:creationId xmlns:p14="http://schemas.microsoft.com/office/powerpoint/2010/main" val="1590493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709893C8-D237-5590-9B00-77A9884EB22F}"/>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B0638A85-E390-E4B7-3280-072021B1E894}"/>
              </a:ext>
            </a:extLst>
          </p:cNvPr>
          <p:cNvCxnSpPr/>
          <p:nvPr/>
        </p:nvCxnSpPr>
        <p:spPr>
          <a:xfrm rot="10800000">
            <a:off x="944336"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A3FE8D29-E19E-4697-E470-C95DC1A61D75}"/>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D4F0060D-03AA-5049-304B-9D089CDF061F}"/>
              </a:ext>
            </a:extLst>
          </p:cNvPr>
          <p:cNvSpPr txBox="1"/>
          <p:nvPr/>
        </p:nvSpPr>
        <p:spPr>
          <a:xfrm>
            <a:off x="1587655" y="1856272"/>
            <a:ext cx="9341602" cy="6463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200" b="1" i="0" u="none" strike="noStrike" cap="none" dirty="0">
                <a:solidFill>
                  <a:srgbClr val="FFFFFF"/>
                </a:solidFill>
                <a:latin typeface="Darker Grotesque Light"/>
                <a:ea typeface="Darker Grotesque Light"/>
                <a:cs typeface="Darker Grotesque Light"/>
                <a:sym typeface="Darker Grotesque Light"/>
              </a:rPr>
              <a:t>OLTP Defined</a:t>
            </a:r>
            <a:endParaRPr sz="4200" b="1" dirty="0">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4AFEA193-20ED-98FC-1726-6C8B45C9F829}"/>
              </a:ext>
            </a:extLst>
          </p:cNvPr>
          <p:cNvSpPr txBox="1"/>
          <p:nvPr/>
        </p:nvSpPr>
        <p:spPr>
          <a:xfrm>
            <a:off x="1587655" y="2979657"/>
            <a:ext cx="16526168" cy="276998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600" i="0" u="none" strike="noStrike" cap="none" dirty="0">
                <a:solidFill>
                  <a:srgbClr val="FFFFFF"/>
                </a:solidFill>
                <a:latin typeface="Darker Grotesque Light"/>
                <a:ea typeface="Darker Grotesque Light"/>
                <a:cs typeface="Darker Grotesque Light"/>
                <a:sym typeface="Darker Grotesque Light"/>
              </a:rPr>
              <a:t>OLTP or Online Transaction Processing is a type of data processing that consists of executing a number of transactions occurring concurrently—online banking, shopping, order entry, or sending text messages, for example. These transactions traditionally are referred to as economic or financial transactions, recorded and secured so that an enterprise can access the information anytime for accounting or reporting purposes.</a:t>
            </a:r>
            <a:endParaRPr lang="en-US" sz="2000" dirty="0">
              <a:latin typeface="Darker Grotesque Light"/>
              <a:ea typeface="Darker Grotesque Light"/>
              <a:cs typeface="Darker Grotesque Light"/>
              <a:sym typeface="Darker Grotesque Light"/>
            </a:endParaRPr>
          </a:p>
        </p:txBody>
      </p:sp>
      <p:sp>
        <p:nvSpPr>
          <p:cNvPr id="4" name="Google Shape;94;p11">
            <a:extLst>
              <a:ext uri="{FF2B5EF4-FFF2-40B4-BE49-F238E27FC236}">
                <a16:creationId xmlns:a16="http://schemas.microsoft.com/office/drawing/2014/main" id="{1D310373-B33A-E9F7-3ED7-ADA39206ABE3}"/>
              </a:ext>
            </a:extLst>
          </p:cNvPr>
          <p:cNvSpPr txBox="1"/>
          <p:nvPr/>
        </p:nvSpPr>
        <p:spPr>
          <a:xfrm>
            <a:off x="12538693" y="8948066"/>
            <a:ext cx="5749307" cy="31023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FFFFFF"/>
                </a:solidFill>
                <a:latin typeface="Darker Grotesque Medium"/>
                <a:ea typeface="Darker Grotesque Medium"/>
                <a:cs typeface="Darker Grotesque Medium"/>
                <a:sym typeface="Darker Grotesque Medium"/>
              </a:rPr>
              <a:t>https://www.oracle.com/ph/database/what-is-oltp/</a:t>
            </a:r>
            <a:endParaRPr lang="en-US" sz="800" b="1" dirty="0">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305969835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8E06829E-01FB-4C56-3373-E67E73C984BA}"/>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352EBED9-8954-BFCF-EE94-247E933F4148}"/>
              </a:ext>
            </a:extLst>
          </p:cNvPr>
          <p:cNvCxnSpPr/>
          <p:nvPr/>
        </p:nvCxnSpPr>
        <p:spPr>
          <a:xfrm rot="10800000">
            <a:off x="944336"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9BCA5DD2-CC3B-016D-663C-9681F4514FFA}"/>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82480665-93B6-3A64-61F6-017814C15D83}"/>
              </a:ext>
            </a:extLst>
          </p:cNvPr>
          <p:cNvSpPr txBox="1"/>
          <p:nvPr/>
        </p:nvSpPr>
        <p:spPr>
          <a:xfrm>
            <a:off x="1587655" y="1993234"/>
            <a:ext cx="9232740" cy="6463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200" b="1" i="0" u="none" strike="noStrike" cap="none" dirty="0">
                <a:solidFill>
                  <a:srgbClr val="FFFFFF"/>
                </a:solidFill>
                <a:latin typeface="Darker Grotesque Light"/>
                <a:ea typeface="Darker Grotesque Light"/>
                <a:cs typeface="Darker Grotesque Light"/>
                <a:sym typeface="Darker Grotesque Light"/>
              </a:rPr>
              <a:t>What is OLAP?</a:t>
            </a:r>
            <a:endParaRPr sz="4200" b="1" dirty="0">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024502E6-99E0-B200-B8C5-5E124F352208}"/>
              </a:ext>
            </a:extLst>
          </p:cNvPr>
          <p:cNvSpPr txBox="1"/>
          <p:nvPr/>
        </p:nvSpPr>
        <p:spPr>
          <a:xfrm>
            <a:off x="1587655" y="3496818"/>
            <a:ext cx="11018002" cy="276998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600" i="0" u="none" strike="noStrike" cap="none" dirty="0">
                <a:solidFill>
                  <a:srgbClr val="FFFFFF"/>
                </a:solidFill>
                <a:latin typeface="Darker Grotesque Light"/>
                <a:ea typeface="Darker Grotesque Light"/>
                <a:cs typeface="Darker Grotesque Light"/>
                <a:sym typeface="Darker Grotesque Light"/>
              </a:rPr>
              <a:t>Online analytical processing (OLAP) is software technology you can use to analyze business data from different points of view. Organizations collect and store data from multiple data sources, such as websites, applications, smart meters, and internal systems. (ex. Amazon Redshift, Snowflake)</a:t>
            </a:r>
            <a:endParaRPr lang="en-US" sz="2000" dirty="0">
              <a:latin typeface="Darker Grotesque Light"/>
              <a:ea typeface="Darker Grotesque Light"/>
              <a:cs typeface="Darker Grotesque Light"/>
              <a:sym typeface="Darker Grotesque Light"/>
            </a:endParaRPr>
          </a:p>
        </p:txBody>
      </p:sp>
      <p:sp>
        <p:nvSpPr>
          <p:cNvPr id="4" name="Google Shape;94;p11">
            <a:extLst>
              <a:ext uri="{FF2B5EF4-FFF2-40B4-BE49-F238E27FC236}">
                <a16:creationId xmlns:a16="http://schemas.microsoft.com/office/drawing/2014/main" id="{0B3B4DD8-BF57-D1D4-0B48-9A2E94F21D15}"/>
              </a:ext>
            </a:extLst>
          </p:cNvPr>
          <p:cNvSpPr txBox="1"/>
          <p:nvPr/>
        </p:nvSpPr>
        <p:spPr>
          <a:xfrm>
            <a:off x="13888512" y="8846823"/>
            <a:ext cx="4399484"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FFFFFF"/>
                </a:solidFill>
                <a:latin typeface="Darker Grotesque Medium"/>
                <a:ea typeface="Darker Grotesque Medium"/>
                <a:cs typeface="Darker Grotesque Medium"/>
                <a:sym typeface="Darker Grotesque Medium"/>
              </a:rPr>
              <a:t>https://aws.amazon.com/what-is/olap/</a:t>
            </a:r>
            <a:endParaRPr lang="en-US" sz="800" b="1" dirty="0">
              <a:latin typeface="Darker Grotesque Medium"/>
              <a:ea typeface="Darker Grotesque Medium"/>
              <a:cs typeface="Darker Grotesque Medium"/>
              <a:sym typeface="Darker Grotesque Medium"/>
            </a:endParaRPr>
          </a:p>
        </p:txBody>
      </p:sp>
      <p:pic>
        <p:nvPicPr>
          <p:cNvPr id="2050" name="Picture 2" descr="Sad Olaf Meme Generator - Imgflip">
            <a:extLst>
              <a:ext uri="{FF2B5EF4-FFF2-40B4-BE49-F238E27FC236}">
                <a16:creationId xmlns:a16="http://schemas.microsoft.com/office/drawing/2014/main" id="{60244CC4-F76D-7547-491D-D592F9B67B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43240" y="1950957"/>
            <a:ext cx="4874022" cy="4699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111443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B2D6CC0D-3BBC-5975-11CB-FF3523F97E60}"/>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DCAE7BFC-72A7-0019-32F8-9F6E9593ED98}"/>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564DC7E9-D1E9-39FB-81F1-B32E63BD1E11}"/>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3074" name="Picture 2" descr="GitHub - duckdb/duckdb-r: The duckdb R package">
            <a:extLst>
              <a:ext uri="{FF2B5EF4-FFF2-40B4-BE49-F238E27FC236}">
                <a16:creationId xmlns:a16="http://schemas.microsoft.com/office/drawing/2014/main" id="{B7C21490-5FCB-05CC-B35C-5FEF51BCA4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5584" y="1690014"/>
            <a:ext cx="9700426" cy="27649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09F052C2-E66A-FA52-7B2E-74C0556F9A78}"/>
              </a:ext>
            </a:extLst>
          </p:cNvPr>
          <p:cNvPicPr>
            <a:picLocks noChangeAspect="1"/>
          </p:cNvPicPr>
          <p:nvPr/>
        </p:nvPicPr>
        <p:blipFill>
          <a:blip r:embed="rId4"/>
          <a:stretch>
            <a:fillRect/>
          </a:stretch>
        </p:blipFill>
        <p:spPr>
          <a:xfrm>
            <a:off x="1979535" y="4969331"/>
            <a:ext cx="16021901" cy="3260270"/>
          </a:xfrm>
          <a:prstGeom prst="rect">
            <a:avLst/>
          </a:prstGeom>
        </p:spPr>
      </p:pic>
    </p:spTree>
    <p:extLst>
      <p:ext uri="{BB962C8B-B14F-4D97-AF65-F5344CB8AC3E}">
        <p14:creationId xmlns:p14="http://schemas.microsoft.com/office/powerpoint/2010/main" val="228492971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97DE887C-637A-9B8A-91EF-1715A0646F06}"/>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21CBC2AF-6F98-0827-8ADD-5438BDF7981A}"/>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EED824B2-FA37-2845-D05A-073E0F078B36}"/>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8" name="Picture 7">
            <a:extLst>
              <a:ext uri="{FF2B5EF4-FFF2-40B4-BE49-F238E27FC236}">
                <a16:creationId xmlns:a16="http://schemas.microsoft.com/office/drawing/2014/main" id="{FDE53E8E-7D37-BAAE-6C5B-02FD1C89755A}"/>
              </a:ext>
            </a:extLst>
          </p:cNvPr>
          <p:cNvPicPr>
            <a:picLocks noChangeAspect="1"/>
          </p:cNvPicPr>
          <p:nvPr/>
        </p:nvPicPr>
        <p:blipFill>
          <a:blip r:embed="rId3"/>
          <a:stretch>
            <a:fillRect/>
          </a:stretch>
        </p:blipFill>
        <p:spPr>
          <a:xfrm>
            <a:off x="3436160" y="1968048"/>
            <a:ext cx="12173952" cy="5978522"/>
          </a:xfrm>
          <a:prstGeom prst="rect">
            <a:avLst/>
          </a:prstGeom>
        </p:spPr>
      </p:pic>
    </p:spTree>
    <p:extLst>
      <p:ext uri="{BB962C8B-B14F-4D97-AF65-F5344CB8AC3E}">
        <p14:creationId xmlns:p14="http://schemas.microsoft.com/office/powerpoint/2010/main" val="133210147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A693BEB2-0566-4877-8E6D-88734E5FD79C}"/>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ADE02F13-3F32-186B-6F7D-572BD83BA30B}"/>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A439984B-E7CC-EB6C-53AA-CA95CE3AEAF6}"/>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3" name="Picture 2">
            <a:extLst>
              <a:ext uri="{FF2B5EF4-FFF2-40B4-BE49-F238E27FC236}">
                <a16:creationId xmlns:a16="http://schemas.microsoft.com/office/drawing/2014/main" id="{D5071DE7-4A1C-59EE-BF97-006C152A323E}"/>
              </a:ext>
            </a:extLst>
          </p:cNvPr>
          <p:cNvPicPr>
            <a:picLocks noChangeAspect="1"/>
          </p:cNvPicPr>
          <p:nvPr/>
        </p:nvPicPr>
        <p:blipFill>
          <a:blip r:embed="rId3"/>
          <a:stretch>
            <a:fillRect/>
          </a:stretch>
        </p:blipFill>
        <p:spPr>
          <a:xfrm>
            <a:off x="1701519" y="4514266"/>
            <a:ext cx="11870914" cy="1258467"/>
          </a:xfrm>
          <a:prstGeom prst="rect">
            <a:avLst/>
          </a:prstGeom>
        </p:spPr>
      </p:pic>
      <p:pic>
        <p:nvPicPr>
          <p:cNvPr id="5" name="Picture 4">
            <a:extLst>
              <a:ext uri="{FF2B5EF4-FFF2-40B4-BE49-F238E27FC236}">
                <a16:creationId xmlns:a16="http://schemas.microsoft.com/office/drawing/2014/main" id="{1BCC9E54-5C44-CBD3-998D-A2326C0A7D23}"/>
              </a:ext>
            </a:extLst>
          </p:cNvPr>
          <p:cNvPicPr>
            <a:picLocks noChangeAspect="1"/>
          </p:cNvPicPr>
          <p:nvPr/>
        </p:nvPicPr>
        <p:blipFill>
          <a:blip r:embed="rId4"/>
          <a:stretch>
            <a:fillRect/>
          </a:stretch>
        </p:blipFill>
        <p:spPr>
          <a:xfrm>
            <a:off x="1701519" y="635110"/>
            <a:ext cx="12800607" cy="3523227"/>
          </a:xfrm>
          <a:prstGeom prst="rect">
            <a:avLst/>
          </a:prstGeom>
        </p:spPr>
      </p:pic>
      <p:pic>
        <p:nvPicPr>
          <p:cNvPr id="7" name="Picture 6">
            <a:extLst>
              <a:ext uri="{FF2B5EF4-FFF2-40B4-BE49-F238E27FC236}">
                <a16:creationId xmlns:a16="http://schemas.microsoft.com/office/drawing/2014/main" id="{8B2028CE-138A-0CAA-23AF-081210F516C9}"/>
              </a:ext>
            </a:extLst>
          </p:cNvPr>
          <p:cNvPicPr>
            <a:picLocks noChangeAspect="1"/>
          </p:cNvPicPr>
          <p:nvPr/>
        </p:nvPicPr>
        <p:blipFill>
          <a:blip r:embed="rId5"/>
          <a:stretch>
            <a:fillRect/>
          </a:stretch>
        </p:blipFill>
        <p:spPr>
          <a:xfrm>
            <a:off x="1701519" y="6128662"/>
            <a:ext cx="8438482" cy="2875334"/>
          </a:xfrm>
          <a:prstGeom prst="rect">
            <a:avLst/>
          </a:prstGeom>
        </p:spPr>
      </p:pic>
    </p:spTree>
    <p:extLst>
      <p:ext uri="{BB962C8B-B14F-4D97-AF65-F5344CB8AC3E}">
        <p14:creationId xmlns:p14="http://schemas.microsoft.com/office/powerpoint/2010/main" val="321109602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C4C44DE2-1E19-82ED-D448-DC6CAE1E1499}"/>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AA0D0AE7-4D55-C5D9-EB40-F2D63AAFF04A}"/>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7126AF44-80C9-8345-D37A-523EBF8FA681}"/>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4" name="Picture 3">
            <a:extLst>
              <a:ext uri="{FF2B5EF4-FFF2-40B4-BE49-F238E27FC236}">
                <a16:creationId xmlns:a16="http://schemas.microsoft.com/office/drawing/2014/main" id="{1DDCF415-6531-E60D-2A9D-D3054F385F1C}"/>
              </a:ext>
            </a:extLst>
          </p:cNvPr>
          <p:cNvPicPr>
            <a:picLocks noChangeAspect="1"/>
          </p:cNvPicPr>
          <p:nvPr/>
        </p:nvPicPr>
        <p:blipFill>
          <a:blip r:embed="rId3"/>
          <a:stretch>
            <a:fillRect/>
          </a:stretch>
        </p:blipFill>
        <p:spPr>
          <a:xfrm>
            <a:off x="1278608" y="139045"/>
            <a:ext cx="6641915" cy="5248640"/>
          </a:xfrm>
          <a:prstGeom prst="rect">
            <a:avLst/>
          </a:prstGeom>
        </p:spPr>
      </p:pic>
      <p:pic>
        <p:nvPicPr>
          <p:cNvPr id="8" name="Picture 7">
            <a:extLst>
              <a:ext uri="{FF2B5EF4-FFF2-40B4-BE49-F238E27FC236}">
                <a16:creationId xmlns:a16="http://schemas.microsoft.com/office/drawing/2014/main" id="{DFC49CF0-23CC-1881-FC0F-08A64DB527DD}"/>
              </a:ext>
            </a:extLst>
          </p:cNvPr>
          <p:cNvPicPr>
            <a:picLocks noChangeAspect="1"/>
          </p:cNvPicPr>
          <p:nvPr/>
        </p:nvPicPr>
        <p:blipFill>
          <a:blip r:embed="rId4"/>
          <a:stretch>
            <a:fillRect/>
          </a:stretch>
        </p:blipFill>
        <p:spPr>
          <a:xfrm>
            <a:off x="8052197" y="256198"/>
            <a:ext cx="6563641" cy="5239481"/>
          </a:xfrm>
          <a:prstGeom prst="rect">
            <a:avLst/>
          </a:prstGeom>
        </p:spPr>
      </p:pic>
      <p:pic>
        <p:nvPicPr>
          <p:cNvPr id="10" name="Picture 9">
            <a:extLst>
              <a:ext uri="{FF2B5EF4-FFF2-40B4-BE49-F238E27FC236}">
                <a16:creationId xmlns:a16="http://schemas.microsoft.com/office/drawing/2014/main" id="{266FEC71-77D3-D5F5-639A-D56868EC8FC2}"/>
              </a:ext>
            </a:extLst>
          </p:cNvPr>
          <p:cNvPicPr>
            <a:picLocks noChangeAspect="1"/>
          </p:cNvPicPr>
          <p:nvPr/>
        </p:nvPicPr>
        <p:blipFill>
          <a:blip r:embed="rId5"/>
          <a:stretch>
            <a:fillRect/>
          </a:stretch>
        </p:blipFill>
        <p:spPr>
          <a:xfrm>
            <a:off x="1361188" y="7682936"/>
            <a:ext cx="13656584" cy="2109044"/>
          </a:xfrm>
          <a:prstGeom prst="rect">
            <a:avLst/>
          </a:prstGeom>
        </p:spPr>
      </p:pic>
      <p:pic>
        <p:nvPicPr>
          <p:cNvPr id="12" name="Picture 11">
            <a:extLst>
              <a:ext uri="{FF2B5EF4-FFF2-40B4-BE49-F238E27FC236}">
                <a16:creationId xmlns:a16="http://schemas.microsoft.com/office/drawing/2014/main" id="{51E4A027-B994-6761-1C4A-279D23646CBB}"/>
              </a:ext>
            </a:extLst>
          </p:cNvPr>
          <p:cNvPicPr>
            <a:picLocks noChangeAspect="1"/>
          </p:cNvPicPr>
          <p:nvPr/>
        </p:nvPicPr>
        <p:blipFill>
          <a:blip r:embed="rId6"/>
          <a:stretch>
            <a:fillRect/>
          </a:stretch>
        </p:blipFill>
        <p:spPr>
          <a:xfrm>
            <a:off x="1361188" y="5450149"/>
            <a:ext cx="6631540" cy="2170323"/>
          </a:xfrm>
          <a:prstGeom prst="rect">
            <a:avLst/>
          </a:prstGeom>
        </p:spPr>
      </p:pic>
    </p:spTree>
    <p:extLst>
      <p:ext uri="{BB962C8B-B14F-4D97-AF65-F5344CB8AC3E}">
        <p14:creationId xmlns:p14="http://schemas.microsoft.com/office/powerpoint/2010/main" val="382346134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4C8AE4A9-9B7E-BC13-0F98-83661952734F}"/>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3013F001-7E7D-B4AB-C44B-4E662FE68F58}"/>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6F2BF25B-56E1-118C-1A55-3A42AAE013A3}"/>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3" name="Picture 2">
            <a:extLst>
              <a:ext uri="{FF2B5EF4-FFF2-40B4-BE49-F238E27FC236}">
                <a16:creationId xmlns:a16="http://schemas.microsoft.com/office/drawing/2014/main" id="{DC1FDFE3-5EAD-2F00-9169-74387D70F710}"/>
              </a:ext>
            </a:extLst>
          </p:cNvPr>
          <p:cNvPicPr>
            <a:picLocks noChangeAspect="1"/>
          </p:cNvPicPr>
          <p:nvPr/>
        </p:nvPicPr>
        <p:blipFill>
          <a:blip r:embed="rId3"/>
          <a:stretch>
            <a:fillRect/>
          </a:stretch>
        </p:blipFill>
        <p:spPr>
          <a:xfrm>
            <a:off x="1042346" y="1197434"/>
            <a:ext cx="16907797" cy="7576448"/>
          </a:xfrm>
          <a:prstGeom prst="rect">
            <a:avLst/>
          </a:prstGeom>
        </p:spPr>
      </p:pic>
    </p:spTree>
    <p:extLst>
      <p:ext uri="{BB962C8B-B14F-4D97-AF65-F5344CB8AC3E}">
        <p14:creationId xmlns:p14="http://schemas.microsoft.com/office/powerpoint/2010/main" val="390350516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262"/>
        <p:cNvGrpSpPr/>
        <p:nvPr/>
      </p:nvGrpSpPr>
      <p:grpSpPr>
        <a:xfrm>
          <a:off x="0" y="0"/>
          <a:ext cx="0" cy="0"/>
          <a:chOff x="0" y="0"/>
          <a:chExt cx="0" cy="0"/>
        </a:xfrm>
      </p:grpSpPr>
      <p:sp>
        <p:nvSpPr>
          <p:cNvPr id="263" name="Google Shape;263;p22"/>
          <p:cNvSpPr txBox="1"/>
          <p:nvPr/>
        </p:nvSpPr>
        <p:spPr>
          <a:xfrm>
            <a:off x="2521274" y="3743658"/>
            <a:ext cx="14274300" cy="2585323"/>
          </a:xfrm>
          <a:prstGeom prst="rect">
            <a:avLst/>
          </a:prstGeom>
          <a:noFill/>
          <a:ln>
            <a:noFill/>
          </a:ln>
        </p:spPr>
        <p:txBody>
          <a:bodyPr spcFirstLastPara="1" wrap="square" lIns="0" tIns="0" rIns="0" bIns="0" anchor="t" anchorCtr="0">
            <a:spAutoFit/>
          </a:bodyPr>
          <a:lstStyle/>
          <a:p>
            <a:pPr marL="0" marR="0" lvl="1" indent="0" algn="ctr" rtl="0">
              <a:lnSpc>
                <a:spcPct val="70000"/>
              </a:lnSpc>
              <a:spcBef>
                <a:spcPts val="0"/>
              </a:spcBef>
              <a:spcAft>
                <a:spcPts val="0"/>
              </a:spcAft>
              <a:buNone/>
            </a:pPr>
            <a:r>
              <a:rPr lang="en-US" sz="8000" dirty="0">
                <a:solidFill>
                  <a:srgbClr val="C2F970"/>
                </a:solidFill>
                <a:latin typeface="Darker Grotesque Medium"/>
                <a:ea typeface="Darker Grotesque Medium"/>
                <a:cs typeface="Darker Grotesque Medium"/>
                <a:sym typeface="Darker Grotesque Medium"/>
              </a:rPr>
              <a:t>“The only limit to our realization of tomorrow will be our doubts of today.”</a:t>
            </a:r>
            <a:endParaRPr dirty="0">
              <a:latin typeface="Darker Grotesque Medium"/>
              <a:ea typeface="Darker Grotesque Medium"/>
              <a:cs typeface="Darker Grotesque Medium"/>
              <a:sym typeface="Darker Grotesque Medium"/>
            </a:endParaRPr>
          </a:p>
        </p:txBody>
      </p:sp>
      <p:sp>
        <p:nvSpPr>
          <p:cNvPr id="264" name="Google Shape;264;p22"/>
          <p:cNvSpPr txBox="1"/>
          <p:nvPr/>
        </p:nvSpPr>
        <p:spPr>
          <a:xfrm>
            <a:off x="1028756" y="6326265"/>
            <a:ext cx="17259300" cy="51706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800" b="0" i="0" u="none" strike="noStrike" cap="none" dirty="0">
                <a:solidFill>
                  <a:srgbClr val="FFFFFF"/>
                </a:solidFill>
                <a:latin typeface="Darker Grotesque"/>
                <a:ea typeface="Darker Grotesque"/>
                <a:cs typeface="Darker Grotesque"/>
                <a:sym typeface="Darker Grotesque"/>
              </a:rPr>
              <a:t>— Franklin D. Roosevelt</a:t>
            </a:r>
            <a:endParaRPr lang="en-US" dirty="0"/>
          </a:p>
        </p:txBody>
      </p:sp>
      <p:sp>
        <p:nvSpPr>
          <p:cNvPr id="265" name="Google Shape;265;p22"/>
          <p:cNvSpPr txBox="1"/>
          <p:nvPr/>
        </p:nvSpPr>
        <p:spPr>
          <a:xfrm>
            <a:off x="8246756" y="2381637"/>
            <a:ext cx="2823300" cy="2315100"/>
          </a:xfrm>
          <a:prstGeom prst="rect">
            <a:avLst/>
          </a:prstGeom>
          <a:noFill/>
          <a:ln>
            <a:noFill/>
          </a:ln>
        </p:spPr>
        <p:txBody>
          <a:bodyPr spcFirstLastPara="1" wrap="square" lIns="0" tIns="0" rIns="0" bIns="0" anchor="t" anchorCtr="0">
            <a:spAutoFit/>
          </a:bodyPr>
          <a:lstStyle/>
          <a:p>
            <a:pPr marL="0" marR="0" lvl="1" indent="0" algn="ctr" rtl="0">
              <a:lnSpc>
                <a:spcPct val="70000"/>
              </a:lnSpc>
              <a:spcBef>
                <a:spcPts val="0"/>
              </a:spcBef>
              <a:spcAft>
                <a:spcPts val="0"/>
              </a:spcAft>
              <a:buNone/>
            </a:pPr>
            <a:r>
              <a:rPr lang="en-US" sz="21486" i="0" u="none" strike="noStrike" cap="none" dirty="0">
                <a:solidFill>
                  <a:srgbClr val="C2F970"/>
                </a:solidFill>
                <a:latin typeface="Darker Grotesque Medium"/>
                <a:ea typeface="Darker Grotesque Medium"/>
                <a:cs typeface="Darker Grotesque Medium"/>
                <a:sym typeface="Darker Grotesque Medium"/>
              </a:rPr>
              <a:t>“</a:t>
            </a:r>
            <a:endParaRPr dirty="0">
              <a:latin typeface="Darker Grotesque Medium"/>
              <a:ea typeface="Darker Grotesque Medium"/>
              <a:cs typeface="Darker Grotesque Medium"/>
              <a:sym typeface="Darker Grotesque Medium"/>
            </a:endParaRPr>
          </a:p>
        </p:txBody>
      </p:sp>
      <p:cxnSp>
        <p:nvCxnSpPr>
          <p:cNvPr id="266" name="Google Shape;266;p22"/>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267" name="Google Shape;267;p22"/>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transition>
    <p:fade/>
  </p:transition>
</p:sld>
</file>

<file path=ppt/theme/theme1.xml><?xml version="1.0" encoding="utf-8"?>
<a:theme xmlns:a="http://schemas.openxmlformats.org/drawingml/2006/main" name="Bold Minimal E-Commer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TotalTime>
  <Words>447</Words>
  <Application>Microsoft Office PowerPoint</Application>
  <PresentationFormat>Custom</PresentationFormat>
  <Paragraphs>23</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Darker Grotesque</vt:lpstr>
      <vt:lpstr>Darker Grotesque Light</vt:lpstr>
      <vt:lpstr>Darker Grotesque Medium</vt:lpstr>
      <vt:lpstr>Bold Minimal E-Commerce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Administrator</dc:creator>
  <cp:lastModifiedBy>Administrator</cp:lastModifiedBy>
  <cp:revision>2</cp:revision>
  <dcterms:modified xsi:type="dcterms:W3CDTF">2025-04-23T08:44:20Z</dcterms:modified>
</cp:coreProperties>
</file>