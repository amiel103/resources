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3" r:id="rId1"/>
  </p:sldMasterIdLst>
  <p:notesMasterIdLst>
    <p:notesMasterId r:id="rId14"/>
  </p:notesMasterIdLst>
  <p:sldIdLst>
    <p:sldId id="284" r:id="rId2"/>
    <p:sldId id="300" r:id="rId3"/>
    <p:sldId id="301" r:id="rId4"/>
    <p:sldId id="302" r:id="rId5"/>
    <p:sldId id="303" r:id="rId6"/>
    <p:sldId id="295" r:id="rId7"/>
    <p:sldId id="297" r:id="rId8"/>
    <p:sldId id="304" r:id="rId9"/>
    <p:sldId id="305" r:id="rId10"/>
    <p:sldId id="306" r:id="rId11"/>
    <p:sldId id="307" r:id="rId12"/>
    <p:sldId id="308" r:id="rId13"/>
  </p:sldIdLst>
  <p:sldSz cx="18288000" cy="10287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78" autoAdjust="0"/>
    <p:restoredTop sz="94660"/>
  </p:normalViewPr>
  <p:slideViewPr>
    <p:cSldViewPr snapToGrid="0">
      <p:cViewPr varScale="1">
        <p:scale>
          <a:sx n="71" d="100"/>
          <a:sy n="71" d="100"/>
        </p:scale>
        <p:origin x="708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">
          <a:extLst>
            <a:ext uri="{FF2B5EF4-FFF2-40B4-BE49-F238E27FC236}">
              <a16:creationId xmlns:a16="http://schemas.microsoft.com/office/drawing/2014/main" id="{BC971ACD-0217-9F0F-FBDC-88E59D8A2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:notes">
            <a:extLst>
              <a:ext uri="{FF2B5EF4-FFF2-40B4-BE49-F238E27FC236}">
                <a16:creationId xmlns:a16="http://schemas.microsoft.com/office/drawing/2014/main" id="{067A9E9E-852A-48F7-5028-33188F3053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1:notes">
            <a:extLst>
              <a:ext uri="{FF2B5EF4-FFF2-40B4-BE49-F238E27FC236}">
                <a16:creationId xmlns:a16="http://schemas.microsoft.com/office/drawing/2014/main" id="{6ED40645-ECDA-CED8-F68E-DBDEABDF90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493158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">
          <a:extLst>
            <a:ext uri="{FF2B5EF4-FFF2-40B4-BE49-F238E27FC236}">
              <a16:creationId xmlns:a16="http://schemas.microsoft.com/office/drawing/2014/main" id="{28BC52B6-04F4-A48A-0E44-F09204E568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:notes">
            <a:extLst>
              <a:ext uri="{FF2B5EF4-FFF2-40B4-BE49-F238E27FC236}">
                <a16:creationId xmlns:a16="http://schemas.microsoft.com/office/drawing/2014/main" id="{F4497FA4-4880-0274-F575-4A69BC3C3C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1:notes">
            <a:extLst>
              <a:ext uri="{FF2B5EF4-FFF2-40B4-BE49-F238E27FC236}">
                <a16:creationId xmlns:a16="http://schemas.microsoft.com/office/drawing/2014/main" id="{4AD3C921-E71D-2590-9B17-B315F0FF56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757760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">
          <a:extLst>
            <a:ext uri="{FF2B5EF4-FFF2-40B4-BE49-F238E27FC236}">
              <a16:creationId xmlns:a16="http://schemas.microsoft.com/office/drawing/2014/main" id="{3C464E3C-ED04-F223-C760-7A494CDCB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:notes">
            <a:extLst>
              <a:ext uri="{FF2B5EF4-FFF2-40B4-BE49-F238E27FC236}">
                <a16:creationId xmlns:a16="http://schemas.microsoft.com/office/drawing/2014/main" id="{E2228CC6-861D-DC44-41E0-304A88D148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1:notes">
            <a:extLst>
              <a:ext uri="{FF2B5EF4-FFF2-40B4-BE49-F238E27FC236}">
                <a16:creationId xmlns:a16="http://schemas.microsoft.com/office/drawing/2014/main" id="{701034D0-6E00-1137-40BF-0DC555CBC0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516704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">
          <a:extLst>
            <a:ext uri="{FF2B5EF4-FFF2-40B4-BE49-F238E27FC236}">
              <a16:creationId xmlns:a16="http://schemas.microsoft.com/office/drawing/2014/main" id="{D1B1655B-691B-D5D0-4582-28E988DF9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:notes">
            <a:extLst>
              <a:ext uri="{FF2B5EF4-FFF2-40B4-BE49-F238E27FC236}">
                <a16:creationId xmlns:a16="http://schemas.microsoft.com/office/drawing/2014/main" id="{3888D604-DC01-47DD-A6BE-0F9FDC6516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1:notes">
            <a:extLst>
              <a:ext uri="{FF2B5EF4-FFF2-40B4-BE49-F238E27FC236}">
                <a16:creationId xmlns:a16="http://schemas.microsoft.com/office/drawing/2014/main" id="{DA44F790-0E8A-4C47-1F79-B153C9FD1E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966319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">
          <a:extLst>
            <a:ext uri="{FF2B5EF4-FFF2-40B4-BE49-F238E27FC236}">
              <a16:creationId xmlns:a16="http://schemas.microsoft.com/office/drawing/2014/main" id="{5642A1A7-4F47-55B5-AC18-BF4DF9DEE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:notes">
            <a:extLst>
              <a:ext uri="{FF2B5EF4-FFF2-40B4-BE49-F238E27FC236}">
                <a16:creationId xmlns:a16="http://schemas.microsoft.com/office/drawing/2014/main" id="{93444795-8788-41A6-D338-184A5504D3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1:notes">
            <a:extLst>
              <a:ext uri="{FF2B5EF4-FFF2-40B4-BE49-F238E27FC236}">
                <a16:creationId xmlns:a16="http://schemas.microsoft.com/office/drawing/2014/main" id="{4D139C51-AEA1-5EB8-D147-1FD136A59E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249745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">
          <a:extLst>
            <a:ext uri="{FF2B5EF4-FFF2-40B4-BE49-F238E27FC236}">
              <a16:creationId xmlns:a16="http://schemas.microsoft.com/office/drawing/2014/main" id="{7E357560-E7C4-6750-2F99-CAB1A7846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:notes">
            <a:extLst>
              <a:ext uri="{FF2B5EF4-FFF2-40B4-BE49-F238E27FC236}">
                <a16:creationId xmlns:a16="http://schemas.microsoft.com/office/drawing/2014/main" id="{5E735899-0593-4338-E2AF-2D81D064D9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1:notes">
            <a:extLst>
              <a:ext uri="{FF2B5EF4-FFF2-40B4-BE49-F238E27FC236}">
                <a16:creationId xmlns:a16="http://schemas.microsoft.com/office/drawing/2014/main" id="{3466DA99-D49A-C8A9-B93B-2A113C73EF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649307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">
          <a:extLst>
            <a:ext uri="{FF2B5EF4-FFF2-40B4-BE49-F238E27FC236}">
              <a16:creationId xmlns:a16="http://schemas.microsoft.com/office/drawing/2014/main" id="{2E03CAA2-3487-350D-A020-E4777147F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:notes">
            <a:extLst>
              <a:ext uri="{FF2B5EF4-FFF2-40B4-BE49-F238E27FC236}">
                <a16:creationId xmlns:a16="http://schemas.microsoft.com/office/drawing/2014/main" id="{49B5E69D-FF67-6708-1C40-7428B921C2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1:notes">
            <a:extLst>
              <a:ext uri="{FF2B5EF4-FFF2-40B4-BE49-F238E27FC236}">
                <a16:creationId xmlns:a16="http://schemas.microsoft.com/office/drawing/2014/main" id="{E589395F-BE86-DE28-C1DF-6E1E607BBD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340896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">
          <a:extLst>
            <a:ext uri="{FF2B5EF4-FFF2-40B4-BE49-F238E27FC236}">
              <a16:creationId xmlns:a16="http://schemas.microsoft.com/office/drawing/2014/main" id="{9E09163C-1EA1-C5F4-1B22-4C7851498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:notes">
            <a:extLst>
              <a:ext uri="{FF2B5EF4-FFF2-40B4-BE49-F238E27FC236}">
                <a16:creationId xmlns:a16="http://schemas.microsoft.com/office/drawing/2014/main" id="{F9685A46-19D7-5544-2F8F-13BF335F5F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1:notes">
            <a:extLst>
              <a:ext uri="{FF2B5EF4-FFF2-40B4-BE49-F238E27FC236}">
                <a16:creationId xmlns:a16="http://schemas.microsoft.com/office/drawing/2014/main" id="{55113C22-2B3E-5EC3-05AB-E4B26E3831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980756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">
          <a:extLst>
            <a:ext uri="{FF2B5EF4-FFF2-40B4-BE49-F238E27FC236}">
              <a16:creationId xmlns:a16="http://schemas.microsoft.com/office/drawing/2014/main" id="{733498C0-033A-14E0-83F6-76C6AF60F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:notes">
            <a:extLst>
              <a:ext uri="{FF2B5EF4-FFF2-40B4-BE49-F238E27FC236}">
                <a16:creationId xmlns:a16="http://schemas.microsoft.com/office/drawing/2014/main" id="{96F6F06E-6988-6795-2552-3B6DDE6804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1:notes">
            <a:extLst>
              <a:ext uri="{FF2B5EF4-FFF2-40B4-BE49-F238E27FC236}">
                <a16:creationId xmlns:a16="http://schemas.microsoft.com/office/drawing/2014/main" id="{C37145EB-B4FA-EB3B-11CD-6ECEEE09E9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507275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">
          <a:extLst>
            <a:ext uri="{FF2B5EF4-FFF2-40B4-BE49-F238E27FC236}">
              <a16:creationId xmlns:a16="http://schemas.microsoft.com/office/drawing/2014/main" id="{083EBEEB-DFC8-DEBA-4B66-929F1A9F8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:notes">
            <a:extLst>
              <a:ext uri="{FF2B5EF4-FFF2-40B4-BE49-F238E27FC236}">
                <a16:creationId xmlns:a16="http://schemas.microsoft.com/office/drawing/2014/main" id="{0355F0CD-F97F-0E0B-273E-A12AA85426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1:notes">
            <a:extLst>
              <a:ext uri="{FF2B5EF4-FFF2-40B4-BE49-F238E27FC236}">
                <a16:creationId xmlns:a16="http://schemas.microsoft.com/office/drawing/2014/main" id="{7F646911-3242-2BA9-57B6-91A414298C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16082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">
          <a:extLst>
            <a:ext uri="{FF2B5EF4-FFF2-40B4-BE49-F238E27FC236}">
              <a16:creationId xmlns:a16="http://schemas.microsoft.com/office/drawing/2014/main" id="{245ABD02-AFD2-B478-FFC0-AEFEE9794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:notes">
            <a:extLst>
              <a:ext uri="{FF2B5EF4-FFF2-40B4-BE49-F238E27FC236}">
                <a16:creationId xmlns:a16="http://schemas.microsoft.com/office/drawing/2014/main" id="{950D3AC7-7DDA-6A67-06A3-B5B87B8517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1:notes">
            <a:extLst>
              <a:ext uri="{FF2B5EF4-FFF2-40B4-BE49-F238E27FC236}">
                <a16:creationId xmlns:a16="http://schemas.microsoft.com/office/drawing/2014/main" id="{4D5837A0-6A07-DF60-E1D0-46782B0DDC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380703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">
          <a:extLst>
            <a:ext uri="{FF2B5EF4-FFF2-40B4-BE49-F238E27FC236}">
              <a16:creationId xmlns:a16="http://schemas.microsoft.com/office/drawing/2014/main" id="{990A7F05-F7BA-978B-32F4-7E634253A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:notes">
            <a:extLst>
              <a:ext uri="{FF2B5EF4-FFF2-40B4-BE49-F238E27FC236}">
                <a16:creationId xmlns:a16="http://schemas.microsoft.com/office/drawing/2014/main" id="{C790123D-AE8F-BAA4-22CE-FCE5237B10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1:notes">
            <a:extLst>
              <a:ext uri="{FF2B5EF4-FFF2-40B4-BE49-F238E27FC236}">
                <a16:creationId xmlns:a16="http://schemas.microsoft.com/office/drawing/2014/main" id="{34EA397F-7D59-7E73-409F-F685972FD1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491196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" type="obj">
  <p:cSld name="OBJECT">
    <p:bg>
      <p:bgPr>
        <a:solidFill>
          <a:srgbClr val="C2F970"/>
        </a:solid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1815350" y="6970050"/>
            <a:ext cx="15471000" cy="181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44344F"/>
              </a:buClr>
              <a:buSzPts val="14400"/>
              <a:buNone/>
              <a:defRPr>
                <a:solidFill>
                  <a:srgbClr val="44344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23" name="Google Shape;23;p4"/>
          <p:cNvCxnSpPr/>
          <p:nvPr/>
        </p:nvCxnSpPr>
        <p:spPr>
          <a:xfrm rot="10800000">
            <a:off x="1009650" y="0"/>
            <a:ext cx="0" cy="10287000"/>
          </a:xfrm>
          <a:prstGeom prst="straightConnector1">
            <a:avLst/>
          </a:prstGeom>
          <a:noFill/>
          <a:ln w="38100" cap="flat" cmpd="sng">
            <a:solidFill>
              <a:srgbClr val="44344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4" name="Google Shape;24;p4"/>
          <p:cNvCxnSpPr/>
          <p:nvPr/>
        </p:nvCxnSpPr>
        <p:spPr>
          <a:xfrm rot="10800000">
            <a:off x="0" y="9258300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44344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allery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>
            <a:spLocks noGrp="1"/>
          </p:cNvSpPr>
          <p:nvPr>
            <p:ph type="pic" idx="2"/>
          </p:nvPr>
        </p:nvSpPr>
        <p:spPr>
          <a:xfrm>
            <a:off x="1512800" y="3065925"/>
            <a:ext cx="3735000" cy="5595900"/>
          </a:xfrm>
          <a:prstGeom prst="rect">
            <a:avLst/>
          </a:prstGeom>
          <a:noFill/>
          <a:ln w="1905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" name="Google Shape;27;p5"/>
          <p:cNvSpPr>
            <a:spLocks noGrp="1"/>
          </p:cNvSpPr>
          <p:nvPr>
            <p:ph type="pic" idx="3"/>
          </p:nvPr>
        </p:nvSpPr>
        <p:spPr>
          <a:xfrm>
            <a:off x="5602888" y="3076200"/>
            <a:ext cx="3735000" cy="5595900"/>
          </a:xfrm>
          <a:prstGeom prst="rect">
            <a:avLst/>
          </a:prstGeom>
          <a:noFill/>
          <a:ln w="1905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" name="Google Shape;28;p5"/>
          <p:cNvSpPr>
            <a:spLocks noGrp="1"/>
          </p:cNvSpPr>
          <p:nvPr>
            <p:ph type="pic" idx="4"/>
          </p:nvPr>
        </p:nvSpPr>
        <p:spPr>
          <a:xfrm>
            <a:off x="9717500" y="3071063"/>
            <a:ext cx="3735000" cy="5595900"/>
          </a:xfrm>
          <a:prstGeom prst="rect">
            <a:avLst/>
          </a:prstGeom>
          <a:noFill/>
          <a:ln w="1905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" name="Google Shape;29;p5"/>
          <p:cNvSpPr>
            <a:spLocks noGrp="1"/>
          </p:cNvSpPr>
          <p:nvPr>
            <p:ph type="pic" idx="5"/>
          </p:nvPr>
        </p:nvSpPr>
        <p:spPr>
          <a:xfrm>
            <a:off x="13807588" y="3081338"/>
            <a:ext cx="3735000" cy="5595900"/>
          </a:xfrm>
          <a:prstGeom prst="rect">
            <a:avLst/>
          </a:prstGeom>
          <a:noFill/>
          <a:ln w="1905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sp>
      <p:cxnSp>
        <p:nvCxnSpPr>
          <p:cNvPr id="30" name="Google Shape;30;p5"/>
          <p:cNvCxnSpPr/>
          <p:nvPr/>
        </p:nvCxnSpPr>
        <p:spPr>
          <a:xfrm rot="10800000">
            <a:off x="1009650" y="0"/>
            <a:ext cx="0" cy="1028700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1" name="Google Shape;31;p5"/>
          <p:cNvCxnSpPr/>
          <p:nvPr/>
        </p:nvCxnSpPr>
        <p:spPr>
          <a:xfrm rot="10800000">
            <a:off x="0" y="9258300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" type="twoObj">
  <p:cSld name="TWO_OBJECTS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>
            <a:spLocks noGrp="1"/>
          </p:cNvSpPr>
          <p:nvPr>
            <p:ph type="pic" idx="2"/>
          </p:nvPr>
        </p:nvSpPr>
        <p:spPr>
          <a:xfrm>
            <a:off x="1756050" y="1082375"/>
            <a:ext cx="6483000" cy="5017200"/>
          </a:xfrm>
          <a:prstGeom prst="rect">
            <a:avLst/>
          </a:prstGeom>
          <a:noFill/>
          <a:ln w="1905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" name="Google Shape;34;p6"/>
          <p:cNvSpPr>
            <a:spLocks noGrp="1"/>
          </p:cNvSpPr>
          <p:nvPr>
            <p:ph type="pic" idx="3"/>
          </p:nvPr>
        </p:nvSpPr>
        <p:spPr>
          <a:xfrm>
            <a:off x="1756050" y="6297875"/>
            <a:ext cx="3077700" cy="2554500"/>
          </a:xfrm>
          <a:prstGeom prst="rect">
            <a:avLst/>
          </a:prstGeom>
          <a:noFill/>
          <a:ln w="1905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" name="Google Shape;35;p6"/>
          <p:cNvSpPr>
            <a:spLocks noGrp="1"/>
          </p:cNvSpPr>
          <p:nvPr>
            <p:ph type="pic" idx="4"/>
          </p:nvPr>
        </p:nvSpPr>
        <p:spPr>
          <a:xfrm>
            <a:off x="5138888" y="6288525"/>
            <a:ext cx="3077700" cy="2554500"/>
          </a:xfrm>
          <a:prstGeom prst="rect">
            <a:avLst/>
          </a:prstGeom>
          <a:noFill/>
          <a:ln w="1905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sp>
      <p:cxnSp>
        <p:nvCxnSpPr>
          <p:cNvPr id="36" name="Google Shape;36;p6"/>
          <p:cNvCxnSpPr/>
          <p:nvPr/>
        </p:nvCxnSpPr>
        <p:spPr>
          <a:xfrm rot="10800000">
            <a:off x="1009650" y="0"/>
            <a:ext cx="0" cy="1028700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" name="Google Shape;37;p6"/>
          <p:cNvCxnSpPr/>
          <p:nvPr/>
        </p:nvCxnSpPr>
        <p:spPr>
          <a:xfrm rot="10800000">
            <a:off x="0" y="9258300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344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C2F970"/>
              </a:buClr>
              <a:buSzPts val="14400"/>
              <a:buFont typeface="Darker Grotesque"/>
              <a:buNone/>
              <a:defRPr sz="14400" i="0" u="none" strike="noStrike" cap="none">
                <a:solidFill>
                  <a:srgbClr val="C2F970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Darker Grotesque Light"/>
              <a:buChar char="•"/>
              <a:defRPr sz="3200" i="0" u="none" strike="noStrike" cap="none">
                <a:solidFill>
                  <a:schemeClr val="lt1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Darker Grotesque Light"/>
              <a:buChar char="–"/>
              <a:defRPr sz="2800" i="0" u="none" strike="noStrike" cap="none">
                <a:solidFill>
                  <a:schemeClr val="lt1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arker Grotesque Light"/>
              <a:buChar char="•"/>
              <a:defRPr sz="2400" i="0" u="none" strike="noStrike" cap="none">
                <a:solidFill>
                  <a:schemeClr val="lt1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arker Grotesque Light"/>
              <a:buChar char="–"/>
              <a:defRPr sz="2000" i="0" u="none" strike="noStrike" cap="none">
                <a:solidFill>
                  <a:schemeClr val="lt1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arker Grotesque Light"/>
              <a:buChar char="»"/>
              <a:defRPr sz="2000" i="0" u="none" strike="noStrike" cap="none">
                <a:solidFill>
                  <a:schemeClr val="lt1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arker Grotesque Light"/>
              <a:buChar char="•"/>
              <a:defRPr sz="2000" i="0" u="none" strike="noStrike" cap="none">
                <a:solidFill>
                  <a:schemeClr val="lt1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arker Grotesque Light"/>
              <a:buChar char="•"/>
              <a:defRPr sz="2000" i="0" u="none" strike="noStrike" cap="none">
                <a:solidFill>
                  <a:schemeClr val="lt1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arker Grotesque Light"/>
              <a:buChar char="•"/>
              <a:defRPr sz="2000" i="0" u="none" strike="noStrike" cap="none">
                <a:solidFill>
                  <a:schemeClr val="lt1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arker Grotesque Light"/>
              <a:buChar char="•"/>
              <a:defRPr sz="2000" i="0" u="none" strike="noStrike" cap="none">
                <a:solidFill>
                  <a:schemeClr val="lt1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344F"/>
        </a:solidFill>
        <a:effectLst/>
      </p:bgPr>
    </p:bg>
    <p:spTree>
      <p:nvGrpSpPr>
        <p:cNvPr id="1" name="Shape 41">
          <a:extLst>
            <a:ext uri="{FF2B5EF4-FFF2-40B4-BE49-F238E27FC236}">
              <a16:creationId xmlns:a16="http://schemas.microsoft.com/office/drawing/2014/main" id="{398B5876-8EC7-A184-F7E6-3B3DB4476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" name="Google Shape;44;p7">
            <a:extLst>
              <a:ext uri="{FF2B5EF4-FFF2-40B4-BE49-F238E27FC236}">
                <a16:creationId xmlns:a16="http://schemas.microsoft.com/office/drawing/2014/main" id="{AC9E3C63-0FF2-E51C-22D4-08511EDBDE70}"/>
              </a:ext>
            </a:extLst>
          </p:cNvPr>
          <p:cNvCxnSpPr/>
          <p:nvPr/>
        </p:nvCxnSpPr>
        <p:spPr>
          <a:xfrm rot="10800000">
            <a:off x="1009650" y="0"/>
            <a:ext cx="0" cy="1028700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5" name="Google Shape;45;p7">
            <a:extLst>
              <a:ext uri="{FF2B5EF4-FFF2-40B4-BE49-F238E27FC236}">
                <a16:creationId xmlns:a16="http://schemas.microsoft.com/office/drawing/2014/main" id="{F5A5D8DE-704B-2914-75C5-0754E35E17A9}"/>
              </a:ext>
            </a:extLst>
          </p:cNvPr>
          <p:cNvCxnSpPr/>
          <p:nvPr/>
        </p:nvCxnSpPr>
        <p:spPr>
          <a:xfrm rot="10800000">
            <a:off x="0" y="9258300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102;p11">
            <a:extLst>
              <a:ext uri="{FF2B5EF4-FFF2-40B4-BE49-F238E27FC236}">
                <a16:creationId xmlns:a16="http://schemas.microsoft.com/office/drawing/2014/main" id="{56FD344F-3FFD-3244-81F1-17A17DADA194}"/>
              </a:ext>
            </a:extLst>
          </p:cNvPr>
          <p:cNvSpPr txBox="1"/>
          <p:nvPr/>
        </p:nvSpPr>
        <p:spPr>
          <a:xfrm>
            <a:off x="1574678" y="720922"/>
            <a:ext cx="705833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i="0" u="none" strike="noStrike" cap="none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Hosting </a:t>
            </a:r>
            <a:r>
              <a:rPr lang="en-US" sz="4000" i="0" u="none" strike="noStrike" cap="none" dirty="0" err="1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Postgresql</a:t>
            </a:r>
            <a:r>
              <a:rPr lang="en-US" sz="4000" i="0" u="none" strike="noStrike" cap="none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 in VPS</a:t>
            </a:r>
            <a:endParaRPr lang="en-US" sz="2400" dirty="0"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</p:txBody>
      </p:sp>
      <p:sp>
        <p:nvSpPr>
          <p:cNvPr id="4" name="Google Shape;102;p11">
            <a:extLst>
              <a:ext uri="{FF2B5EF4-FFF2-40B4-BE49-F238E27FC236}">
                <a16:creationId xmlns:a16="http://schemas.microsoft.com/office/drawing/2014/main" id="{F88E2871-D129-1A4D-DAC5-997D305CAC69}"/>
              </a:ext>
            </a:extLst>
          </p:cNvPr>
          <p:cNvSpPr txBox="1"/>
          <p:nvPr/>
        </p:nvSpPr>
        <p:spPr>
          <a:xfrm>
            <a:off x="2368926" y="1604068"/>
            <a:ext cx="13819090" cy="7386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Update the server</a:t>
            </a:r>
          </a:p>
          <a:p>
            <a:pPr lvl="0">
              <a:lnSpc>
                <a:spcPct val="150000"/>
              </a:lnSpc>
            </a:pPr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	</a:t>
            </a:r>
            <a:r>
              <a:rPr lang="en-US" sz="4000" dirty="0" err="1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sudo</a:t>
            </a:r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 apt update &amp;&amp; </a:t>
            </a:r>
            <a:r>
              <a:rPr lang="en-US" sz="4000" dirty="0" err="1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sudo</a:t>
            </a:r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 apt upgrade -y</a:t>
            </a:r>
          </a:p>
          <a:p>
            <a:pPr lvl="0">
              <a:lnSpc>
                <a:spcPct val="150000"/>
              </a:lnSpc>
            </a:pPr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Install PostgreSQL</a:t>
            </a:r>
          </a:p>
          <a:p>
            <a:pPr lvl="0">
              <a:lnSpc>
                <a:spcPct val="150000"/>
              </a:lnSpc>
            </a:pPr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	</a:t>
            </a:r>
            <a:r>
              <a:rPr lang="en-US" sz="4000" dirty="0" err="1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sudo</a:t>
            </a:r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 apt install </a:t>
            </a:r>
            <a:r>
              <a:rPr lang="en-US" sz="4000" dirty="0" err="1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postgresql</a:t>
            </a:r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 </a:t>
            </a:r>
            <a:r>
              <a:rPr lang="en-US" sz="4000" dirty="0" err="1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postgresql-contrib</a:t>
            </a:r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 -y</a:t>
            </a:r>
          </a:p>
          <a:p>
            <a:pPr lvl="0">
              <a:lnSpc>
                <a:spcPct val="150000"/>
              </a:lnSpc>
            </a:pPr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Check status:</a:t>
            </a:r>
          </a:p>
          <a:p>
            <a:pPr lvl="0">
              <a:lnSpc>
                <a:spcPct val="150000"/>
              </a:lnSpc>
            </a:pPr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	</a:t>
            </a:r>
            <a:r>
              <a:rPr lang="en-US" sz="4000" dirty="0" err="1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sudo</a:t>
            </a:r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 </a:t>
            </a:r>
            <a:r>
              <a:rPr lang="en-US" sz="4000" dirty="0" err="1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systemctl</a:t>
            </a:r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 status </a:t>
            </a:r>
            <a:r>
              <a:rPr lang="en-US" sz="4000" dirty="0" err="1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postgresql</a:t>
            </a:r>
            <a:endParaRPr lang="en-US" sz="40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pPr lvl="0">
              <a:lnSpc>
                <a:spcPct val="150000"/>
              </a:lnSpc>
            </a:pPr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Enable on boot:</a:t>
            </a:r>
          </a:p>
          <a:p>
            <a:pPr lvl="0">
              <a:lnSpc>
                <a:spcPct val="150000"/>
              </a:lnSpc>
            </a:pPr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	</a:t>
            </a:r>
            <a:r>
              <a:rPr lang="en-US" sz="4000" dirty="0" err="1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sudo</a:t>
            </a:r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 </a:t>
            </a:r>
            <a:r>
              <a:rPr lang="en-US" sz="4000" dirty="0" err="1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systemctl</a:t>
            </a:r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 enable </a:t>
            </a:r>
            <a:r>
              <a:rPr lang="en-US" sz="4000" dirty="0" err="1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postgresql</a:t>
            </a:r>
            <a:endParaRPr lang="en-US" sz="2400" dirty="0"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</p:txBody>
      </p:sp>
    </p:spTree>
    <p:extLst>
      <p:ext uri="{BB962C8B-B14F-4D97-AF65-F5344CB8AC3E}">
        <p14:creationId xmlns:p14="http://schemas.microsoft.com/office/powerpoint/2010/main" val="12194486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344F"/>
        </a:solidFill>
        <a:effectLst/>
      </p:bgPr>
    </p:bg>
    <p:spTree>
      <p:nvGrpSpPr>
        <p:cNvPr id="1" name="Shape 41">
          <a:extLst>
            <a:ext uri="{FF2B5EF4-FFF2-40B4-BE49-F238E27FC236}">
              <a16:creationId xmlns:a16="http://schemas.microsoft.com/office/drawing/2014/main" id="{1848D3D0-8CC1-F738-2E24-B06F4484F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" name="Google Shape;44;p7">
            <a:extLst>
              <a:ext uri="{FF2B5EF4-FFF2-40B4-BE49-F238E27FC236}">
                <a16:creationId xmlns:a16="http://schemas.microsoft.com/office/drawing/2014/main" id="{20899F4D-C57B-40C5-DC9B-8FAA148EFEED}"/>
              </a:ext>
            </a:extLst>
          </p:cNvPr>
          <p:cNvCxnSpPr/>
          <p:nvPr/>
        </p:nvCxnSpPr>
        <p:spPr>
          <a:xfrm rot="10800000">
            <a:off x="1009650" y="0"/>
            <a:ext cx="0" cy="1028700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5" name="Google Shape;45;p7">
            <a:extLst>
              <a:ext uri="{FF2B5EF4-FFF2-40B4-BE49-F238E27FC236}">
                <a16:creationId xmlns:a16="http://schemas.microsoft.com/office/drawing/2014/main" id="{CB1B89E5-97B9-4B43-50DA-53F33A1A7F51}"/>
              </a:ext>
            </a:extLst>
          </p:cNvPr>
          <p:cNvCxnSpPr/>
          <p:nvPr/>
        </p:nvCxnSpPr>
        <p:spPr>
          <a:xfrm rot="10800000">
            <a:off x="0" y="9258300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102;p11">
            <a:extLst>
              <a:ext uri="{FF2B5EF4-FFF2-40B4-BE49-F238E27FC236}">
                <a16:creationId xmlns:a16="http://schemas.microsoft.com/office/drawing/2014/main" id="{C1DFA421-E8F8-0C05-CBE6-F808AF620B89}"/>
              </a:ext>
            </a:extLst>
          </p:cNvPr>
          <p:cNvSpPr txBox="1"/>
          <p:nvPr/>
        </p:nvSpPr>
        <p:spPr>
          <a:xfrm>
            <a:off x="1574678" y="720922"/>
            <a:ext cx="705833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i="0" u="none" strike="noStrike" cap="none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Hosting </a:t>
            </a:r>
            <a:r>
              <a:rPr lang="en-US" sz="4000" i="0" u="none" strike="noStrike" cap="none" dirty="0" err="1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Postgresql</a:t>
            </a:r>
            <a:r>
              <a:rPr lang="en-US" sz="4000" i="0" u="none" strike="noStrike" cap="none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 in VPS</a:t>
            </a:r>
            <a:endParaRPr lang="en-US" sz="2400" dirty="0"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</p:txBody>
      </p:sp>
      <p:sp>
        <p:nvSpPr>
          <p:cNvPr id="4" name="Google Shape;102;p11">
            <a:extLst>
              <a:ext uri="{FF2B5EF4-FFF2-40B4-BE49-F238E27FC236}">
                <a16:creationId xmlns:a16="http://schemas.microsoft.com/office/drawing/2014/main" id="{14226567-6A5A-04AD-71A7-5AC7F8DB7EFD}"/>
              </a:ext>
            </a:extLst>
          </p:cNvPr>
          <p:cNvSpPr txBox="1"/>
          <p:nvPr/>
        </p:nvSpPr>
        <p:spPr>
          <a:xfrm>
            <a:off x="2368926" y="1604068"/>
            <a:ext cx="15246710" cy="923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Open PostgreSQL shell: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	</a:t>
            </a:r>
            <a:r>
              <a:rPr lang="en-US" sz="4000" dirty="0" err="1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sudo</a:t>
            </a:r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 -u </a:t>
            </a:r>
            <a:r>
              <a:rPr lang="en-US" sz="4000" dirty="0" err="1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postgres</a:t>
            </a:r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 </a:t>
            </a:r>
            <a:r>
              <a:rPr lang="en-US" sz="4000" dirty="0" err="1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psql</a:t>
            </a:r>
            <a:endParaRPr lang="en-US" sz="40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pPr lvl="0"/>
            <a:endParaRPr lang="en-US" sz="40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pPr lvl="2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Create DB and user:</a:t>
            </a:r>
          </a:p>
          <a:p>
            <a:pPr lvl="2"/>
            <a:endParaRPr lang="en-US" sz="40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pPr lvl="2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CREATE DATABASE </a:t>
            </a:r>
            <a:r>
              <a:rPr lang="en-US" sz="4000" dirty="0" err="1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myapp</a:t>
            </a:r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;</a:t>
            </a:r>
          </a:p>
          <a:p>
            <a:pPr lvl="2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CREATE USER </a:t>
            </a:r>
            <a:r>
              <a:rPr lang="en-US" sz="4000" dirty="0" err="1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myuser</a:t>
            </a:r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 WITH ENCRYPTED PASSWORD ‘password’;</a:t>
            </a:r>
          </a:p>
          <a:p>
            <a:pPr lvl="2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GRANT ALL PRIVILEGES ON DATABASE </a:t>
            </a:r>
            <a:r>
              <a:rPr lang="en-US" sz="4000" dirty="0" err="1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myapp</a:t>
            </a:r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 TO </a:t>
            </a:r>
            <a:r>
              <a:rPr lang="en-US" sz="4000" dirty="0" err="1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myuser</a:t>
            </a:r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;</a:t>
            </a:r>
          </a:p>
          <a:p>
            <a:pPr lvl="2"/>
            <a:endParaRPr lang="en-US" sz="40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pPr lvl="2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CREATE ROLE username WITH LOGIN SUPERUSER PASSWORD 'password’;</a:t>
            </a:r>
          </a:p>
          <a:p>
            <a:pPr lvl="2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Exit:</a:t>
            </a:r>
          </a:p>
          <a:p>
            <a:pPr lvl="2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	\q</a:t>
            </a:r>
          </a:p>
          <a:p>
            <a:endParaRPr lang="en-US" sz="40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pPr lvl="0"/>
            <a:endParaRPr lang="en-US" sz="40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pPr lvl="0"/>
            <a:endParaRPr lang="en-US" sz="40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</p:txBody>
      </p:sp>
    </p:spTree>
    <p:extLst>
      <p:ext uri="{BB962C8B-B14F-4D97-AF65-F5344CB8AC3E}">
        <p14:creationId xmlns:p14="http://schemas.microsoft.com/office/powerpoint/2010/main" val="26049429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344F"/>
        </a:solidFill>
        <a:effectLst/>
      </p:bgPr>
    </p:bg>
    <p:spTree>
      <p:nvGrpSpPr>
        <p:cNvPr id="1" name="Shape 41">
          <a:extLst>
            <a:ext uri="{FF2B5EF4-FFF2-40B4-BE49-F238E27FC236}">
              <a16:creationId xmlns:a16="http://schemas.microsoft.com/office/drawing/2014/main" id="{D70289C3-6A68-FFF4-8DDF-599691BB5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" name="Google Shape;44;p7">
            <a:extLst>
              <a:ext uri="{FF2B5EF4-FFF2-40B4-BE49-F238E27FC236}">
                <a16:creationId xmlns:a16="http://schemas.microsoft.com/office/drawing/2014/main" id="{A66E06F1-F104-6787-EEE9-945F9F8F8F41}"/>
              </a:ext>
            </a:extLst>
          </p:cNvPr>
          <p:cNvCxnSpPr/>
          <p:nvPr/>
        </p:nvCxnSpPr>
        <p:spPr>
          <a:xfrm rot="10800000">
            <a:off x="1009650" y="0"/>
            <a:ext cx="0" cy="1028700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5" name="Google Shape;45;p7">
            <a:extLst>
              <a:ext uri="{FF2B5EF4-FFF2-40B4-BE49-F238E27FC236}">
                <a16:creationId xmlns:a16="http://schemas.microsoft.com/office/drawing/2014/main" id="{EEEF60E6-8218-BCE9-1CCE-6C90EFFA71AE}"/>
              </a:ext>
            </a:extLst>
          </p:cNvPr>
          <p:cNvCxnSpPr/>
          <p:nvPr/>
        </p:nvCxnSpPr>
        <p:spPr>
          <a:xfrm rot="10800000">
            <a:off x="0" y="9258300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102;p11">
            <a:extLst>
              <a:ext uri="{FF2B5EF4-FFF2-40B4-BE49-F238E27FC236}">
                <a16:creationId xmlns:a16="http://schemas.microsoft.com/office/drawing/2014/main" id="{2F640DA8-7CA6-C09F-043F-8A6FD54FCEF4}"/>
              </a:ext>
            </a:extLst>
          </p:cNvPr>
          <p:cNvSpPr txBox="1"/>
          <p:nvPr/>
        </p:nvSpPr>
        <p:spPr>
          <a:xfrm>
            <a:off x="1574678" y="720922"/>
            <a:ext cx="705833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i="0" u="none" strike="noStrike" cap="none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Hosting </a:t>
            </a:r>
            <a:r>
              <a:rPr lang="en-US" sz="4000" i="0" u="none" strike="noStrike" cap="none" dirty="0" err="1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Postgresql</a:t>
            </a:r>
            <a:r>
              <a:rPr lang="en-US" sz="4000" i="0" u="none" strike="noStrike" cap="none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 in VPS</a:t>
            </a:r>
            <a:endParaRPr lang="en-US" sz="2400" dirty="0"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</p:txBody>
      </p:sp>
      <p:sp>
        <p:nvSpPr>
          <p:cNvPr id="4" name="Google Shape;102;p11">
            <a:extLst>
              <a:ext uri="{FF2B5EF4-FFF2-40B4-BE49-F238E27FC236}">
                <a16:creationId xmlns:a16="http://schemas.microsoft.com/office/drawing/2014/main" id="{1A6DE198-8BE2-59C4-512C-6057A91B0E1B}"/>
              </a:ext>
            </a:extLst>
          </p:cNvPr>
          <p:cNvSpPr txBox="1"/>
          <p:nvPr/>
        </p:nvSpPr>
        <p:spPr>
          <a:xfrm>
            <a:off x="2368926" y="1604068"/>
            <a:ext cx="15246710" cy="5539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Allow remote connections (optional)</a:t>
            </a:r>
          </a:p>
          <a:p>
            <a:pPr lvl="0"/>
            <a:endParaRPr lang="en-US" sz="40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Edit PostgreSQL config: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	</a:t>
            </a:r>
            <a:r>
              <a:rPr lang="en-US" sz="4000" dirty="0" err="1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sudo</a:t>
            </a:r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 nano /</a:t>
            </a:r>
            <a:r>
              <a:rPr lang="en-US" sz="4000" dirty="0" err="1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etc</a:t>
            </a:r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/</a:t>
            </a:r>
            <a:r>
              <a:rPr lang="en-US" sz="4000" dirty="0" err="1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postgresql</a:t>
            </a:r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/{version}/main/</a:t>
            </a:r>
            <a:r>
              <a:rPr lang="en-US" sz="4000" dirty="0" err="1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postgresql.conf</a:t>
            </a:r>
            <a:endParaRPr lang="en-US" sz="40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pPr lvl="0"/>
            <a:endParaRPr lang="en-US" sz="40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Find: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	#listen_addresses = 'localhost’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	Change to: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	</a:t>
            </a:r>
            <a:r>
              <a:rPr lang="en-US" sz="4000" dirty="0" err="1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listen_addresses</a:t>
            </a:r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 = '*'</a:t>
            </a:r>
          </a:p>
        </p:txBody>
      </p:sp>
    </p:spTree>
    <p:extLst>
      <p:ext uri="{BB962C8B-B14F-4D97-AF65-F5344CB8AC3E}">
        <p14:creationId xmlns:p14="http://schemas.microsoft.com/office/powerpoint/2010/main" val="10462181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344F"/>
        </a:solidFill>
        <a:effectLst/>
      </p:bgPr>
    </p:bg>
    <p:spTree>
      <p:nvGrpSpPr>
        <p:cNvPr id="1" name="Shape 41">
          <a:extLst>
            <a:ext uri="{FF2B5EF4-FFF2-40B4-BE49-F238E27FC236}">
              <a16:creationId xmlns:a16="http://schemas.microsoft.com/office/drawing/2014/main" id="{AD29FD36-4ADF-A73A-4D85-D4659C233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" name="Google Shape;44;p7">
            <a:extLst>
              <a:ext uri="{FF2B5EF4-FFF2-40B4-BE49-F238E27FC236}">
                <a16:creationId xmlns:a16="http://schemas.microsoft.com/office/drawing/2014/main" id="{957F2505-F5A2-0598-5AF6-3B3B23F528D2}"/>
              </a:ext>
            </a:extLst>
          </p:cNvPr>
          <p:cNvCxnSpPr/>
          <p:nvPr/>
        </p:nvCxnSpPr>
        <p:spPr>
          <a:xfrm rot="10800000">
            <a:off x="1009650" y="0"/>
            <a:ext cx="0" cy="1028700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5" name="Google Shape;45;p7">
            <a:extLst>
              <a:ext uri="{FF2B5EF4-FFF2-40B4-BE49-F238E27FC236}">
                <a16:creationId xmlns:a16="http://schemas.microsoft.com/office/drawing/2014/main" id="{7AAC1706-170F-0CDC-9A32-631AEBFD86E9}"/>
              </a:ext>
            </a:extLst>
          </p:cNvPr>
          <p:cNvCxnSpPr/>
          <p:nvPr/>
        </p:nvCxnSpPr>
        <p:spPr>
          <a:xfrm rot="10800000">
            <a:off x="0" y="9258300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102;p11">
            <a:extLst>
              <a:ext uri="{FF2B5EF4-FFF2-40B4-BE49-F238E27FC236}">
                <a16:creationId xmlns:a16="http://schemas.microsoft.com/office/drawing/2014/main" id="{1518951A-2D45-9BDB-9424-128CEB2987BD}"/>
              </a:ext>
            </a:extLst>
          </p:cNvPr>
          <p:cNvSpPr txBox="1"/>
          <p:nvPr/>
        </p:nvSpPr>
        <p:spPr>
          <a:xfrm>
            <a:off x="1574678" y="720922"/>
            <a:ext cx="705833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i="0" u="none" strike="noStrike" cap="none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Hosting </a:t>
            </a:r>
            <a:r>
              <a:rPr lang="en-US" sz="4000" i="0" u="none" strike="noStrike" cap="none" dirty="0" err="1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Postgresql</a:t>
            </a:r>
            <a:r>
              <a:rPr lang="en-US" sz="4000" i="0" u="none" strike="noStrike" cap="none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 in VPS</a:t>
            </a:r>
            <a:endParaRPr lang="en-US" sz="2400" dirty="0"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</p:txBody>
      </p:sp>
      <p:sp>
        <p:nvSpPr>
          <p:cNvPr id="4" name="Google Shape;102;p11">
            <a:extLst>
              <a:ext uri="{FF2B5EF4-FFF2-40B4-BE49-F238E27FC236}">
                <a16:creationId xmlns:a16="http://schemas.microsoft.com/office/drawing/2014/main" id="{DFF70D72-19CC-5D9C-AB58-92D0D8744043}"/>
              </a:ext>
            </a:extLst>
          </p:cNvPr>
          <p:cNvSpPr txBox="1"/>
          <p:nvPr/>
        </p:nvSpPr>
        <p:spPr>
          <a:xfrm>
            <a:off x="2368926" y="1604068"/>
            <a:ext cx="15246710" cy="6155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Configure client authentication</a:t>
            </a:r>
          </a:p>
          <a:p>
            <a:pPr lvl="0"/>
            <a:endParaRPr lang="en-US" sz="40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Edit:</a:t>
            </a:r>
          </a:p>
          <a:p>
            <a:pPr lvl="0"/>
            <a:endParaRPr lang="en-US" sz="40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	</a:t>
            </a:r>
            <a:r>
              <a:rPr lang="en-US" sz="4000" dirty="0" err="1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sudo</a:t>
            </a:r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 nano /</a:t>
            </a:r>
            <a:r>
              <a:rPr lang="en-US" sz="4000" dirty="0" err="1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etc</a:t>
            </a:r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/</a:t>
            </a:r>
            <a:r>
              <a:rPr lang="en-US" sz="4000" dirty="0" err="1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postgresql</a:t>
            </a:r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/*/main/</a:t>
            </a:r>
            <a:r>
              <a:rPr lang="en-US" sz="4000" dirty="0" err="1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pg_hba.conf</a:t>
            </a:r>
            <a:endParaRPr lang="en-US" sz="40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pPr lvl="0"/>
            <a:endParaRPr lang="en-US" sz="40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Add this line at the bottom:</a:t>
            </a:r>
          </a:p>
          <a:p>
            <a:pPr lvl="0"/>
            <a:endParaRPr lang="en-US" sz="40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	host all </a:t>
            </a:r>
            <a:r>
              <a:rPr lang="en-US" sz="4000" dirty="0" err="1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all</a:t>
            </a:r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 0.0.0.0/0 md5</a:t>
            </a:r>
          </a:p>
          <a:p>
            <a:pPr lvl="0"/>
            <a:endParaRPr lang="en-US" sz="40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</p:txBody>
      </p:sp>
    </p:spTree>
    <p:extLst>
      <p:ext uri="{BB962C8B-B14F-4D97-AF65-F5344CB8AC3E}">
        <p14:creationId xmlns:p14="http://schemas.microsoft.com/office/powerpoint/2010/main" val="23498310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344F"/>
        </a:solidFill>
        <a:effectLst/>
      </p:bgPr>
    </p:bg>
    <p:spTree>
      <p:nvGrpSpPr>
        <p:cNvPr id="1" name="Shape 41">
          <a:extLst>
            <a:ext uri="{FF2B5EF4-FFF2-40B4-BE49-F238E27FC236}">
              <a16:creationId xmlns:a16="http://schemas.microsoft.com/office/drawing/2014/main" id="{09A577BA-763B-4C01-2149-F6C5072C3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" name="Google Shape;44;p7">
            <a:extLst>
              <a:ext uri="{FF2B5EF4-FFF2-40B4-BE49-F238E27FC236}">
                <a16:creationId xmlns:a16="http://schemas.microsoft.com/office/drawing/2014/main" id="{84CBFA6F-CDE2-B375-10CA-8E07BB226E88}"/>
              </a:ext>
            </a:extLst>
          </p:cNvPr>
          <p:cNvCxnSpPr/>
          <p:nvPr/>
        </p:nvCxnSpPr>
        <p:spPr>
          <a:xfrm rot="10800000">
            <a:off x="1009650" y="0"/>
            <a:ext cx="0" cy="1028700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5" name="Google Shape;45;p7">
            <a:extLst>
              <a:ext uri="{FF2B5EF4-FFF2-40B4-BE49-F238E27FC236}">
                <a16:creationId xmlns:a16="http://schemas.microsoft.com/office/drawing/2014/main" id="{D1112057-02B4-D1B2-15AA-38A66221853F}"/>
              </a:ext>
            </a:extLst>
          </p:cNvPr>
          <p:cNvCxnSpPr/>
          <p:nvPr/>
        </p:nvCxnSpPr>
        <p:spPr>
          <a:xfrm rot="10800000">
            <a:off x="0" y="9258300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102;p11">
            <a:extLst>
              <a:ext uri="{FF2B5EF4-FFF2-40B4-BE49-F238E27FC236}">
                <a16:creationId xmlns:a16="http://schemas.microsoft.com/office/drawing/2014/main" id="{4786251E-8D51-AEBE-C10F-4739460C5134}"/>
              </a:ext>
            </a:extLst>
          </p:cNvPr>
          <p:cNvSpPr txBox="1"/>
          <p:nvPr/>
        </p:nvSpPr>
        <p:spPr>
          <a:xfrm>
            <a:off x="1574678" y="720922"/>
            <a:ext cx="705833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i="0" u="none" strike="noStrike" cap="none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Hosting </a:t>
            </a:r>
            <a:r>
              <a:rPr lang="en-US" sz="4000" i="0" u="none" strike="noStrike" cap="none" dirty="0" err="1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Postgresql</a:t>
            </a:r>
            <a:r>
              <a:rPr lang="en-US" sz="4000" i="0" u="none" strike="noStrike" cap="none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 in VPS</a:t>
            </a:r>
            <a:endParaRPr lang="en-US" sz="2400" dirty="0"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</p:txBody>
      </p:sp>
      <p:sp>
        <p:nvSpPr>
          <p:cNvPr id="4" name="Google Shape;102;p11">
            <a:extLst>
              <a:ext uri="{FF2B5EF4-FFF2-40B4-BE49-F238E27FC236}">
                <a16:creationId xmlns:a16="http://schemas.microsoft.com/office/drawing/2014/main" id="{D45C7CD4-9CD5-166E-7A49-6D4EB04D23E9}"/>
              </a:ext>
            </a:extLst>
          </p:cNvPr>
          <p:cNvSpPr txBox="1"/>
          <p:nvPr/>
        </p:nvSpPr>
        <p:spPr>
          <a:xfrm>
            <a:off x="2368926" y="1994033"/>
            <a:ext cx="15246710" cy="5539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Open firewall port</a:t>
            </a:r>
          </a:p>
          <a:p>
            <a:pPr lvl="0"/>
            <a:endParaRPr lang="en-US" sz="40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PostgreSQL default port = 5432</a:t>
            </a:r>
          </a:p>
          <a:p>
            <a:pPr lvl="0"/>
            <a:endParaRPr lang="en-US" sz="40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pPr lvl="0"/>
            <a:r>
              <a:rPr lang="en-US" sz="4000" dirty="0" err="1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sudo</a:t>
            </a:r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 </a:t>
            </a:r>
            <a:r>
              <a:rPr lang="en-US" sz="4000" dirty="0" err="1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ufw</a:t>
            </a:r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 allow 5432/</a:t>
            </a:r>
            <a:r>
              <a:rPr lang="en-US" sz="4000" dirty="0" err="1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tcp</a:t>
            </a:r>
            <a:endParaRPr lang="en-US" sz="40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pPr lvl="0"/>
            <a:r>
              <a:rPr lang="en-US" sz="4000" dirty="0" err="1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sudo</a:t>
            </a:r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 </a:t>
            </a:r>
            <a:r>
              <a:rPr lang="en-US" sz="4000" dirty="0" err="1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ufw</a:t>
            </a:r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 reload</a:t>
            </a:r>
          </a:p>
          <a:p>
            <a:pPr lvl="0"/>
            <a:r>
              <a:rPr lang="en-US" sz="4000" dirty="0" err="1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sudo</a:t>
            </a:r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 </a:t>
            </a:r>
            <a:r>
              <a:rPr lang="en-US" sz="4000" dirty="0" err="1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ufw</a:t>
            </a:r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 status</a:t>
            </a:r>
          </a:p>
          <a:p>
            <a:pPr lvl="0"/>
            <a:endParaRPr lang="en-US" sz="40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pPr lvl="0"/>
            <a:r>
              <a:rPr lang="en-US" sz="4000" dirty="0" err="1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sudo</a:t>
            </a:r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 </a:t>
            </a:r>
            <a:r>
              <a:rPr lang="en-US" sz="4000" dirty="0" err="1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systemctl</a:t>
            </a:r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 restart </a:t>
            </a:r>
            <a:r>
              <a:rPr lang="en-US" sz="4000" dirty="0" err="1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postgresql</a:t>
            </a:r>
            <a:endParaRPr lang="en-US" sz="40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</p:txBody>
      </p:sp>
    </p:spTree>
    <p:extLst>
      <p:ext uri="{BB962C8B-B14F-4D97-AF65-F5344CB8AC3E}">
        <p14:creationId xmlns:p14="http://schemas.microsoft.com/office/powerpoint/2010/main" val="18566629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344F"/>
        </a:solidFill>
        <a:effectLst/>
      </p:bgPr>
    </p:bg>
    <p:spTree>
      <p:nvGrpSpPr>
        <p:cNvPr id="1" name="Shape 41">
          <a:extLst>
            <a:ext uri="{FF2B5EF4-FFF2-40B4-BE49-F238E27FC236}">
              <a16:creationId xmlns:a16="http://schemas.microsoft.com/office/drawing/2014/main" id="{7FE3F7B7-0A7D-3A9A-6FE6-233B537F9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" name="Google Shape;44;p7">
            <a:extLst>
              <a:ext uri="{FF2B5EF4-FFF2-40B4-BE49-F238E27FC236}">
                <a16:creationId xmlns:a16="http://schemas.microsoft.com/office/drawing/2014/main" id="{37EE4634-0AF9-F400-7A6F-E2DB8D7ABC4D}"/>
              </a:ext>
            </a:extLst>
          </p:cNvPr>
          <p:cNvCxnSpPr/>
          <p:nvPr/>
        </p:nvCxnSpPr>
        <p:spPr>
          <a:xfrm rot="10800000">
            <a:off x="1009650" y="0"/>
            <a:ext cx="0" cy="1028700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5" name="Google Shape;45;p7">
            <a:extLst>
              <a:ext uri="{FF2B5EF4-FFF2-40B4-BE49-F238E27FC236}">
                <a16:creationId xmlns:a16="http://schemas.microsoft.com/office/drawing/2014/main" id="{A0EBEDD5-7190-FA58-53A1-0F35F79AEB19}"/>
              </a:ext>
            </a:extLst>
          </p:cNvPr>
          <p:cNvCxnSpPr/>
          <p:nvPr/>
        </p:nvCxnSpPr>
        <p:spPr>
          <a:xfrm rot="10800000">
            <a:off x="0" y="9258300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102;p11">
            <a:extLst>
              <a:ext uri="{FF2B5EF4-FFF2-40B4-BE49-F238E27FC236}">
                <a16:creationId xmlns:a16="http://schemas.microsoft.com/office/drawing/2014/main" id="{F4D15C51-3769-E4A0-2F2F-6F03DB0A325E}"/>
              </a:ext>
            </a:extLst>
          </p:cNvPr>
          <p:cNvSpPr txBox="1"/>
          <p:nvPr/>
        </p:nvSpPr>
        <p:spPr>
          <a:xfrm>
            <a:off x="1695702" y="1028699"/>
            <a:ext cx="705833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What is Cron jobs?</a:t>
            </a:r>
            <a:endParaRPr lang="en-US" sz="2400" dirty="0"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</p:txBody>
      </p:sp>
      <p:sp>
        <p:nvSpPr>
          <p:cNvPr id="4" name="Google Shape;102;p11">
            <a:extLst>
              <a:ext uri="{FF2B5EF4-FFF2-40B4-BE49-F238E27FC236}">
                <a16:creationId xmlns:a16="http://schemas.microsoft.com/office/drawing/2014/main" id="{A79E39E8-575E-C10C-1F5B-B351D3871D0C}"/>
              </a:ext>
            </a:extLst>
          </p:cNvPr>
          <p:cNvSpPr txBox="1"/>
          <p:nvPr/>
        </p:nvSpPr>
        <p:spPr>
          <a:xfrm>
            <a:off x="2739280" y="1871662"/>
            <a:ext cx="13819090" cy="7386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Cron is a background service that checks schedules and runs tasks automatically. A </a:t>
            </a:r>
            <a:r>
              <a:rPr lang="en-US" sz="4000" dirty="0" err="1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cron</a:t>
            </a:r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 job in Linux lets you run commands or scripts automatically on a schedule — like every minute, every day at midnight, or every Monday morning.</a:t>
            </a:r>
          </a:p>
          <a:p>
            <a:pPr lvl="0"/>
            <a:endParaRPr lang="en-US" sz="40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Common uses:</a:t>
            </a:r>
          </a:p>
          <a:p>
            <a:pPr lvl="0"/>
            <a:endParaRPr lang="en-US" sz="40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Backups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Cleaning temp files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Sending reports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Restarting services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Running scripts periodically</a:t>
            </a:r>
          </a:p>
        </p:txBody>
      </p:sp>
    </p:spTree>
    <p:extLst>
      <p:ext uri="{BB962C8B-B14F-4D97-AF65-F5344CB8AC3E}">
        <p14:creationId xmlns:p14="http://schemas.microsoft.com/office/powerpoint/2010/main" val="11772072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344F"/>
        </a:solidFill>
        <a:effectLst/>
      </p:bgPr>
    </p:bg>
    <p:spTree>
      <p:nvGrpSpPr>
        <p:cNvPr id="1" name="Shape 41">
          <a:extLst>
            <a:ext uri="{FF2B5EF4-FFF2-40B4-BE49-F238E27FC236}">
              <a16:creationId xmlns:a16="http://schemas.microsoft.com/office/drawing/2014/main" id="{A716837B-E421-2007-D9DE-EE4C0B4B0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" name="Google Shape;44;p7">
            <a:extLst>
              <a:ext uri="{FF2B5EF4-FFF2-40B4-BE49-F238E27FC236}">
                <a16:creationId xmlns:a16="http://schemas.microsoft.com/office/drawing/2014/main" id="{09DA813F-F7F0-05BD-1DBD-F4B50A73B2B1}"/>
              </a:ext>
            </a:extLst>
          </p:cNvPr>
          <p:cNvCxnSpPr/>
          <p:nvPr/>
        </p:nvCxnSpPr>
        <p:spPr>
          <a:xfrm rot="10800000">
            <a:off x="1009650" y="0"/>
            <a:ext cx="0" cy="1028700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5" name="Google Shape;45;p7">
            <a:extLst>
              <a:ext uri="{FF2B5EF4-FFF2-40B4-BE49-F238E27FC236}">
                <a16:creationId xmlns:a16="http://schemas.microsoft.com/office/drawing/2014/main" id="{C7815966-2619-925E-9DBE-93770E737143}"/>
              </a:ext>
            </a:extLst>
          </p:cNvPr>
          <p:cNvCxnSpPr/>
          <p:nvPr/>
        </p:nvCxnSpPr>
        <p:spPr>
          <a:xfrm rot="10800000">
            <a:off x="0" y="9258300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" name="Google Shape;102;p11">
            <a:extLst>
              <a:ext uri="{FF2B5EF4-FFF2-40B4-BE49-F238E27FC236}">
                <a16:creationId xmlns:a16="http://schemas.microsoft.com/office/drawing/2014/main" id="{6749DD8C-42D8-78CC-F928-82F721F18716}"/>
              </a:ext>
            </a:extLst>
          </p:cNvPr>
          <p:cNvSpPr txBox="1"/>
          <p:nvPr/>
        </p:nvSpPr>
        <p:spPr>
          <a:xfrm>
            <a:off x="2176184" y="1243608"/>
            <a:ext cx="13819090" cy="6771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Basic Cron Syntax</a:t>
            </a:r>
          </a:p>
          <a:p>
            <a:pPr lvl="0"/>
            <a:endParaRPr lang="en-US" sz="40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A </a:t>
            </a:r>
            <a:r>
              <a:rPr lang="en-US" sz="4000" dirty="0" err="1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cron</a:t>
            </a:r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 entry has 5 time fields plus the command:</a:t>
            </a:r>
          </a:p>
          <a:p>
            <a:pPr lvl="0"/>
            <a:endParaRPr lang="en-US" sz="40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* * * * * </a:t>
            </a:r>
            <a:r>
              <a:rPr lang="en-US" sz="4000" dirty="0" err="1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command_to_run</a:t>
            </a:r>
            <a:endParaRPr lang="en-US" sz="40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│ │ │ │ │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│ │ │ │ └── Day of week (0-7)  Sunday=0 or 7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│ │ │ └──── Month (1-12)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│ │ └────── Day of month (1-31)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│ └──────── Hour (0-23)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└────────── Minute (0-59)</a:t>
            </a:r>
            <a:endParaRPr lang="en-US" sz="2400" dirty="0"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</p:txBody>
      </p:sp>
    </p:spTree>
    <p:extLst>
      <p:ext uri="{BB962C8B-B14F-4D97-AF65-F5344CB8AC3E}">
        <p14:creationId xmlns:p14="http://schemas.microsoft.com/office/powerpoint/2010/main" val="19278207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344F"/>
        </a:solidFill>
        <a:effectLst/>
      </p:bgPr>
    </p:bg>
    <p:spTree>
      <p:nvGrpSpPr>
        <p:cNvPr id="1" name="Shape 41">
          <a:extLst>
            <a:ext uri="{FF2B5EF4-FFF2-40B4-BE49-F238E27FC236}">
              <a16:creationId xmlns:a16="http://schemas.microsoft.com/office/drawing/2014/main" id="{25A9825F-5697-1341-97BF-51335077A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" name="Google Shape;44;p7">
            <a:extLst>
              <a:ext uri="{FF2B5EF4-FFF2-40B4-BE49-F238E27FC236}">
                <a16:creationId xmlns:a16="http://schemas.microsoft.com/office/drawing/2014/main" id="{D6C403FF-626A-1E46-B276-C9CC1A0CD205}"/>
              </a:ext>
            </a:extLst>
          </p:cNvPr>
          <p:cNvCxnSpPr/>
          <p:nvPr/>
        </p:nvCxnSpPr>
        <p:spPr>
          <a:xfrm rot="10800000">
            <a:off x="1009650" y="0"/>
            <a:ext cx="0" cy="1028700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5" name="Google Shape;45;p7">
            <a:extLst>
              <a:ext uri="{FF2B5EF4-FFF2-40B4-BE49-F238E27FC236}">
                <a16:creationId xmlns:a16="http://schemas.microsoft.com/office/drawing/2014/main" id="{65C28E82-9C6A-BB67-63E2-77382A49B8C4}"/>
              </a:ext>
            </a:extLst>
          </p:cNvPr>
          <p:cNvCxnSpPr/>
          <p:nvPr/>
        </p:nvCxnSpPr>
        <p:spPr>
          <a:xfrm rot="10800000">
            <a:off x="0" y="9258300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" name="Google Shape;102;p11">
            <a:extLst>
              <a:ext uri="{FF2B5EF4-FFF2-40B4-BE49-F238E27FC236}">
                <a16:creationId xmlns:a16="http://schemas.microsoft.com/office/drawing/2014/main" id="{07E625FF-1911-25B7-7856-730DD6C374F1}"/>
              </a:ext>
            </a:extLst>
          </p:cNvPr>
          <p:cNvSpPr txBox="1"/>
          <p:nvPr/>
        </p:nvSpPr>
        <p:spPr>
          <a:xfrm>
            <a:off x="2176184" y="1243608"/>
            <a:ext cx="13819090" cy="6771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Open Your Crontab</a:t>
            </a:r>
          </a:p>
          <a:p>
            <a:pPr lvl="0"/>
            <a:endParaRPr lang="en-US" sz="40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	crontab -e</a:t>
            </a:r>
          </a:p>
          <a:p>
            <a:pPr lvl="0"/>
            <a:endParaRPr lang="en-US" sz="40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View current jobs:</a:t>
            </a:r>
          </a:p>
          <a:p>
            <a:pPr lvl="0"/>
            <a:endParaRPr lang="en-US" sz="40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	crontab -l</a:t>
            </a:r>
          </a:p>
          <a:p>
            <a:pPr lvl="0"/>
            <a:endParaRPr lang="en-US" sz="40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Remove all jobs:</a:t>
            </a:r>
          </a:p>
          <a:p>
            <a:pPr lvl="0"/>
            <a:endParaRPr lang="en-US" sz="40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	crontab -r</a:t>
            </a:r>
            <a:endParaRPr lang="en-US" sz="2400" dirty="0"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</p:txBody>
      </p:sp>
    </p:spTree>
    <p:extLst>
      <p:ext uri="{BB962C8B-B14F-4D97-AF65-F5344CB8AC3E}">
        <p14:creationId xmlns:p14="http://schemas.microsoft.com/office/powerpoint/2010/main" val="4379145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344F"/>
        </a:solidFill>
        <a:effectLst/>
      </p:bgPr>
    </p:bg>
    <p:spTree>
      <p:nvGrpSpPr>
        <p:cNvPr id="1" name="Shape 41">
          <a:extLst>
            <a:ext uri="{FF2B5EF4-FFF2-40B4-BE49-F238E27FC236}">
              <a16:creationId xmlns:a16="http://schemas.microsoft.com/office/drawing/2014/main" id="{41F84B9E-2F64-88D0-43CA-FD7BBB445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" name="Google Shape;44;p7">
            <a:extLst>
              <a:ext uri="{FF2B5EF4-FFF2-40B4-BE49-F238E27FC236}">
                <a16:creationId xmlns:a16="http://schemas.microsoft.com/office/drawing/2014/main" id="{C9CB3AE8-A710-8C34-B5CE-A3AAC680D9AF}"/>
              </a:ext>
            </a:extLst>
          </p:cNvPr>
          <p:cNvCxnSpPr/>
          <p:nvPr/>
        </p:nvCxnSpPr>
        <p:spPr>
          <a:xfrm rot="10800000">
            <a:off x="1009650" y="0"/>
            <a:ext cx="0" cy="1028700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5" name="Google Shape;45;p7">
            <a:extLst>
              <a:ext uri="{FF2B5EF4-FFF2-40B4-BE49-F238E27FC236}">
                <a16:creationId xmlns:a16="http://schemas.microsoft.com/office/drawing/2014/main" id="{888DE30D-745A-CFE9-09E0-7C9949889194}"/>
              </a:ext>
            </a:extLst>
          </p:cNvPr>
          <p:cNvCxnSpPr/>
          <p:nvPr/>
        </p:nvCxnSpPr>
        <p:spPr>
          <a:xfrm rot="10800000">
            <a:off x="0" y="9258300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" name="Google Shape;102;p11">
            <a:extLst>
              <a:ext uri="{FF2B5EF4-FFF2-40B4-BE49-F238E27FC236}">
                <a16:creationId xmlns:a16="http://schemas.microsoft.com/office/drawing/2014/main" id="{B990C8A1-050B-0A7D-F30A-F86FCCCF60AD}"/>
              </a:ext>
            </a:extLst>
          </p:cNvPr>
          <p:cNvSpPr txBox="1"/>
          <p:nvPr/>
        </p:nvSpPr>
        <p:spPr>
          <a:xfrm>
            <a:off x="2126876" y="2897596"/>
            <a:ext cx="13819090" cy="3077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Add a Simple Cron Job</a:t>
            </a:r>
          </a:p>
          <a:p>
            <a:pPr lvl="0"/>
            <a:endParaRPr lang="en-US" sz="40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Example: print “Hello” every minute.</a:t>
            </a:r>
          </a:p>
          <a:p>
            <a:pPr lvl="0"/>
            <a:endParaRPr lang="en-US" sz="40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* * * * * echo "Hello" &gt;&gt; notes.txt</a:t>
            </a:r>
          </a:p>
        </p:txBody>
      </p:sp>
    </p:spTree>
    <p:extLst>
      <p:ext uri="{BB962C8B-B14F-4D97-AF65-F5344CB8AC3E}">
        <p14:creationId xmlns:p14="http://schemas.microsoft.com/office/powerpoint/2010/main" val="30131201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344F"/>
        </a:solidFill>
        <a:effectLst/>
      </p:bgPr>
    </p:bg>
    <p:spTree>
      <p:nvGrpSpPr>
        <p:cNvPr id="1" name="Shape 41">
          <a:extLst>
            <a:ext uri="{FF2B5EF4-FFF2-40B4-BE49-F238E27FC236}">
              <a16:creationId xmlns:a16="http://schemas.microsoft.com/office/drawing/2014/main" id="{0088FAD4-DE9C-7072-38CB-07E96DB63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" name="Google Shape;44;p7">
            <a:extLst>
              <a:ext uri="{FF2B5EF4-FFF2-40B4-BE49-F238E27FC236}">
                <a16:creationId xmlns:a16="http://schemas.microsoft.com/office/drawing/2014/main" id="{6E97AB23-335C-0265-DB32-CDFCA1D3A433}"/>
              </a:ext>
            </a:extLst>
          </p:cNvPr>
          <p:cNvCxnSpPr/>
          <p:nvPr/>
        </p:nvCxnSpPr>
        <p:spPr>
          <a:xfrm rot="10800000">
            <a:off x="1009650" y="0"/>
            <a:ext cx="0" cy="1028700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5" name="Google Shape;45;p7">
            <a:extLst>
              <a:ext uri="{FF2B5EF4-FFF2-40B4-BE49-F238E27FC236}">
                <a16:creationId xmlns:a16="http://schemas.microsoft.com/office/drawing/2014/main" id="{DE88D47D-EE59-5015-1B75-C219E4D20267}"/>
              </a:ext>
            </a:extLst>
          </p:cNvPr>
          <p:cNvCxnSpPr/>
          <p:nvPr/>
        </p:nvCxnSpPr>
        <p:spPr>
          <a:xfrm rot="10800000">
            <a:off x="0" y="9258300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" name="Google Shape;102;p11">
            <a:extLst>
              <a:ext uri="{FF2B5EF4-FFF2-40B4-BE49-F238E27FC236}">
                <a16:creationId xmlns:a16="http://schemas.microsoft.com/office/drawing/2014/main" id="{255EAEA2-2BD6-9395-8B74-C8374776C2E9}"/>
              </a:ext>
            </a:extLst>
          </p:cNvPr>
          <p:cNvSpPr txBox="1"/>
          <p:nvPr/>
        </p:nvSpPr>
        <p:spPr>
          <a:xfrm>
            <a:off x="2624417" y="2480982"/>
            <a:ext cx="13819090" cy="3693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Every minute 			= 	* * * * * command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Every hour 				= 	0 * * * * command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Every day at 2 AM 		= 	0 2 * * * command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Every Sunday at 5 PM 	= 	0 17 * * 0 command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Every 5 minutes			=	*/5 * * * * command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Every weekday at 8:30 AM=	30 8 * * 1-5 command</a:t>
            </a:r>
          </a:p>
        </p:txBody>
      </p:sp>
    </p:spTree>
    <p:extLst>
      <p:ext uri="{BB962C8B-B14F-4D97-AF65-F5344CB8AC3E}">
        <p14:creationId xmlns:p14="http://schemas.microsoft.com/office/powerpoint/2010/main" val="19441196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344F"/>
        </a:solidFill>
        <a:effectLst/>
      </p:bgPr>
    </p:bg>
    <p:spTree>
      <p:nvGrpSpPr>
        <p:cNvPr id="1" name="Shape 41">
          <a:extLst>
            <a:ext uri="{FF2B5EF4-FFF2-40B4-BE49-F238E27FC236}">
              <a16:creationId xmlns:a16="http://schemas.microsoft.com/office/drawing/2014/main" id="{BE2D6520-0D71-16EB-B96B-AC571A4B7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" name="Google Shape;44;p7">
            <a:extLst>
              <a:ext uri="{FF2B5EF4-FFF2-40B4-BE49-F238E27FC236}">
                <a16:creationId xmlns:a16="http://schemas.microsoft.com/office/drawing/2014/main" id="{987CF1EB-977C-DA73-26A0-9664E99D620A}"/>
              </a:ext>
            </a:extLst>
          </p:cNvPr>
          <p:cNvCxnSpPr/>
          <p:nvPr/>
        </p:nvCxnSpPr>
        <p:spPr>
          <a:xfrm rot="10800000">
            <a:off x="1009650" y="0"/>
            <a:ext cx="0" cy="1028700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5" name="Google Shape;45;p7">
            <a:extLst>
              <a:ext uri="{FF2B5EF4-FFF2-40B4-BE49-F238E27FC236}">
                <a16:creationId xmlns:a16="http://schemas.microsoft.com/office/drawing/2014/main" id="{45B1567F-3F87-4D0F-F785-42BF15C3A64F}"/>
              </a:ext>
            </a:extLst>
          </p:cNvPr>
          <p:cNvCxnSpPr/>
          <p:nvPr/>
        </p:nvCxnSpPr>
        <p:spPr>
          <a:xfrm rot="10800000">
            <a:off x="0" y="9258300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" name="Google Shape;102;p11">
            <a:extLst>
              <a:ext uri="{FF2B5EF4-FFF2-40B4-BE49-F238E27FC236}">
                <a16:creationId xmlns:a16="http://schemas.microsoft.com/office/drawing/2014/main" id="{A7C2CD88-B196-C5D1-9C2B-49DB08DE3B2C}"/>
              </a:ext>
            </a:extLst>
          </p:cNvPr>
          <p:cNvSpPr txBox="1"/>
          <p:nvPr/>
        </p:nvSpPr>
        <p:spPr>
          <a:xfrm>
            <a:off x="2019300" y="1551385"/>
            <a:ext cx="13819090" cy="6155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Special Shortcuts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@reboot   command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@daily    command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@hourly   command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@weekly   command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@monthly  command</a:t>
            </a:r>
          </a:p>
          <a:p>
            <a:pPr lvl="0"/>
            <a:endParaRPr lang="en-US" sz="40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Example:</a:t>
            </a:r>
          </a:p>
          <a:p>
            <a:pPr lvl="0"/>
            <a:endParaRPr lang="en-US" sz="40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@reboot /home/user/startup.sh</a:t>
            </a:r>
          </a:p>
        </p:txBody>
      </p:sp>
    </p:spTree>
    <p:extLst>
      <p:ext uri="{BB962C8B-B14F-4D97-AF65-F5344CB8AC3E}">
        <p14:creationId xmlns:p14="http://schemas.microsoft.com/office/powerpoint/2010/main" val="40334149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344F"/>
        </a:solidFill>
        <a:effectLst/>
      </p:bgPr>
    </p:bg>
    <p:spTree>
      <p:nvGrpSpPr>
        <p:cNvPr id="1" name="Shape 41">
          <a:extLst>
            <a:ext uri="{FF2B5EF4-FFF2-40B4-BE49-F238E27FC236}">
              <a16:creationId xmlns:a16="http://schemas.microsoft.com/office/drawing/2014/main" id="{06DA3233-3910-05A0-4013-43D65F743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" name="Google Shape;44;p7">
            <a:extLst>
              <a:ext uri="{FF2B5EF4-FFF2-40B4-BE49-F238E27FC236}">
                <a16:creationId xmlns:a16="http://schemas.microsoft.com/office/drawing/2014/main" id="{E12CB03D-ABB0-A2F8-4D68-A2FD82D82A1C}"/>
              </a:ext>
            </a:extLst>
          </p:cNvPr>
          <p:cNvCxnSpPr/>
          <p:nvPr/>
        </p:nvCxnSpPr>
        <p:spPr>
          <a:xfrm rot="10800000">
            <a:off x="1009650" y="0"/>
            <a:ext cx="0" cy="1028700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5" name="Google Shape;45;p7">
            <a:extLst>
              <a:ext uri="{FF2B5EF4-FFF2-40B4-BE49-F238E27FC236}">
                <a16:creationId xmlns:a16="http://schemas.microsoft.com/office/drawing/2014/main" id="{7125B48B-151E-7D7C-FA77-48D3E4FEFABF}"/>
              </a:ext>
            </a:extLst>
          </p:cNvPr>
          <p:cNvCxnSpPr/>
          <p:nvPr/>
        </p:nvCxnSpPr>
        <p:spPr>
          <a:xfrm rot="10800000">
            <a:off x="0" y="9258300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" name="Google Shape;102;p11">
            <a:extLst>
              <a:ext uri="{FF2B5EF4-FFF2-40B4-BE49-F238E27FC236}">
                <a16:creationId xmlns:a16="http://schemas.microsoft.com/office/drawing/2014/main" id="{A8F81D72-668F-53A8-80E9-EBA1BBFF30B6}"/>
              </a:ext>
            </a:extLst>
          </p:cNvPr>
          <p:cNvSpPr txBox="1"/>
          <p:nvPr/>
        </p:nvSpPr>
        <p:spPr>
          <a:xfrm>
            <a:off x="2019300" y="1551385"/>
            <a:ext cx="13819090" cy="5539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Cron has a minimal environment.</a:t>
            </a:r>
          </a:p>
          <a:p>
            <a:pPr lvl="0"/>
            <a:endParaRPr lang="en-US" sz="40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Bad:</a:t>
            </a:r>
          </a:p>
          <a:p>
            <a:pPr lvl="0"/>
            <a:endParaRPr lang="en-US" sz="40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	python script.py</a:t>
            </a:r>
          </a:p>
          <a:p>
            <a:pPr lvl="0"/>
            <a:endParaRPr lang="en-US" sz="40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Better:</a:t>
            </a:r>
          </a:p>
          <a:p>
            <a:pPr lvl="0"/>
            <a:endParaRPr lang="en-US" sz="40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	/</a:t>
            </a:r>
            <a:r>
              <a:rPr lang="en-US" sz="4000" dirty="0" err="1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usr</a:t>
            </a:r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/bin/python3 /home/user/script.py</a:t>
            </a:r>
          </a:p>
        </p:txBody>
      </p:sp>
    </p:spTree>
    <p:extLst>
      <p:ext uri="{BB962C8B-B14F-4D97-AF65-F5344CB8AC3E}">
        <p14:creationId xmlns:p14="http://schemas.microsoft.com/office/powerpoint/2010/main" val="2713172565"/>
      </p:ext>
    </p:extLst>
  </p:cSld>
  <p:clrMapOvr>
    <a:masterClrMapping/>
  </p:clrMapOvr>
</p:sld>
</file>

<file path=ppt/theme/theme1.xml><?xml version="1.0" encoding="utf-8"?>
<a:theme xmlns:a="http://schemas.openxmlformats.org/drawingml/2006/main" name="Bold Minimal E-Commer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388</TotalTime>
  <Words>541</Words>
  <Application>Microsoft Office PowerPoint</Application>
  <PresentationFormat>Custom</PresentationFormat>
  <Paragraphs>115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Darker Grotesque</vt:lpstr>
      <vt:lpstr>Darker Grotesque Light</vt:lpstr>
      <vt:lpstr>Bold Minimal E-Commerce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Administrator</dc:creator>
  <cp:lastModifiedBy>Administrator</cp:lastModifiedBy>
  <cp:revision>10</cp:revision>
  <dcterms:modified xsi:type="dcterms:W3CDTF">2026-05-10T19:25:04Z</dcterms:modified>
</cp:coreProperties>
</file>